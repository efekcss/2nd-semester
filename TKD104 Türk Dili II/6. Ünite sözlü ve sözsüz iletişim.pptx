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5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2"/>
  </p:notesMasterIdLst>
  <p:sldIdLst>
    <p:sldId id="256" r:id="rId2"/>
    <p:sldId id="261" r:id="rId3"/>
    <p:sldId id="263" r:id="rId4"/>
    <p:sldId id="331" r:id="rId5"/>
    <p:sldId id="276" r:id="rId6"/>
    <p:sldId id="377" r:id="rId7"/>
    <p:sldId id="275" r:id="rId8"/>
    <p:sldId id="266" r:id="rId9"/>
    <p:sldId id="300" r:id="rId10"/>
    <p:sldId id="307" r:id="rId11"/>
    <p:sldId id="273" r:id="rId12"/>
    <p:sldId id="272" r:id="rId13"/>
    <p:sldId id="270" r:id="rId14"/>
    <p:sldId id="303" r:id="rId15"/>
    <p:sldId id="332" r:id="rId16"/>
    <p:sldId id="305" r:id="rId17"/>
    <p:sldId id="334" r:id="rId18"/>
    <p:sldId id="336" r:id="rId19"/>
    <p:sldId id="339" r:id="rId20"/>
    <p:sldId id="333" r:id="rId21"/>
    <p:sldId id="341" r:id="rId22"/>
    <p:sldId id="346" r:id="rId23"/>
    <p:sldId id="347" r:id="rId24"/>
    <p:sldId id="348" r:id="rId25"/>
    <p:sldId id="349" r:id="rId26"/>
    <p:sldId id="350" r:id="rId27"/>
    <p:sldId id="351" r:id="rId28"/>
    <p:sldId id="353" r:id="rId29"/>
    <p:sldId id="355" r:id="rId30"/>
    <p:sldId id="356" r:id="rId31"/>
    <p:sldId id="357" r:id="rId32"/>
    <p:sldId id="358" r:id="rId33"/>
    <p:sldId id="359" r:id="rId34"/>
    <p:sldId id="360" r:id="rId35"/>
    <p:sldId id="361" r:id="rId36"/>
    <p:sldId id="362" r:id="rId37"/>
    <p:sldId id="363" r:id="rId38"/>
    <p:sldId id="364" r:id="rId39"/>
    <p:sldId id="365" r:id="rId40"/>
    <p:sldId id="366" r:id="rId41"/>
    <p:sldId id="367" r:id="rId42"/>
    <p:sldId id="368" r:id="rId43"/>
    <p:sldId id="369" r:id="rId44"/>
    <p:sldId id="370" r:id="rId45"/>
    <p:sldId id="371" r:id="rId46"/>
    <p:sldId id="373" r:id="rId47"/>
    <p:sldId id="376" r:id="rId48"/>
    <p:sldId id="327" r:id="rId49"/>
    <p:sldId id="378" r:id="rId50"/>
    <p:sldId id="265" r:id="rId5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154389"/>
    <a:srgbClr val="FCF5E8"/>
    <a:srgbClr val="FEF3DC"/>
    <a:srgbClr val="F1E6D3"/>
    <a:srgbClr val="771614"/>
    <a:srgbClr val="A92627"/>
    <a:srgbClr val="C02B2A"/>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8153"/>
    <p:restoredTop sz="77419" autoAdjust="0"/>
  </p:normalViewPr>
  <p:slideViewPr>
    <p:cSldViewPr snapToGrid="0" snapToObjects="1">
      <p:cViewPr varScale="1">
        <p:scale>
          <a:sx n="74" d="100"/>
          <a:sy n="74" d="100"/>
        </p:scale>
        <p:origin x="-1032" y="-102"/>
      </p:cViewPr>
      <p:guideLst>
        <p:guide orient="horz" pos="1620"/>
        <p:guide pos="2880"/>
      </p:guideLst>
    </p:cSldViewPr>
  </p:slideViewPr>
  <p:notesTextViewPr>
    <p:cViewPr>
      <p:scale>
        <a:sx n="1" d="1"/>
        <a:sy n="1" d="1"/>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C2D2ED-B8F6-BC4B-8ACF-EBC392201CEB}" type="datetimeFigureOut">
              <a:rPr lang="en-US" smtClean="0"/>
              <a:pPr/>
              <a:t>4/13/2023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C9BA9-D2B0-0145-A162-8270735E99CB}" type="slidenum">
              <a:rPr lang="en-US" smtClean="0"/>
              <a:pPr/>
              <a:t>‹#›</a:t>
            </a:fld>
            <a:endParaRPr lang="en-US"/>
          </a:p>
        </p:txBody>
      </p:sp>
    </p:spTree>
    <p:extLst>
      <p:ext uri="{BB962C8B-B14F-4D97-AF65-F5344CB8AC3E}">
        <p14:creationId xmlns:p14="http://schemas.microsoft.com/office/powerpoint/2010/main" xmlns="" val="141613303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a:t>
            </a:fld>
            <a:endParaRPr lang="en-US"/>
          </a:p>
        </p:txBody>
      </p:sp>
    </p:spTree>
    <p:extLst>
      <p:ext uri="{BB962C8B-B14F-4D97-AF65-F5344CB8AC3E}">
        <p14:creationId xmlns:p14="http://schemas.microsoft.com/office/powerpoint/2010/main" xmlns="" val="386676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a:t>
            </a:fld>
            <a:endParaRPr lang="en-US"/>
          </a:p>
        </p:txBody>
      </p:sp>
    </p:spTree>
    <p:extLst>
      <p:ext uri="{BB962C8B-B14F-4D97-AF65-F5344CB8AC3E}">
        <p14:creationId xmlns:p14="http://schemas.microsoft.com/office/powerpoint/2010/main" xmlns="" val="1385593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a:t>
            </a:fld>
            <a:endParaRPr lang="en-US"/>
          </a:p>
        </p:txBody>
      </p:sp>
    </p:spTree>
    <p:extLst>
      <p:ext uri="{BB962C8B-B14F-4D97-AF65-F5344CB8AC3E}">
        <p14:creationId xmlns:p14="http://schemas.microsoft.com/office/powerpoint/2010/main" xmlns="" val="442180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a:t>
            </a:fld>
            <a:endParaRPr lang="en-US"/>
          </a:p>
        </p:txBody>
      </p:sp>
    </p:spTree>
    <p:extLst>
      <p:ext uri="{BB962C8B-B14F-4D97-AF65-F5344CB8AC3E}">
        <p14:creationId xmlns:p14="http://schemas.microsoft.com/office/powerpoint/2010/main" xmlns="" val="2639558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a:t>
            </a:fld>
            <a:endParaRPr lang="en-US"/>
          </a:p>
        </p:txBody>
      </p:sp>
    </p:spTree>
    <p:extLst>
      <p:ext uri="{BB962C8B-B14F-4D97-AF65-F5344CB8AC3E}">
        <p14:creationId xmlns:p14="http://schemas.microsoft.com/office/powerpoint/2010/main" xmlns="" val="234138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6</a:t>
            </a:fld>
            <a:endParaRPr lang="en-US"/>
          </a:p>
        </p:txBody>
      </p:sp>
    </p:spTree>
    <p:extLst>
      <p:ext uri="{BB962C8B-B14F-4D97-AF65-F5344CB8AC3E}">
        <p14:creationId xmlns:p14="http://schemas.microsoft.com/office/powerpoint/2010/main" xmlns="" val="1923778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7</a:t>
            </a:fld>
            <a:endParaRPr lang="en-US"/>
          </a:p>
        </p:txBody>
      </p:sp>
    </p:spTree>
    <p:extLst>
      <p:ext uri="{BB962C8B-B14F-4D97-AF65-F5344CB8AC3E}">
        <p14:creationId xmlns:p14="http://schemas.microsoft.com/office/powerpoint/2010/main" xmlns="" val="182288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8</a:t>
            </a:fld>
            <a:endParaRPr lang="en-US"/>
          </a:p>
        </p:txBody>
      </p:sp>
    </p:spTree>
    <p:extLst>
      <p:ext uri="{BB962C8B-B14F-4D97-AF65-F5344CB8AC3E}">
        <p14:creationId xmlns:p14="http://schemas.microsoft.com/office/powerpoint/2010/main" xmlns="" val="3805431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9</a:t>
            </a:fld>
            <a:endParaRPr lang="en-US"/>
          </a:p>
        </p:txBody>
      </p:sp>
    </p:spTree>
    <p:extLst>
      <p:ext uri="{BB962C8B-B14F-4D97-AF65-F5344CB8AC3E}">
        <p14:creationId xmlns:p14="http://schemas.microsoft.com/office/powerpoint/2010/main" xmlns="" val="744355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10</a:t>
            </a:fld>
            <a:endParaRPr lang="en-US"/>
          </a:p>
        </p:txBody>
      </p:sp>
    </p:spTree>
    <p:extLst>
      <p:ext uri="{BB962C8B-B14F-4D97-AF65-F5344CB8AC3E}">
        <p14:creationId xmlns:p14="http://schemas.microsoft.com/office/powerpoint/2010/main" xmlns="" val="1485509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11</a:t>
            </a:fld>
            <a:endParaRPr lang="en-US"/>
          </a:p>
        </p:txBody>
      </p:sp>
    </p:spTree>
    <p:extLst>
      <p:ext uri="{BB962C8B-B14F-4D97-AF65-F5344CB8AC3E}">
        <p14:creationId xmlns:p14="http://schemas.microsoft.com/office/powerpoint/2010/main" xmlns="" val="469757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12</a:t>
            </a:fld>
            <a:endParaRPr lang="en-US"/>
          </a:p>
        </p:txBody>
      </p:sp>
    </p:spTree>
    <p:extLst>
      <p:ext uri="{BB962C8B-B14F-4D97-AF65-F5344CB8AC3E}">
        <p14:creationId xmlns:p14="http://schemas.microsoft.com/office/powerpoint/2010/main" xmlns="" val="1026859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13</a:t>
            </a:fld>
            <a:endParaRPr lang="en-US"/>
          </a:p>
        </p:txBody>
      </p:sp>
    </p:spTree>
    <p:extLst>
      <p:ext uri="{BB962C8B-B14F-4D97-AF65-F5344CB8AC3E}">
        <p14:creationId xmlns:p14="http://schemas.microsoft.com/office/powerpoint/2010/main" xmlns="" val="1424664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14</a:t>
            </a:fld>
            <a:endParaRPr lang="en-US"/>
          </a:p>
        </p:txBody>
      </p:sp>
    </p:spTree>
    <p:extLst>
      <p:ext uri="{BB962C8B-B14F-4D97-AF65-F5344CB8AC3E}">
        <p14:creationId xmlns:p14="http://schemas.microsoft.com/office/powerpoint/2010/main" xmlns="" val="8469209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15</a:t>
            </a:fld>
            <a:endParaRPr lang="en-US"/>
          </a:p>
        </p:txBody>
      </p:sp>
    </p:spTree>
    <p:extLst>
      <p:ext uri="{BB962C8B-B14F-4D97-AF65-F5344CB8AC3E}">
        <p14:creationId xmlns:p14="http://schemas.microsoft.com/office/powerpoint/2010/main" xmlns="" val="20022031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16</a:t>
            </a:fld>
            <a:endParaRPr lang="en-US"/>
          </a:p>
        </p:txBody>
      </p:sp>
    </p:spTree>
    <p:extLst>
      <p:ext uri="{BB962C8B-B14F-4D97-AF65-F5344CB8AC3E}">
        <p14:creationId xmlns:p14="http://schemas.microsoft.com/office/powerpoint/2010/main" xmlns="" val="2618959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17</a:t>
            </a:fld>
            <a:endParaRPr lang="en-US"/>
          </a:p>
        </p:txBody>
      </p:sp>
    </p:spTree>
    <p:extLst>
      <p:ext uri="{BB962C8B-B14F-4D97-AF65-F5344CB8AC3E}">
        <p14:creationId xmlns:p14="http://schemas.microsoft.com/office/powerpoint/2010/main" xmlns="" val="1822710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18</a:t>
            </a:fld>
            <a:endParaRPr lang="en-US"/>
          </a:p>
        </p:txBody>
      </p:sp>
    </p:spTree>
    <p:extLst>
      <p:ext uri="{BB962C8B-B14F-4D97-AF65-F5344CB8AC3E}">
        <p14:creationId xmlns:p14="http://schemas.microsoft.com/office/powerpoint/2010/main" xmlns="" val="8183457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19</a:t>
            </a:fld>
            <a:endParaRPr lang="en-US"/>
          </a:p>
        </p:txBody>
      </p:sp>
    </p:spTree>
    <p:extLst>
      <p:ext uri="{BB962C8B-B14F-4D97-AF65-F5344CB8AC3E}">
        <p14:creationId xmlns:p14="http://schemas.microsoft.com/office/powerpoint/2010/main" xmlns="" val="1978319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20</a:t>
            </a:fld>
            <a:endParaRPr lang="en-US"/>
          </a:p>
        </p:txBody>
      </p:sp>
    </p:spTree>
    <p:extLst>
      <p:ext uri="{BB962C8B-B14F-4D97-AF65-F5344CB8AC3E}">
        <p14:creationId xmlns:p14="http://schemas.microsoft.com/office/powerpoint/2010/main" xmlns="" val="10969573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21</a:t>
            </a:fld>
            <a:endParaRPr lang="en-US"/>
          </a:p>
        </p:txBody>
      </p:sp>
    </p:spTree>
    <p:extLst>
      <p:ext uri="{BB962C8B-B14F-4D97-AF65-F5344CB8AC3E}">
        <p14:creationId xmlns:p14="http://schemas.microsoft.com/office/powerpoint/2010/main" xmlns="" val="18567904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22</a:t>
            </a:fld>
            <a:endParaRPr lang="en-US"/>
          </a:p>
        </p:txBody>
      </p:sp>
    </p:spTree>
    <p:extLst>
      <p:ext uri="{BB962C8B-B14F-4D97-AF65-F5344CB8AC3E}">
        <p14:creationId xmlns:p14="http://schemas.microsoft.com/office/powerpoint/2010/main" xmlns="" val="31648194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23</a:t>
            </a:fld>
            <a:endParaRPr lang="en-US"/>
          </a:p>
        </p:txBody>
      </p:sp>
    </p:spTree>
    <p:extLst>
      <p:ext uri="{BB962C8B-B14F-4D97-AF65-F5344CB8AC3E}">
        <p14:creationId xmlns:p14="http://schemas.microsoft.com/office/powerpoint/2010/main" xmlns="" val="3653544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24</a:t>
            </a:fld>
            <a:endParaRPr lang="en-US"/>
          </a:p>
        </p:txBody>
      </p:sp>
    </p:spTree>
    <p:extLst>
      <p:ext uri="{BB962C8B-B14F-4D97-AF65-F5344CB8AC3E}">
        <p14:creationId xmlns:p14="http://schemas.microsoft.com/office/powerpoint/2010/main" xmlns="" val="25408234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25</a:t>
            </a:fld>
            <a:endParaRPr lang="en-US"/>
          </a:p>
        </p:txBody>
      </p:sp>
    </p:spTree>
    <p:extLst>
      <p:ext uri="{BB962C8B-B14F-4D97-AF65-F5344CB8AC3E}">
        <p14:creationId xmlns:p14="http://schemas.microsoft.com/office/powerpoint/2010/main" xmlns="" val="11198040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26</a:t>
            </a:fld>
            <a:endParaRPr lang="en-US"/>
          </a:p>
        </p:txBody>
      </p:sp>
    </p:spTree>
    <p:extLst>
      <p:ext uri="{BB962C8B-B14F-4D97-AF65-F5344CB8AC3E}">
        <p14:creationId xmlns:p14="http://schemas.microsoft.com/office/powerpoint/2010/main" xmlns="" val="36462949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27</a:t>
            </a:fld>
            <a:endParaRPr lang="en-US"/>
          </a:p>
        </p:txBody>
      </p:sp>
    </p:spTree>
    <p:extLst>
      <p:ext uri="{BB962C8B-B14F-4D97-AF65-F5344CB8AC3E}">
        <p14:creationId xmlns:p14="http://schemas.microsoft.com/office/powerpoint/2010/main" xmlns="" val="1180005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28</a:t>
            </a:fld>
            <a:endParaRPr lang="en-US"/>
          </a:p>
        </p:txBody>
      </p:sp>
    </p:spTree>
    <p:extLst>
      <p:ext uri="{BB962C8B-B14F-4D97-AF65-F5344CB8AC3E}">
        <p14:creationId xmlns:p14="http://schemas.microsoft.com/office/powerpoint/2010/main" xmlns="" val="35679962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29</a:t>
            </a:fld>
            <a:endParaRPr lang="en-US"/>
          </a:p>
        </p:txBody>
      </p:sp>
    </p:spTree>
    <p:extLst>
      <p:ext uri="{BB962C8B-B14F-4D97-AF65-F5344CB8AC3E}">
        <p14:creationId xmlns:p14="http://schemas.microsoft.com/office/powerpoint/2010/main" xmlns="" val="26962412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30</a:t>
            </a:fld>
            <a:endParaRPr lang="en-US"/>
          </a:p>
        </p:txBody>
      </p:sp>
    </p:spTree>
    <p:extLst>
      <p:ext uri="{BB962C8B-B14F-4D97-AF65-F5344CB8AC3E}">
        <p14:creationId xmlns:p14="http://schemas.microsoft.com/office/powerpoint/2010/main" xmlns="" val="12045055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31</a:t>
            </a:fld>
            <a:endParaRPr lang="en-US"/>
          </a:p>
        </p:txBody>
      </p:sp>
    </p:spTree>
    <p:extLst>
      <p:ext uri="{BB962C8B-B14F-4D97-AF65-F5344CB8AC3E}">
        <p14:creationId xmlns:p14="http://schemas.microsoft.com/office/powerpoint/2010/main" xmlns="" val="30418189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32</a:t>
            </a:fld>
            <a:endParaRPr lang="en-US"/>
          </a:p>
        </p:txBody>
      </p:sp>
    </p:spTree>
    <p:extLst>
      <p:ext uri="{BB962C8B-B14F-4D97-AF65-F5344CB8AC3E}">
        <p14:creationId xmlns:p14="http://schemas.microsoft.com/office/powerpoint/2010/main" xmlns="" val="2203931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33</a:t>
            </a:fld>
            <a:endParaRPr lang="en-US"/>
          </a:p>
        </p:txBody>
      </p:sp>
    </p:spTree>
    <p:extLst>
      <p:ext uri="{BB962C8B-B14F-4D97-AF65-F5344CB8AC3E}">
        <p14:creationId xmlns:p14="http://schemas.microsoft.com/office/powerpoint/2010/main" xmlns="" val="18067829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34</a:t>
            </a:fld>
            <a:endParaRPr lang="en-US"/>
          </a:p>
        </p:txBody>
      </p:sp>
    </p:spTree>
    <p:extLst>
      <p:ext uri="{BB962C8B-B14F-4D97-AF65-F5344CB8AC3E}">
        <p14:creationId xmlns:p14="http://schemas.microsoft.com/office/powerpoint/2010/main" xmlns="" val="7495840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35</a:t>
            </a:fld>
            <a:endParaRPr lang="en-US"/>
          </a:p>
        </p:txBody>
      </p:sp>
    </p:spTree>
    <p:extLst>
      <p:ext uri="{BB962C8B-B14F-4D97-AF65-F5344CB8AC3E}">
        <p14:creationId xmlns:p14="http://schemas.microsoft.com/office/powerpoint/2010/main" xmlns="" val="2616287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36</a:t>
            </a:fld>
            <a:endParaRPr lang="en-US"/>
          </a:p>
        </p:txBody>
      </p:sp>
    </p:spTree>
    <p:extLst>
      <p:ext uri="{BB962C8B-B14F-4D97-AF65-F5344CB8AC3E}">
        <p14:creationId xmlns:p14="http://schemas.microsoft.com/office/powerpoint/2010/main" xmlns="" val="15183022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37</a:t>
            </a:fld>
            <a:endParaRPr lang="en-US"/>
          </a:p>
        </p:txBody>
      </p:sp>
    </p:spTree>
    <p:extLst>
      <p:ext uri="{BB962C8B-B14F-4D97-AF65-F5344CB8AC3E}">
        <p14:creationId xmlns:p14="http://schemas.microsoft.com/office/powerpoint/2010/main" xmlns="" val="20103660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38</a:t>
            </a:fld>
            <a:endParaRPr lang="en-US"/>
          </a:p>
        </p:txBody>
      </p:sp>
    </p:spTree>
    <p:extLst>
      <p:ext uri="{BB962C8B-B14F-4D97-AF65-F5344CB8AC3E}">
        <p14:creationId xmlns:p14="http://schemas.microsoft.com/office/powerpoint/2010/main" xmlns="" val="14925549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39</a:t>
            </a:fld>
            <a:endParaRPr lang="en-US"/>
          </a:p>
        </p:txBody>
      </p:sp>
    </p:spTree>
    <p:extLst>
      <p:ext uri="{BB962C8B-B14F-4D97-AF65-F5344CB8AC3E}">
        <p14:creationId xmlns:p14="http://schemas.microsoft.com/office/powerpoint/2010/main" xmlns="" val="34505088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40</a:t>
            </a:fld>
            <a:endParaRPr lang="en-US"/>
          </a:p>
        </p:txBody>
      </p:sp>
    </p:spTree>
    <p:extLst>
      <p:ext uri="{BB962C8B-B14F-4D97-AF65-F5344CB8AC3E}">
        <p14:creationId xmlns:p14="http://schemas.microsoft.com/office/powerpoint/2010/main" xmlns="" val="11901858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41</a:t>
            </a:fld>
            <a:endParaRPr lang="en-US"/>
          </a:p>
        </p:txBody>
      </p:sp>
    </p:spTree>
    <p:extLst>
      <p:ext uri="{BB962C8B-B14F-4D97-AF65-F5344CB8AC3E}">
        <p14:creationId xmlns:p14="http://schemas.microsoft.com/office/powerpoint/2010/main" xmlns="" val="26290929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42</a:t>
            </a:fld>
            <a:endParaRPr lang="en-US"/>
          </a:p>
        </p:txBody>
      </p:sp>
    </p:spTree>
    <p:extLst>
      <p:ext uri="{BB962C8B-B14F-4D97-AF65-F5344CB8AC3E}">
        <p14:creationId xmlns:p14="http://schemas.microsoft.com/office/powerpoint/2010/main" xmlns="" val="27483117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43</a:t>
            </a:fld>
            <a:endParaRPr lang="en-US"/>
          </a:p>
        </p:txBody>
      </p:sp>
    </p:spTree>
    <p:extLst>
      <p:ext uri="{BB962C8B-B14F-4D97-AF65-F5344CB8AC3E}">
        <p14:creationId xmlns:p14="http://schemas.microsoft.com/office/powerpoint/2010/main" xmlns="" val="9173380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44</a:t>
            </a:fld>
            <a:endParaRPr lang="en-US"/>
          </a:p>
        </p:txBody>
      </p:sp>
    </p:spTree>
    <p:extLst>
      <p:ext uri="{BB962C8B-B14F-4D97-AF65-F5344CB8AC3E}">
        <p14:creationId xmlns:p14="http://schemas.microsoft.com/office/powerpoint/2010/main" xmlns="" val="30982922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45</a:t>
            </a:fld>
            <a:endParaRPr lang="en-US"/>
          </a:p>
        </p:txBody>
      </p:sp>
    </p:spTree>
    <p:extLst>
      <p:ext uri="{BB962C8B-B14F-4D97-AF65-F5344CB8AC3E}">
        <p14:creationId xmlns:p14="http://schemas.microsoft.com/office/powerpoint/2010/main" xmlns="" val="25652049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46</a:t>
            </a:fld>
            <a:endParaRPr lang="en-US"/>
          </a:p>
        </p:txBody>
      </p:sp>
    </p:spTree>
    <p:extLst>
      <p:ext uri="{BB962C8B-B14F-4D97-AF65-F5344CB8AC3E}">
        <p14:creationId xmlns:p14="http://schemas.microsoft.com/office/powerpoint/2010/main" xmlns="" val="17321967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47</a:t>
            </a:fld>
            <a:endParaRPr lang="en-US"/>
          </a:p>
        </p:txBody>
      </p:sp>
    </p:spTree>
    <p:extLst>
      <p:ext uri="{BB962C8B-B14F-4D97-AF65-F5344CB8AC3E}">
        <p14:creationId xmlns:p14="http://schemas.microsoft.com/office/powerpoint/2010/main" xmlns="" val="9133237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48</a:t>
            </a:fld>
            <a:endParaRPr lang="en-US"/>
          </a:p>
        </p:txBody>
      </p:sp>
    </p:spTree>
    <p:extLst>
      <p:ext uri="{BB962C8B-B14F-4D97-AF65-F5344CB8AC3E}">
        <p14:creationId xmlns:p14="http://schemas.microsoft.com/office/powerpoint/2010/main" xmlns="" val="36396036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49</a:t>
            </a:fld>
            <a:endParaRPr lang="en-US"/>
          </a:p>
        </p:txBody>
      </p:sp>
    </p:spTree>
    <p:extLst>
      <p:ext uri="{BB962C8B-B14F-4D97-AF65-F5344CB8AC3E}">
        <p14:creationId xmlns:p14="http://schemas.microsoft.com/office/powerpoint/2010/main" xmlns="" val="25797351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pPr/>
              <a:t>50</a:t>
            </a:fld>
            <a:endParaRPr lang="en-US"/>
          </a:p>
        </p:txBody>
      </p:sp>
    </p:spTree>
    <p:extLst>
      <p:ext uri="{BB962C8B-B14F-4D97-AF65-F5344CB8AC3E}">
        <p14:creationId xmlns:p14="http://schemas.microsoft.com/office/powerpoint/2010/main" xmlns="" val="83663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tr-TR"/>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tr-TR"/>
              <a:t>Click to edit Master subtitle style</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pPr/>
              <a:t>4/13/2023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687413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Content Placeholder 2"/>
          <p:cNvSpPr>
            <a:spLocks noGrp="1"/>
          </p:cNvSpPr>
          <p:nvPr>
            <p:ph idx="1"/>
          </p:nvPr>
        </p:nvSpPr>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pPr/>
              <a:t>4/13/2023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2040157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tr-TR"/>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tr-TR"/>
              <a:t>Click to edit Master text styles</a:t>
            </a:r>
          </a:p>
        </p:txBody>
      </p:sp>
      <p:sp>
        <p:nvSpPr>
          <p:cNvPr id="4" name="Date Placeholder 3"/>
          <p:cNvSpPr>
            <a:spLocks noGrp="1"/>
          </p:cNvSpPr>
          <p:nvPr>
            <p:ph type="dt" sz="half" idx="10"/>
          </p:nvPr>
        </p:nvSpPr>
        <p:spPr/>
        <p:txBody>
          <a:bodyPr/>
          <a:lstStyle/>
          <a:p>
            <a:fld id="{2F2647A6-9F3D-EE46-8AEB-C71002B716D5}" type="datetimeFigureOut">
              <a:rPr lang="en-US" smtClean="0"/>
              <a:pPr/>
              <a:t>4/13/2023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51021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5" name="Date Placeholder 4"/>
          <p:cNvSpPr>
            <a:spLocks noGrp="1"/>
          </p:cNvSpPr>
          <p:nvPr>
            <p:ph type="dt" sz="half" idx="10"/>
          </p:nvPr>
        </p:nvSpPr>
        <p:spPr/>
        <p:txBody>
          <a:bodyPr/>
          <a:lstStyle/>
          <a:p>
            <a:fld id="{2F2647A6-9F3D-EE46-8AEB-C71002B716D5}" type="datetimeFigureOut">
              <a:rPr lang="en-US" smtClean="0"/>
              <a:pPr/>
              <a:t>4/13/2023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67570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tr-TR"/>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7" name="Date Placeholder 6"/>
          <p:cNvSpPr>
            <a:spLocks noGrp="1"/>
          </p:cNvSpPr>
          <p:nvPr>
            <p:ph type="dt" sz="half" idx="10"/>
          </p:nvPr>
        </p:nvSpPr>
        <p:spPr/>
        <p:txBody>
          <a:bodyPr/>
          <a:lstStyle/>
          <a:p>
            <a:fld id="{2F2647A6-9F3D-EE46-8AEB-C71002B716D5}" type="datetimeFigureOut">
              <a:rPr lang="en-US" smtClean="0"/>
              <a:pPr/>
              <a:t>4/13/2023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649030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Date Placeholder 2"/>
          <p:cNvSpPr>
            <a:spLocks noGrp="1"/>
          </p:cNvSpPr>
          <p:nvPr>
            <p:ph type="dt" sz="half" idx="10"/>
          </p:nvPr>
        </p:nvSpPr>
        <p:spPr/>
        <p:txBody>
          <a:bodyPr/>
          <a:lstStyle/>
          <a:p>
            <a:fld id="{2F2647A6-9F3D-EE46-8AEB-C71002B716D5}" type="datetimeFigureOut">
              <a:rPr lang="en-US" smtClean="0"/>
              <a:pPr/>
              <a:t>4/13/2023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19448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2647A6-9F3D-EE46-8AEB-C71002B716D5}" type="datetimeFigureOut">
              <a:rPr lang="en-US" smtClean="0"/>
              <a:pPr/>
              <a:t>4/13/2023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113810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tr-TR"/>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Click to edit Master text styles</a:t>
            </a:r>
          </a:p>
        </p:txBody>
      </p:sp>
      <p:sp>
        <p:nvSpPr>
          <p:cNvPr id="5" name="Date Placeholder 4"/>
          <p:cNvSpPr>
            <a:spLocks noGrp="1"/>
          </p:cNvSpPr>
          <p:nvPr>
            <p:ph type="dt" sz="half" idx="10"/>
          </p:nvPr>
        </p:nvSpPr>
        <p:spPr/>
        <p:txBody>
          <a:bodyPr/>
          <a:lstStyle/>
          <a:p>
            <a:fld id="{2F2647A6-9F3D-EE46-8AEB-C71002B716D5}" type="datetimeFigureOut">
              <a:rPr lang="en-US" smtClean="0"/>
              <a:pPr/>
              <a:t>4/13/2023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96576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tr-TR"/>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tr-TR"/>
              <a:t>Drag picture to placeholder or click icon to add</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Click to edit Master text styles</a:t>
            </a:r>
          </a:p>
        </p:txBody>
      </p:sp>
      <p:sp>
        <p:nvSpPr>
          <p:cNvPr id="5" name="Date Placeholder 4"/>
          <p:cNvSpPr>
            <a:spLocks noGrp="1"/>
          </p:cNvSpPr>
          <p:nvPr>
            <p:ph type="dt" sz="half" idx="10"/>
          </p:nvPr>
        </p:nvSpPr>
        <p:spPr/>
        <p:txBody>
          <a:bodyPr/>
          <a:lstStyle/>
          <a:p>
            <a:fld id="{2F2647A6-9F3D-EE46-8AEB-C71002B716D5}" type="datetimeFigureOut">
              <a:rPr lang="en-US" smtClean="0"/>
              <a:pPr/>
              <a:t>4/13/2023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028983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pPr/>
              <a:t>4/13/2023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431690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tr-TR"/>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pPr/>
              <a:t>4/13/2023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217431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tr-TR"/>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F2647A6-9F3D-EE46-8AEB-C71002B716D5}" type="datetimeFigureOut">
              <a:rPr lang="en-US" smtClean="0"/>
              <a:pPr/>
              <a:t>4/13/2023</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B6039A9-CEB1-C24A-97C1-01A3CAF8F6EB}" type="slidenum">
              <a:rPr lang="en-US" smtClean="0"/>
              <a:pPr/>
              <a:t>‹#›</a:t>
            </a:fld>
            <a:endParaRPr lang="en-US"/>
          </a:p>
        </p:txBody>
      </p:sp>
    </p:spTree>
    <p:extLst>
      <p:ext uri="{BB962C8B-B14F-4D97-AF65-F5344CB8AC3E}">
        <p14:creationId xmlns:p14="http://schemas.microsoft.com/office/powerpoint/2010/main" xmlns="" val="12794336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OqAvOLulMMk"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hyperlink" Target="https://www.youtube.com/watch?v=KXKI331c-Zk" TargetMode="External"/><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hyperlink" Target="https://www.youtube.com/watch?v=UaCuZzK6r4o" TargetMode="External"/><Relationship Id="rId4" Type="http://schemas.openxmlformats.org/officeDocument/2006/relationships/hyperlink" Target="https://www.youtube.com/watch?v=RHOg3FA9UwU"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watch?v=t2NytazrqHM&amp;t=2s" TargetMode="External"/><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hyperlink" Target="https://www.youtube.com/watch?v=Eue5khF_gFI" TargetMode="External"/><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8" Type="http://schemas.openxmlformats.org/officeDocument/2006/relationships/hyperlink" Target="https://www.youtube.com/watch?v=0hjKGIBzy90" TargetMode="External"/><Relationship Id="rId3" Type="http://schemas.openxmlformats.org/officeDocument/2006/relationships/hyperlink" Target="https://www.youtube.com/watch?v=OqAvOLulMMk" TargetMode="External"/><Relationship Id="rId7" Type="http://schemas.openxmlformats.org/officeDocument/2006/relationships/hyperlink" Target="https://www.youtube.com/watch?v=Su8FzGL3Pq0"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hyperlink" Target="https://www.youtube.com/watch?v=yeoQHi-vpkY" TargetMode="External"/><Relationship Id="rId5" Type="http://schemas.openxmlformats.org/officeDocument/2006/relationships/hyperlink" Target="https://www.youtube.com/watch?v=pQ46I_M5X6I" TargetMode="External"/><Relationship Id="rId4" Type="http://schemas.openxmlformats.org/officeDocument/2006/relationships/hyperlink" Target="https://www.youtube.com/watch?v=Eue5khF_gFI"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 y="60767"/>
            <a:ext cx="9994605" cy="5143500"/>
          </a:xfrm>
          <a:prstGeom prst="rect">
            <a:avLst/>
          </a:prstGeom>
        </p:spPr>
      </p:pic>
      <p:sp>
        <p:nvSpPr>
          <p:cNvPr id="5" name="TextBox 4"/>
          <p:cNvSpPr txBox="1"/>
          <p:nvPr/>
        </p:nvSpPr>
        <p:spPr>
          <a:xfrm>
            <a:off x="5411426" y="747867"/>
            <a:ext cx="3411397" cy="361637"/>
          </a:xfrm>
          <a:prstGeom prst="rect">
            <a:avLst/>
          </a:prstGeom>
          <a:noFill/>
        </p:spPr>
        <p:txBody>
          <a:bodyPr wrap="square" rtlCol="0">
            <a:spAutoFit/>
          </a:bodyPr>
          <a:lstStyle/>
          <a:p>
            <a:pPr>
              <a:lnSpc>
                <a:spcPct val="125000"/>
              </a:lnSpc>
            </a:pPr>
            <a:r>
              <a:rPr lang="tr-TR" sz="1400" b="1" dirty="0">
                <a:solidFill>
                  <a:srgbClr val="154389"/>
                </a:solidFill>
              </a:rPr>
              <a:t>TKD 104</a:t>
            </a:r>
            <a:endParaRPr lang="en-US" sz="1400" b="1" dirty="0">
              <a:solidFill>
                <a:srgbClr val="154389"/>
              </a:solidFill>
            </a:endParaRPr>
          </a:p>
        </p:txBody>
      </p:sp>
      <p:sp>
        <p:nvSpPr>
          <p:cNvPr id="6" name="TextBox 5"/>
          <p:cNvSpPr txBox="1"/>
          <p:nvPr/>
        </p:nvSpPr>
        <p:spPr>
          <a:xfrm>
            <a:off x="5411426" y="1027951"/>
            <a:ext cx="3458254" cy="361637"/>
          </a:xfrm>
          <a:prstGeom prst="rect">
            <a:avLst/>
          </a:prstGeom>
          <a:noFill/>
        </p:spPr>
        <p:txBody>
          <a:bodyPr wrap="square" rtlCol="0">
            <a:spAutoFit/>
          </a:bodyPr>
          <a:lstStyle/>
          <a:p>
            <a:pPr>
              <a:lnSpc>
                <a:spcPct val="125000"/>
              </a:lnSpc>
            </a:pPr>
            <a:r>
              <a:rPr lang="tr-TR" sz="1400" b="1" dirty="0"/>
              <a:t>TÜRK DİLİ II</a:t>
            </a:r>
            <a:endParaRPr lang="en-US" sz="1400" b="1" dirty="0"/>
          </a:p>
        </p:txBody>
      </p:sp>
      <p:sp>
        <p:nvSpPr>
          <p:cNvPr id="7" name="TextBox 6"/>
          <p:cNvSpPr txBox="1"/>
          <p:nvPr/>
        </p:nvSpPr>
        <p:spPr>
          <a:xfrm>
            <a:off x="5411426" y="2426050"/>
            <a:ext cx="3458254" cy="412934"/>
          </a:xfrm>
          <a:prstGeom prst="rect">
            <a:avLst/>
          </a:prstGeom>
          <a:noFill/>
        </p:spPr>
        <p:txBody>
          <a:bodyPr wrap="square" rtlCol="0">
            <a:spAutoFit/>
          </a:bodyPr>
          <a:lstStyle/>
          <a:p>
            <a:pPr>
              <a:lnSpc>
                <a:spcPct val="125000"/>
              </a:lnSpc>
            </a:pPr>
            <a:r>
              <a:rPr lang="tr-TR" sz="1800" b="1" dirty="0">
                <a:solidFill>
                  <a:srgbClr val="FF0000"/>
                </a:solidFill>
              </a:rPr>
              <a:t>SÖZLÜ VE SÖZSÜZ İLETİŞİM</a:t>
            </a:r>
            <a:endParaRPr lang="en-US" sz="1800" b="1" dirty="0">
              <a:solidFill>
                <a:srgbClr val="FF0000"/>
              </a:solidFill>
            </a:endParaRPr>
          </a:p>
        </p:txBody>
      </p:sp>
      <p:sp>
        <p:nvSpPr>
          <p:cNvPr id="8" name="TextBox 7"/>
          <p:cNvSpPr txBox="1"/>
          <p:nvPr/>
        </p:nvSpPr>
        <p:spPr>
          <a:xfrm>
            <a:off x="4631032" y="3037515"/>
            <a:ext cx="5363571" cy="1169551"/>
          </a:xfrm>
          <a:prstGeom prst="rect">
            <a:avLst/>
          </a:prstGeom>
          <a:noFill/>
        </p:spPr>
        <p:txBody>
          <a:bodyPr wrap="square" rtlCol="0">
            <a:spAutoFit/>
          </a:bodyPr>
          <a:lstStyle/>
          <a:p>
            <a:pPr>
              <a:lnSpc>
                <a:spcPct val="125000"/>
              </a:lnSpc>
            </a:pPr>
            <a:r>
              <a:rPr lang="tr-TR" sz="1400" b="1" dirty="0">
                <a:solidFill>
                  <a:srgbClr val="FF0000"/>
                </a:solidFill>
              </a:rPr>
              <a:t>	Sunumun esas alındığı kaynak: Dr. Hüseyin GÖÇMENLER ,</a:t>
            </a:r>
          </a:p>
          <a:p>
            <a:pPr>
              <a:lnSpc>
                <a:spcPct val="125000"/>
              </a:lnSpc>
            </a:pPr>
            <a:r>
              <a:rPr lang="tr-TR" sz="1400" b="1" dirty="0">
                <a:solidFill>
                  <a:srgbClr val="FF0000"/>
                </a:solidFill>
              </a:rPr>
              <a:t>	«Sözlü </a:t>
            </a:r>
            <a:r>
              <a:rPr lang="tr-TR" sz="1400" b="1">
                <a:solidFill>
                  <a:srgbClr val="FF0000"/>
                </a:solidFill>
              </a:rPr>
              <a:t>ve Sözsüz İletişim»</a:t>
            </a:r>
            <a:endParaRPr lang="tr-TR" sz="1400" b="1" dirty="0">
              <a:solidFill>
                <a:srgbClr val="FF0000"/>
              </a:solidFill>
            </a:endParaRPr>
          </a:p>
          <a:p>
            <a:pPr>
              <a:lnSpc>
                <a:spcPct val="125000"/>
              </a:lnSpc>
            </a:pPr>
            <a:r>
              <a:rPr lang="tr-TR" sz="1400" b="1" dirty="0">
                <a:solidFill>
                  <a:srgbClr val="FF0000"/>
                </a:solidFill>
              </a:rPr>
              <a:t>	Sunumu hazırlayan: Dr. Hüseyin GÖÇMENLER </a:t>
            </a:r>
          </a:p>
          <a:p>
            <a:pPr>
              <a:lnSpc>
                <a:spcPct val="125000"/>
              </a:lnSpc>
            </a:pPr>
            <a:r>
              <a:rPr lang="tr-TR" sz="1400" b="1" dirty="0">
                <a:solidFill>
                  <a:srgbClr val="FF0000"/>
                </a:solidFill>
              </a:rPr>
              <a:t>	Sunan: Dr. Hüseyin GÖÇMENLER </a:t>
            </a:r>
          </a:p>
        </p:txBody>
      </p:sp>
    </p:spTree>
    <p:extLst>
      <p:ext uri="{BB962C8B-B14F-4D97-AF65-F5344CB8AC3E}">
        <p14:creationId xmlns:p14="http://schemas.microsoft.com/office/powerpoint/2010/main" xmlns="" val="326801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0" y="158496"/>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6" name="TextBox 5"/>
          <p:cNvSpPr txBox="1"/>
          <p:nvPr/>
        </p:nvSpPr>
        <p:spPr>
          <a:xfrm>
            <a:off x="259949" y="272892"/>
            <a:ext cx="8624098" cy="523220"/>
          </a:xfrm>
          <a:prstGeom prst="rect">
            <a:avLst/>
          </a:prstGeom>
          <a:noFill/>
        </p:spPr>
        <p:txBody>
          <a:bodyPr wrap="square" rtlCol="0">
            <a:spAutoFit/>
          </a:bodyPr>
          <a:lstStyle/>
          <a:p>
            <a:r>
              <a:rPr lang="tr-TR" sz="2800" b="1" spc="200" dirty="0">
                <a:solidFill>
                  <a:srgbClr val="FCF5E8"/>
                </a:solidFill>
              </a:rPr>
              <a:t>2. </a:t>
            </a:r>
            <a:r>
              <a:rPr lang="en-US" sz="2800" b="1" spc="200" dirty="0" err="1">
                <a:solidFill>
                  <a:srgbClr val="FCF5E8"/>
                </a:solidFill>
              </a:rPr>
              <a:t>Neler</a:t>
            </a:r>
            <a:r>
              <a:rPr lang="en-US" sz="2800" b="1" spc="200" dirty="0">
                <a:solidFill>
                  <a:srgbClr val="FCF5E8"/>
                </a:solidFill>
              </a:rPr>
              <a:t> </a:t>
            </a:r>
            <a:r>
              <a:rPr lang="en-US" sz="2800" b="1" spc="200" dirty="0" err="1">
                <a:solidFill>
                  <a:srgbClr val="FCF5E8"/>
                </a:solidFill>
              </a:rPr>
              <a:t>öğrenece</a:t>
            </a:r>
            <a:r>
              <a:rPr lang="tr-TR" sz="2800" b="1" spc="200" dirty="0" err="1">
                <a:solidFill>
                  <a:srgbClr val="FCF5E8"/>
                </a:solidFill>
              </a:rPr>
              <a:t>ksin</a:t>
            </a:r>
            <a:r>
              <a:rPr lang="en-US" sz="2800" b="1" spc="200" dirty="0" err="1">
                <a:solidFill>
                  <a:srgbClr val="FCF5E8"/>
                </a:solidFill>
              </a:rPr>
              <a:t>iz</a:t>
            </a:r>
            <a:r>
              <a:rPr lang="en-US" sz="2800" b="1" spc="200" dirty="0">
                <a:solidFill>
                  <a:srgbClr val="FCF5E8"/>
                </a:solidFill>
              </a:rPr>
              <a:t>?</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lt Başlık 9"/>
          <p:cNvSpPr>
            <a:spLocks noGrp="1"/>
          </p:cNvSpPr>
          <p:nvPr>
            <p:ph type="subTitle" idx="1"/>
          </p:nvPr>
        </p:nvSpPr>
        <p:spPr>
          <a:xfrm>
            <a:off x="1143000" y="1463040"/>
            <a:ext cx="6858000" cy="3401568"/>
          </a:xfrm>
        </p:spPr>
        <p:txBody>
          <a:bodyPr>
            <a:normAutofit lnSpcReduction="10000"/>
          </a:bodyPr>
          <a:lstStyle/>
          <a:p>
            <a:r>
              <a:rPr lang="tr-TR" dirty="0"/>
              <a:t>Bu ünite sonunda;</a:t>
            </a:r>
          </a:p>
          <a:p>
            <a:pPr marL="285750" indent="-285750" algn="l">
              <a:buFont typeface="Arial" panose="020B0604020202020204" pitchFamily="34" charset="0"/>
              <a:buChar char="•"/>
            </a:pPr>
            <a:r>
              <a:rPr lang="tr-TR" dirty="0" smtClean="0"/>
              <a:t>Sözlü </a:t>
            </a:r>
            <a:r>
              <a:rPr lang="tr-TR" dirty="0"/>
              <a:t>iletişimin temel kavramlarını öğreneceksiniz.</a:t>
            </a:r>
          </a:p>
          <a:p>
            <a:pPr marL="285750" indent="-285750" algn="l">
              <a:buFont typeface="Arial" panose="020B0604020202020204" pitchFamily="34" charset="0"/>
              <a:buChar char="•"/>
            </a:pPr>
            <a:r>
              <a:rPr lang="tr-TR" dirty="0"/>
              <a:t>Sözlü iletişimde dikkat etmeniz gereken hususları öğreneceksiniz. </a:t>
            </a:r>
          </a:p>
          <a:p>
            <a:pPr marL="285750" indent="-285750" algn="l">
              <a:buFont typeface="Arial" panose="020B0604020202020204" pitchFamily="34" charset="0"/>
              <a:buChar char="•"/>
            </a:pPr>
            <a:r>
              <a:rPr lang="tr-TR" dirty="0"/>
              <a:t>Sözlü ve sözsüz iletişimin birbirini nasıl tamamladığını öğreneceksiniz.</a:t>
            </a:r>
          </a:p>
          <a:p>
            <a:pPr marL="285750" indent="-285750" algn="l">
              <a:buFont typeface="Arial" panose="020B0604020202020204" pitchFamily="34" charset="0"/>
              <a:buChar char="•"/>
            </a:pPr>
            <a:r>
              <a:rPr lang="tr-TR" dirty="0"/>
              <a:t>Doğru ve etkili konuşmanın temel ilkelerini öğreneceksiniz.</a:t>
            </a:r>
          </a:p>
          <a:p>
            <a:pPr marL="285750" indent="-285750" algn="l">
              <a:buFont typeface="Arial" panose="020B0604020202020204" pitchFamily="34" charset="0"/>
              <a:buChar char="•"/>
            </a:pPr>
            <a:r>
              <a:rPr lang="tr-TR" dirty="0"/>
              <a:t>Konuşma kavramını tüm unsurlarıyla tanımlayabileceksiniz.</a:t>
            </a:r>
          </a:p>
          <a:p>
            <a:pPr marL="285750" indent="-285750" algn="l">
              <a:buFont typeface="Arial" panose="020B0604020202020204" pitchFamily="34" charset="0"/>
              <a:buChar char="•"/>
            </a:pPr>
            <a:r>
              <a:rPr lang="tr-TR" dirty="0"/>
              <a:t>Konuşma türlerini öğreneceksiniz.</a:t>
            </a:r>
          </a:p>
          <a:p>
            <a:pPr marL="285750" indent="-285750" algn="l">
              <a:buFont typeface="Arial" panose="020B0604020202020204" pitchFamily="34" charset="0"/>
              <a:buChar char="•"/>
            </a:pPr>
            <a:r>
              <a:rPr lang="tr-TR" dirty="0"/>
              <a:t>Sözsüz iletişimin önemini öğreneceksiniz.  </a:t>
            </a:r>
          </a:p>
          <a:p>
            <a:pPr marL="285750" indent="-285750" algn="l">
              <a:buFont typeface="Arial" panose="020B0604020202020204" pitchFamily="34" charset="0"/>
              <a:buChar char="•"/>
            </a:pPr>
            <a:r>
              <a:rPr lang="tr-TR" dirty="0"/>
              <a:t>Sözsüz iletişimin yaşamımız üzerindeki etkisini değerlendirebileceksiniz</a:t>
            </a:r>
            <a:r>
              <a:rPr lang="tr-TR" dirty="0" smtClean="0"/>
              <a:t>.</a:t>
            </a:r>
          </a:p>
        </p:txBody>
      </p:sp>
    </p:spTree>
    <p:extLst>
      <p:ext uri="{BB962C8B-B14F-4D97-AF65-F5344CB8AC3E}">
        <p14:creationId xmlns:p14="http://schemas.microsoft.com/office/powerpoint/2010/main" xmlns="" val="408452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solidFill>
                  <a:schemeClr val="bg1"/>
                </a:solidFill>
              </a:rPr>
              <a:t>3. Anahtar kavramlar</a:t>
            </a:r>
            <a:endParaRPr lang="en-US" sz="2800" b="1" dirty="0">
              <a:solidFill>
                <a:schemeClr val="bg1"/>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143000" y="1463040"/>
            <a:ext cx="6858000" cy="2480310"/>
          </a:xfrm>
        </p:spPr>
        <p:txBody>
          <a:bodyPr/>
          <a:lstStyle/>
          <a:p>
            <a:pPr marL="285750" indent="-285750" algn="l">
              <a:buFont typeface="Arial" panose="020B0604020202020204" pitchFamily="34" charset="0"/>
              <a:buChar char="•"/>
            </a:pPr>
            <a:r>
              <a:rPr lang="tr-TR" dirty="0"/>
              <a:t>Sözlü iletişim</a:t>
            </a:r>
          </a:p>
          <a:p>
            <a:pPr marL="285750" indent="-285750" algn="l">
              <a:buFont typeface="Arial" panose="020B0604020202020204" pitchFamily="34" charset="0"/>
              <a:buChar char="•"/>
            </a:pPr>
            <a:r>
              <a:rPr lang="tr-TR" dirty="0"/>
              <a:t>Sözsüz iletişim</a:t>
            </a:r>
          </a:p>
          <a:p>
            <a:pPr marL="285750" indent="-285750" algn="l">
              <a:buFont typeface="Arial" panose="020B0604020202020204" pitchFamily="34" charset="0"/>
              <a:buChar char="•"/>
            </a:pPr>
            <a:r>
              <a:rPr lang="tr-TR" dirty="0"/>
              <a:t>Konuşma</a:t>
            </a:r>
          </a:p>
          <a:p>
            <a:pPr marL="285750" indent="-285750" algn="l">
              <a:buFont typeface="Arial" panose="020B0604020202020204" pitchFamily="34" charset="0"/>
              <a:buChar char="•"/>
            </a:pPr>
            <a:r>
              <a:rPr lang="tr-TR" dirty="0"/>
              <a:t>Konuşma Türleri</a:t>
            </a:r>
          </a:p>
          <a:p>
            <a:pPr marL="285750" indent="-285750" algn="l">
              <a:buFont typeface="Arial" panose="020B0604020202020204" pitchFamily="34" charset="0"/>
              <a:buChar char="•"/>
            </a:pPr>
            <a:r>
              <a:rPr lang="tr-TR" dirty="0"/>
              <a:t>Beden dili</a:t>
            </a:r>
          </a:p>
        </p:txBody>
      </p:sp>
    </p:spTree>
    <p:extLst>
      <p:ext uri="{BB962C8B-B14F-4D97-AF65-F5344CB8AC3E}">
        <p14:creationId xmlns:p14="http://schemas.microsoft.com/office/powerpoint/2010/main" xmlns="" val="875911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solidFill>
                  <a:schemeClr val="bg1"/>
                </a:solidFill>
              </a:rPr>
              <a:t>4. İletişim becerilerimiz, sizce ne denli yaşamsal bir öneme sahip?</a:t>
            </a:r>
            <a:endParaRPr lang="en-US" sz="2800" b="1" dirty="0">
              <a:solidFill>
                <a:schemeClr val="bg1"/>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799617" y="2081719"/>
            <a:ext cx="6566848" cy="3951601"/>
          </a:xfrm>
        </p:spPr>
        <p:txBody>
          <a:bodyPr/>
          <a:lstStyle/>
          <a:p>
            <a:endParaRPr lang="tr-TR" dirty="0"/>
          </a:p>
          <a:p>
            <a:endParaRPr lang="tr-TR" dirty="0"/>
          </a:p>
        </p:txBody>
      </p:sp>
      <p:pic>
        <p:nvPicPr>
          <p:cNvPr id="9220" name="Picture 4" descr="Sosyal Medya, Bağlantılar, Ağ Oluşturma">
            <a:extLst>
              <a:ext uri="{FF2B5EF4-FFF2-40B4-BE49-F238E27FC236}">
                <a16:creationId xmlns:a16="http://schemas.microsoft.com/office/drawing/2014/main" xmlns="" id="{81C322EB-19C9-3B4E-8C7D-B587DC4102ED}"/>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149350" y="939800"/>
            <a:ext cx="6845300" cy="37909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987265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0"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solidFill>
                  <a:schemeClr val="bg1"/>
                </a:solidFill>
              </a:rPr>
              <a:t>5. Siz kendi iletişim becerileriniz konusunda ne düşünüyorsunuz?</a:t>
            </a:r>
            <a:endParaRPr lang="en-US" sz="2800" b="1" dirty="0">
              <a:solidFill>
                <a:schemeClr val="bg1"/>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6" name="Picture 6">
            <a:extLst>
              <a:ext uri="{FF2B5EF4-FFF2-40B4-BE49-F238E27FC236}">
                <a16:creationId xmlns:a16="http://schemas.microsoft.com/office/drawing/2014/main" xmlns="" id="{D9A76718-DA03-5E4B-A001-C7ECE4932575}"/>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339850" y="977900"/>
            <a:ext cx="6464300" cy="3746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3886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0"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solidFill>
                  <a:schemeClr val="bg1"/>
                </a:solidFill>
              </a:rPr>
              <a:t>5. Siz kendi iletişim becerileriniz konusunda ne düşünüyorsunuz?</a:t>
            </a:r>
            <a:endParaRPr lang="en-US" sz="2800" b="1" dirty="0">
              <a:solidFill>
                <a:schemeClr val="bg1"/>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xmlns="" id="{62D24017-E73B-F44D-A1A4-DD6237B1A2E0}"/>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04672" y="1101011"/>
            <a:ext cx="6742176" cy="36322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865085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0" y="0"/>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solidFill>
                  <a:schemeClr val="bg1"/>
                </a:solidFill>
              </a:rPr>
              <a:t>6. Giriş</a:t>
            </a:r>
            <a:endParaRPr lang="en-US" sz="2800" b="1" dirty="0">
              <a:solidFill>
                <a:schemeClr val="bg1"/>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438912" y="902208"/>
            <a:ext cx="8510016" cy="3041142"/>
          </a:xfrm>
        </p:spPr>
        <p:txBody>
          <a:bodyPr>
            <a:normAutofit/>
          </a:bodyPr>
          <a:lstStyle/>
          <a:p>
            <a:pPr marL="285750" indent="-285750" algn="just">
              <a:buFont typeface="Arial" panose="020B0604020202020204" pitchFamily="34" charset="0"/>
              <a:buChar char="•"/>
            </a:pPr>
            <a:r>
              <a:rPr lang="tr-TR" dirty="0"/>
              <a:t>Anlatmak ve anlaşılmak yaşamsal bir ihtiyaç.</a:t>
            </a:r>
          </a:p>
          <a:p>
            <a:pPr algn="just"/>
            <a:endParaRPr lang="tr-TR" dirty="0"/>
          </a:p>
          <a:p>
            <a:pPr marL="285750" indent="-285750" algn="just">
              <a:buFont typeface="Arial" panose="020B0604020202020204" pitchFamily="34" charset="0"/>
              <a:buChar char="•"/>
            </a:pPr>
            <a:r>
              <a:rPr lang="tr-TR" dirty="0"/>
              <a:t>Sözlü ve sözsüz anlatım birbirini tamamlar ve bütünler. </a:t>
            </a:r>
          </a:p>
          <a:p>
            <a:pPr algn="just"/>
            <a:r>
              <a:rPr lang="tr-TR" dirty="0"/>
              <a:t> </a:t>
            </a:r>
          </a:p>
          <a:p>
            <a:pPr marL="285750" indent="-285750" algn="just">
              <a:buFont typeface="Arial" panose="020B0604020202020204" pitchFamily="34" charset="0"/>
              <a:buChar char="•"/>
            </a:pPr>
            <a:r>
              <a:rPr lang="tr-TR" dirty="0" err="1"/>
              <a:t>Baltaş</a:t>
            </a:r>
            <a:r>
              <a:rPr lang="tr-TR" dirty="0"/>
              <a:t> (2002: 19) iletişim kavramını şöyle değerlendirmektedir: “İnsanlar arası iletişimler temel olarak duygu ve düşünce alışverişini yürütme düzenleridir. Burada ana öge “anlatmaktır”. İletişim kuran ve başlatan kişi kendisini, duygu ve düşünce dünyasını, ilişkilerini, ilişkilerinin kendisindeki karşılıklarını, karşısındakine açıklamak ister. Kişilerin anlatma eylemlerinin iletişim açısından amacı ‘anlaşılmaktır’”.</a:t>
            </a:r>
          </a:p>
          <a:p>
            <a:pPr algn="just"/>
            <a:endParaRPr lang="tr-TR" dirty="0"/>
          </a:p>
        </p:txBody>
      </p:sp>
    </p:spTree>
    <p:extLst>
      <p:ext uri="{BB962C8B-B14F-4D97-AF65-F5344CB8AC3E}">
        <p14:creationId xmlns:p14="http://schemas.microsoft.com/office/powerpoint/2010/main" xmlns="" val="668647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tr-TR" sz="2800" dirty="0"/>
              <a:t>8. GİRİŞ</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0" y="856184"/>
            <a:ext cx="9011918" cy="707886"/>
          </a:xfrm>
          <a:prstGeom prst="rect">
            <a:avLst/>
          </a:prstGeom>
        </p:spPr>
        <p:txBody>
          <a:bodyPr wrap="square">
            <a:spAutoFit/>
          </a:bodyPr>
          <a:lstStyle/>
          <a:p>
            <a:endParaRPr lang="tr-TR" sz="2000" dirty="0"/>
          </a:p>
          <a:p>
            <a:endParaRPr lang="tr-TR" sz="2000" dirty="0"/>
          </a:p>
        </p:txBody>
      </p:sp>
      <p:sp>
        <p:nvSpPr>
          <p:cNvPr id="6" name="Alt Başlık 9"/>
          <p:cNvSpPr>
            <a:spLocks noGrp="1"/>
          </p:cNvSpPr>
          <p:nvPr>
            <p:ph type="subTitle" idx="1"/>
          </p:nvPr>
        </p:nvSpPr>
        <p:spPr>
          <a:xfrm>
            <a:off x="1143000" y="849219"/>
            <a:ext cx="6858000" cy="4135520"/>
          </a:xfrm>
        </p:spPr>
        <p:txBody>
          <a:bodyPr>
            <a:normAutofit/>
          </a:bodyPr>
          <a:lstStyle/>
          <a:p>
            <a:pPr marL="285750" indent="-285750" algn="just">
              <a:buFont typeface="Arial" panose="020B0604020202020204" pitchFamily="34" charset="0"/>
              <a:buChar char="•"/>
            </a:pPr>
            <a:r>
              <a:rPr lang="tr-TR" dirty="0"/>
              <a:t>Sözlü anlatımın temel malzemesi dildir.</a:t>
            </a:r>
          </a:p>
          <a:p>
            <a:pPr marL="285750" indent="-285750" algn="just">
              <a:buFont typeface="Arial" panose="020B0604020202020204" pitchFamily="34" charset="0"/>
              <a:buChar char="•"/>
            </a:pPr>
            <a:r>
              <a:rPr lang="tr-TR" dirty="0"/>
              <a:t>Dilin etkin kullanımı açısından kişinin belli süreçlerden geçmesi, belli bir birikime sahip olması ve bu konuda deneyim kazanması gerekir.</a:t>
            </a:r>
          </a:p>
          <a:p>
            <a:pPr marL="285750" indent="-285750" algn="just">
              <a:buFont typeface="Arial" panose="020B0604020202020204" pitchFamily="34" charset="0"/>
              <a:buChar char="•"/>
            </a:pPr>
            <a:r>
              <a:rPr lang="tr-TR" dirty="0"/>
              <a:t>Sözlü anlatım yazılı anlatımdan çok daha eski bir geçmişe sahiptir. </a:t>
            </a:r>
          </a:p>
          <a:p>
            <a:pPr marL="285750" indent="-285750" algn="just">
              <a:buFont typeface="Arial" panose="020B0604020202020204" pitchFamily="34" charset="0"/>
              <a:buChar char="•"/>
            </a:pPr>
            <a:endParaRPr lang="tr-TR" dirty="0"/>
          </a:p>
          <a:p>
            <a:pPr marL="285750" indent="-285750" algn="just">
              <a:buFont typeface="Arial" panose="020B0604020202020204" pitchFamily="34" charset="0"/>
              <a:buChar char="•"/>
            </a:pPr>
            <a:endParaRPr lang="tr-TR" dirty="0"/>
          </a:p>
          <a:p>
            <a:pPr marL="285750" indent="-285750" algn="just">
              <a:buFont typeface="Arial" panose="020B0604020202020204" pitchFamily="34" charset="0"/>
              <a:buChar char="•"/>
            </a:pPr>
            <a:endParaRPr lang="tr-TR" dirty="0"/>
          </a:p>
          <a:p>
            <a:pPr marL="285750" indent="-285750" algn="just">
              <a:buFont typeface="Arial" panose="020B0604020202020204" pitchFamily="34" charset="0"/>
              <a:buChar char="•"/>
            </a:pPr>
            <a:endParaRPr lang="tr-TR" dirty="0"/>
          </a:p>
          <a:p>
            <a:pPr marL="285750" indent="-285750" algn="just">
              <a:buFont typeface="Arial" panose="020B0604020202020204" pitchFamily="34" charset="0"/>
              <a:buChar char="•"/>
            </a:pPr>
            <a:endParaRPr lang="tr-TR" dirty="0"/>
          </a:p>
          <a:p>
            <a:pPr marL="285750" indent="-285750" algn="just">
              <a:buFont typeface="Arial" panose="020B0604020202020204" pitchFamily="34" charset="0"/>
              <a:buChar char="•"/>
            </a:pPr>
            <a:endParaRPr lang="tr-TR" dirty="0"/>
          </a:p>
          <a:p>
            <a:pPr marL="285750" indent="-285750" algn="just">
              <a:buFont typeface="Arial" panose="020B0604020202020204" pitchFamily="34" charset="0"/>
              <a:buChar char="•"/>
            </a:pPr>
            <a:endParaRPr lang="tr-TR" dirty="0"/>
          </a:p>
          <a:p>
            <a:pPr marL="285750" indent="-285750" algn="just">
              <a:buFont typeface="Arial" panose="020B0604020202020204" pitchFamily="34" charset="0"/>
              <a:buChar char="•"/>
            </a:pPr>
            <a:r>
              <a:rPr lang="tr-TR" dirty="0"/>
              <a:t>Sözlü anlatım için kullanılan temel beceri konuşmadır. </a:t>
            </a:r>
          </a:p>
        </p:txBody>
      </p:sp>
      <p:pic>
        <p:nvPicPr>
          <p:cNvPr id="7" name="Picture 2" descr="Edebiyat konulu karikatürler – AjansNet">
            <a:extLst>
              <a:ext uri="{FF2B5EF4-FFF2-40B4-BE49-F238E27FC236}">
                <a16:creationId xmlns:a16="http://schemas.microsoft.com/office/drawing/2014/main" xmlns="" id="{653B7704-84E9-7642-84FE-96146DB8FFDC}"/>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417287" y="2101946"/>
            <a:ext cx="5957887" cy="244566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00927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tr-TR" sz="2800" b="1" dirty="0"/>
              <a:t>9. GİRİŞ</a:t>
            </a:r>
            <a:endParaRPr lang="tr-TR" sz="2800"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0" y="856184"/>
            <a:ext cx="9011918" cy="1323439"/>
          </a:xfrm>
          <a:prstGeom prst="rect">
            <a:avLst/>
          </a:prstGeom>
        </p:spPr>
        <p:txBody>
          <a:bodyPr wrap="square">
            <a:spAutoFit/>
          </a:bodyPr>
          <a:lstStyle/>
          <a:p>
            <a:endParaRPr lang="tr-TR" sz="2000" dirty="0"/>
          </a:p>
          <a:p>
            <a:endParaRPr lang="tr-TR" sz="2000" dirty="0"/>
          </a:p>
          <a:p>
            <a:endParaRPr lang="tr-TR" sz="2000" dirty="0"/>
          </a:p>
          <a:p>
            <a:endParaRPr lang="tr-TR" sz="2000" dirty="0"/>
          </a:p>
        </p:txBody>
      </p:sp>
      <p:sp>
        <p:nvSpPr>
          <p:cNvPr id="6" name="Alt Başlık 9"/>
          <p:cNvSpPr>
            <a:spLocks noGrp="1"/>
          </p:cNvSpPr>
          <p:nvPr>
            <p:ph type="subTitle" idx="1"/>
          </p:nvPr>
        </p:nvSpPr>
        <p:spPr>
          <a:xfrm>
            <a:off x="341376" y="1036320"/>
            <a:ext cx="5181600" cy="3764280"/>
          </a:xfrm>
        </p:spPr>
        <p:txBody>
          <a:bodyPr>
            <a:normAutofit fontScale="62500" lnSpcReduction="20000"/>
          </a:bodyPr>
          <a:lstStyle/>
          <a:p>
            <a:r>
              <a:rPr lang="tr-TR" dirty="0"/>
              <a:t>Bu konuda Yunus Emre yüzyıllar öncesinde çağlar aşan şu ifadeleri dile getirmiştir: </a:t>
            </a:r>
          </a:p>
          <a:p>
            <a:r>
              <a:rPr lang="tr-TR" sz="2200" i="1" dirty="0"/>
              <a:t>Sözünü bilen kişinin </a:t>
            </a:r>
            <a:endParaRPr lang="tr-TR" sz="2200" dirty="0"/>
          </a:p>
          <a:p>
            <a:r>
              <a:rPr lang="tr-TR" sz="2200" i="1" dirty="0"/>
              <a:t>Yüzünü ağ ede bir söz</a:t>
            </a:r>
            <a:endParaRPr lang="tr-TR" sz="2200" dirty="0"/>
          </a:p>
          <a:p>
            <a:r>
              <a:rPr lang="tr-TR" sz="2200" i="1" dirty="0"/>
              <a:t>Sözü pişirip diyenin </a:t>
            </a:r>
            <a:endParaRPr lang="tr-TR" sz="2200" dirty="0"/>
          </a:p>
          <a:p>
            <a:r>
              <a:rPr lang="tr-TR" sz="2200" i="1" dirty="0"/>
              <a:t>İşini sağ ede bir söz</a:t>
            </a:r>
            <a:endParaRPr lang="tr-TR" sz="2200" dirty="0"/>
          </a:p>
          <a:p>
            <a:r>
              <a:rPr lang="tr-TR" sz="2200" i="1" dirty="0"/>
              <a:t> </a:t>
            </a:r>
            <a:endParaRPr lang="tr-TR" sz="2200" dirty="0"/>
          </a:p>
          <a:p>
            <a:r>
              <a:rPr lang="tr-TR" sz="2200" i="1" dirty="0"/>
              <a:t>Söz ola kese savaşı</a:t>
            </a:r>
            <a:endParaRPr lang="tr-TR" sz="2200" dirty="0"/>
          </a:p>
          <a:p>
            <a:r>
              <a:rPr lang="tr-TR" sz="2200" i="1" dirty="0"/>
              <a:t>Söz ola </a:t>
            </a:r>
            <a:r>
              <a:rPr lang="tr-TR" sz="2200" i="1" dirty="0" err="1"/>
              <a:t>yitüre</a:t>
            </a:r>
            <a:r>
              <a:rPr lang="tr-TR" sz="2200" i="1" dirty="0"/>
              <a:t> başı</a:t>
            </a:r>
            <a:endParaRPr lang="tr-TR" sz="2200" dirty="0"/>
          </a:p>
          <a:p>
            <a:r>
              <a:rPr lang="tr-TR" sz="2200" i="1" dirty="0"/>
              <a:t>Söz ola </a:t>
            </a:r>
            <a:r>
              <a:rPr lang="tr-TR" sz="2200" i="1" dirty="0" err="1"/>
              <a:t>ağulu</a:t>
            </a:r>
            <a:r>
              <a:rPr lang="tr-TR" sz="2200" i="1" dirty="0"/>
              <a:t> aşı</a:t>
            </a:r>
            <a:endParaRPr lang="tr-TR" sz="2200" dirty="0"/>
          </a:p>
          <a:p>
            <a:r>
              <a:rPr lang="tr-TR" sz="2200" i="1" dirty="0"/>
              <a:t>Bal ile yağ ide bir söz</a:t>
            </a:r>
            <a:endParaRPr lang="tr-TR" sz="2200" dirty="0"/>
          </a:p>
          <a:p>
            <a:r>
              <a:rPr lang="tr-TR" sz="2200" i="1" dirty="0"/>
              <a:t> </a:t>
            </a:r>
            <a:endParaRPr lang="tr-TR" sz="2200" dirty="0"/>
          </a:p>
          <a:p>
            <a:r>
              <a:rPr lang="tr-TR" sz="2200" i="1" dirty="0"/>
              <a:t>Kişi bile söz demini</a:t>
            </a:r>
            <a:endParaRPr lang="tr-TR" sz="2200" dirty="0"/>
          </a:p>
          <a:p>
            <a:r>
              <a:rPr lang="tr-TR" sz="2200" i="1" dirty="0"/>
              <a:t>Demeye sözün kemini</a:t>
            </a:r>
            <a:endParaRPr lang="tr-TR" sz="2200" dirty="0"/>
          </a:p>
          <a:p>
            <a:r>
              <a:rPr lang="tr-TR" sz="2200" i="1" dirty="0"/>
              <a:t>Bu cihan cehennemini</a:t>
            </a:r>
            <a:endParaRPr lang="tr-TR" sz="2200" dirty="0"/>
          </a:p>
          <a:p>
            <a:r>
              <a:rPr lang="tr-TR" sz="2200" i="1" dirty="0"/>
              <a:t>Sekiz </a:t>
            </a:r>
            <a:r>
              <a:rPr lang="tr-TR" sz="2200" i="1" dirty="0" err="1"/>
              <a:t>uçmağ</a:t>
            </a:r>
            <a:r>
              <a:rPr lang="tr-TR" sz="2200" i="1" dirty="0"/>
              <a:t> ede bir söz </a:t>
            </a:r>
          </a:p>
          <a:p>
            <a:endParaRPr lang="tr-TR" sz="2200" dirty="0"/>
          </a:p>
          <a:p>
            <a:pPr algn="just"/>
            <a:endParaRPr lang="tr-TR" dirty="0"/>
          </a:p>
        </p:txBody>
      </p:sp>
      <p:pic>
        <p:nvPicPr>
          <p:cNvPr id="3080" name="Picture 8" descr="İlahi aşkın izinde ışık saçan gönül insanı: Yunus Emre">
            <a:extLst>
              <a:ext uri="{FF2B5EF4-FFF2-40B4-BE49-F238E27FC236}">
                <a16:creationId xmlns:a16="http://schemas.microsoft.com/office/drawing/2014/main" xmlns="" id="{0C74FD3D-607E-8F42-8B14-5590CB263AB2}"/>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398264" y="1423035"/>
            <a:ext cx="3810000" cy="287124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360107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10. Sözlü Anlatım Temel Kavramları</a:t>
            </a:r>
            <a:r>
              <a:rPr lang="tr-TR" sz="2800" dirty="0"/>
              <a:t> </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0" y="856184"/>
            <a:ext cx="9011918" cy="1323439"/>
          </a:xfrm>
          <a:prstGeom prst="rect">
            <a:avLst/>
          </a:prstGeom>
        </p:spPr>
        <p:txBody>
          <a:bodyPr wrap="square">
            <a:spAutoFit/>
          </a:bodyPr>
          <a:lstStyle/>
          <a:p>
            <a:endParaRPr lang="tr-TR" sz="2000" dirty="0"/>
          </a:p>
          <a:p>
            <a:endParaRPr lang="tr-TR" sz="2000" dirty="0"/>
          </a:p>
          <a:p>
            <a:endParaRPr lang="tr-TR" sz="2000" dirty="0"/>
          </a:p>
          <a:p>
            <a:endParaRPr lang="tr-TR" sz="2000" dirty="0"/>
          </a:p>
        </p:txBody>
      </p:sp>
      <p:sp>
        <p:nvSpPr>
          <p:cNvPr id="6" name="Alt Başlık 9"/>
          <p:cNvSpPr>
            <a:spLocks noGrp="1"/>
          </p:cNvSpPr>
          <p:nvPr>
            <p:ph type="subTitle" idx="1"/>
          </p:nvPr>
        </p:nvSpPr>
        <p:spPr>
          <a:xfrm>
            <a:off x="341376" y="1011936"/>
            <a:ext cx="5401056" cy="3645408"/>
          </a:xfrm>
        </p:spPr>
        <p:txBody>
          <a:bodyPr>
            <a:normAutofit/>
          </a:bodyPr>
          <a:lstStyle/>
          <a:p>
            <a:r>
              <a:rPr lang="tr-TR" b="1" dirty="0"/>
              <a:t>İletişim</a:t>
            </a:r>
            <a:endParaRPr lang="tr-TR" dirty="0"/>
          </a:p>
          <a:p>
            <a:r>
              <a:rPr lang="tr-TR" dirty="0"/>
              <a:t> </a:t>
            </a:r>
          </a:p>
          <a:p>
            <a:pPr marL="285750" indent="-285750" algn="just">
              <a:buFont typeface="Arial" panose="020B0604020202020204" pitchFamily="34" charset="0"/>
              <a:buChar char="•"/>
            </a:pPr>
            <a:r>
              <a:rPr lang="tr-TR" dirty="0"/>
              <a:t>Anlatım konusundaki en temel kavram öncelikle iletişimdir. </a:t>
            </a:r>
          </a:p>
          <a:p>
            <a:pPr marL="285750" indent="-285750" algn="just">
              <a:buFont typeface="Arial" panose="020B0604020202020204" pitchFamily="34" charset="0"/>
              <a:buChar char="•"/>
            </a:pPr>
            <a:r>
              <a:rPr lang="tr-TR" dirty="0"/>
              <a:t>Fransızca komünikasyon sözcüğünden değiştirilerek dilimizde kullanıldığı, komünikasyonun ise Latince ‘</a:t>
            </a:r>
            <a:r>
              <a:rPr lang="tr-TR" dirty="0" err="1"/>
              <a:t>communis</a:t>
            </a:r>
            <a:r>
              <a:rPr lang="tr-TR" dirty="0"/>
              <a:t>’ yani ‘ortak’ kelimesinin karşılığı olduğu bilinmektedir (Telman; Ünsal, 2005: 19).</a:t>
            </a:r>
          </a:p>
          <a:p>
            <a:pPr marL="285750" indent="-285750" algn="just">
              <a:buFont typeface="Arial" panose="020B0604020202020204" pitchFamily="34" charset="0"/>
              <a:buChar char="•"/>
            </a:pPr>
            <a:r>
              <a:rPr lang="tr-TR" dirty="0" err="1"/>
              <a:t>Baltaş</a:t>
            </a:r>
            <a:r>
              <a:rPr lang="tr-TR" dirty="0"/>
              <a:t> (2002: 19) iletişimi; “Duygu, düşünce veya bilgilerin akla gelebilecek her türlü yolla başkalarına aktarılmasıdır.” şeklinde tanımlamaktadır.</a:t>
            </a:r>
          </a:p>
          <a:p>
            <a:pPr marL="285750" indent="-285750" algn="just">
              <a:buFont typeface="Arial" panose="020B0604020202020204" pitchFamily="34" charset="0"/>
              <a:buChar char="•"/>
            </a:pPr>
            <a:endParaRPr lang="tr-TR" dirty="0"/>
          </a:p>
          <a:p>
            <a:pPr marL="285750" indent="-285750" algn="just">
              <a:buFont typeface="Arial" panose="020B0604020202020204" pitchFamily="34" charset="0"/>
              <a:buChar char="•"/>
            </a:pPr>
            <a:endParaRPr lang="tr-TR" dirty="0"/>
          </a:p>
        </p:txBody>
      </p:sp>
      <p:sp>
        <p:nvSpPr>
          <p:cNvPr id="10" name="Metin kutusu 9">
            <a:extLst>
              <a:ext uri="{FF2B5EF4-FFF2-40B4-BE49-F238E27FC236}">
                <a16:creationId xmlns:a16="http://schemas.microsoft.com/office/drawing/2014/main" xmlns="" id="{92628284-D4EA-B145-92D6-316AD1B55C89}"/>
              </a:ext>
            </a:extLst>
          </p:cNvPr>
          <p:cNvSpPr txBox="1"/>
          <p:nvPr/>
        </p:nvSpPr>
        <p:spPr>
          <a:xfrm>
            <a:off x="8935718" y="1524254"/>
            <a:ext cx="184731" cy="300082"/>
          </a:xfrm>
          <a:prstGeom prst="rect">
            <a:avLst/>
          </a:prstGeom>
          <a:noFill/>
        </p:spPr>
        <p:txBody>
          <a:bodyPr wrap="none" rtlCol="0">
            <a:spAutoFit/>
          </a:bodyPr>
          <a:lstStyle/>
          <a:p>
            <a:endParaRPr lang="tr-TR" dirty="0"/>
          </a:p>
        </p:txBody>
      </p:sp>
      <p:pic>
        <p:nvPicPr>
          <p:cNvPr id="11" name="Picture 4" descr="Konuşma Simgesi, Ses, Konuşmak, Konuşma">
            <a:extLst>
              <a:ext uri="{FF2B5EF4-FFF2-40B4-BE49-F238E27FC236}">
                <a16:creationId xmlns:a16="http://schemas.microsoft.com/office/drawing/2014/main" xmlns="" id="{DB24DE86-0C9E-874A-B197-5374AE54C342}"/>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790692" y="1107947"/>
            <a:ext cx="2926588" cy="33533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342982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tr-TR" sz="2800" dirty="0"/>
          </a:p>
          <a:p>
            <a:pPr lvl="0"/>
            <a:r>
              <a:rPr lang="tr-TR" sz="2800" dirty="0"/>
              <a:t>11. Giriş</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143000" y="849219"/>
            <a:ext cx="6858000" cy="4027581"/>
          </a:xfrm>
        </p:spPr>
        <p:txBody>
          <a:bodyPr>
            <a:normAutofit lnSpcReduction="10000"/>
          </a:bodyPr>
          <a:lstStyle/>
          <a:p>
            <a:pPr algn="just"/>
            <a:r>
              <a:rPr lang="tr-TR" dirty="0"/>
              <a:t>Erdem (2009: 28) iletişimin yedi farklı tanımını özetle şöyle belirtmektedir: </a:t>
            </a:r>
          </a:p>
          <a:p>
            <a:pPr algn="just"/>
            <a:r>
              <a:rPr lang="tr-TR" dirty="0"/>
              <a:t> </a:t>
            </a:r>
          </a:p>
          <a:p>
            <a:pPr algn="just"/>
            <a:r>
              <a:rPr lang="tr-TR" dirty="0"/>
              <a:t>1. İletişim, duygu ve düşüncelerin karşılıklı alışverişidir. </a:t>
            </a:r>
          </a:p>
          <a:p>
            <a:pPr algn="just"/>
            <a:r>
              <a:rPr lang="tr-TR" dirty="0"/>
              <a:t>2. İletişim, anlaşmaktır. </a:t>
            </a:r>
          </a:p>
          <a:p>
            <a:pPr algn="just"/>
            <a:r>
              <a:rPr lang="tr-TR" dirty="0"/>
              <a:t>3. İletişim, etkileşimdir. </a:t>
            </a:r>
          </a:p>
          <a:p>
            <a:pPr algn="just"/>
            <a:r>
              <a:rPr lang="tr-TR" dirty="0"/>
              <a:t>4. İletişim, duygu ve düşüncenin aktarılmasıdır. </a:t>
            </a:r>
          </a:p>
          <a:p>
            <a:pPr algn="just"/>
            <a:r>
              <a:rPr lang="tr-TR" dirty="0"/>
              <a:t>5. İletişim, paylaşımdır. </a:t>
            </a:r>
          </a:p>
          <a:p>
            <a:pPr algn="just"/>
            <a:r>
              <a:rPr lang="tr-TR" dirty="0"/>
              <a:t>6. İletişim, gönderilen mesajın hedefteki etkisidir. </a:t>
            </a:r>
          </a:p>
          <a:p>
            <a:pPr algn="just"/>
            <a:r>
              <a:rPr lang="tr-TR" dirty="0"/>
              <a:t>7. İletişim, kişinin kişiyi etkileme sürecidir.</a:t>
            </a:r>
            <a:r>
              <a:rPr lang="tr-TR" b="1" dirty="0"/>
              <a:t> </a:t>
            </a:r>
            <a:endParaRPr lang="tr-TR" dirty="0"/>
          </a:p>
          <a:p>
            <a:pPr algn="just"/>
            <a:r>
              <a:rPr lang="tr-TR" b="1" dirty="0"/>
              <a:t> </a:t>
            </a:r>
            <a:endParaRPr lang="tr-TR" dirty="0"/>
          </a:p>
          <a:p>
            <a:pPr marL="285750" indent="-285750" algn="just">
              <a:buFont typeface="Arial" panose="020B0604020202020204" pitchFamily="34" charset="0"/>
              <a:buChar char="•"/>
            </a:pPr>
            <a:r>
              <a:rPr lang="tr-TR" dirty="0"/>
              <a:t>İletişimin bireysel ve toplumsal bir yönü vardır. </a:t>
            </a:r>
            <a:r>
              <a:rPr lang="tr-TR" dirty="0" err="1"/>
              <a:t>Psikososyal</a:t>
            </a:r>
            <a:r>
              <a:rPr lang="tr-TR" dirty="0"/>
              <a:t> bir süreçtir. </a:t>
            </a:r>
          </a:p>
          <a:p>
            <a:endParaRPr lang="tr-TR" dirty="0"/>
          </a:p>
          <a:p>
            <a:endParaRPr lang="tr-TR" dirty="0"/>
          </a:p>
        </p:txBody>
      </p:sp>
    </p:spTree>
    <p:extLst>
      <p:ext uri="{BB962C8B-B14F-4D97-AF65-F5344CB8AC3E}">
        <p14:creationId xmlns:p14="http://schemas.microsoft.com/office/powerpoint/2010/main" xmlns="" val="641321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8"/>
          <p:cNvSpPr/>
          <p:nvPr/>
        </p:nvSpPr>
        <p:spPr>
          <a:xfrm>
            <a:off x="-4" y="201512"/>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12. İletişimin Temel Kavramları</a:t>
            </a:r>
          </a:p>
        </p:txBody>
      </p:sp>
      <p:sp>
        <p:nvSpPr>
          <p:cNvPr id="7" name="Alt Başlık 9"/>
          <p:cNvSpPr>
            <a:spLocks noGrp="1"/>
          </p:cNvSpPr>
          <p:nvPr>
            <p:ph type="subTitle" idx="1"/>
          </p:nvPr>
        </p:nvSpPr>
        <p:spPr>
          <a:xfrm>
            <a:off x="1143000" y="1463040"/>
            <a:ext cx="6858000" cy="3286760"/>
          </a:xfrm>
        </p:spPr>
        <p:txBody>
          <a:bodyPr>
            <a:normAutofit fontScale="92500" lnSpcReduction="20000"/>
          </a:bodyPr>
          <a:lstStyle/>
          <a:p>
            <a:pPr algn="just"/>
            <a:r>
              <a:rPr lang="tr-TR" dirty="0"/>
              <a:t>İletişimde temel bazı kavramlar bulunmaktadır. Söz konusu kavramlar;</a:t>
            </a:r>
          </a:p>
          <a:p>
            <a:pPr algn="just"/>
            <a:r>
              <a:rPr lang="tr-TR" dirty="0"/>
              <a:t> -Bilgi kaynağı, -mesaj, -kanal,  -mesajı alan (alıcı), -geri bildirim (dönüt), şeklinde ifade edilmektedir (Ergin, Birol; 2001: 25).</a:t>
            </a:r>
          </a:p>
          <a:p>
            <a:pPr algn="just"/>
            <a:endParaRPr lang="tr-TR" dirty="0"/>
          </a:p>
          <a:p>
            <a:pPr algn="just"/>
            <a:r>
              <a:rPr lang="tr-TR" dirty="0"/>
              <a:t>Erdem (2009: 31) başarılı bir iletişim için dört alana dikkat edilmesi gerektiğini söyler: </a:t>
            </a:r>
          </a:p>
          <a:p>
            <a:pPr algn="just"/>
            <a:r>
              <a:rPr lang="tr-TR" dirty="0"/>
              <a:t>1-İletişimde ilk dakikayı önemseyin. </a:t>
            </a:r>
          </a:p>
          <a:p>
            <a:pPr algn="just"/>
            <a:r>
              <a:rPr lang="tr-TR" dirty="0"/>
              <a:t>2-İletişime duygu katmayı unutmayın. </a:t>
            </a:r>
          </a:p>
          <a:p>
            <a:pPr algn="just"/>
            <a:r>
              <a:rPr lang="tr-TR" dirty="0"/>
              <a:t>3-İnsana değil, insanla iletişim kurun. </a:t>
            </a:r>
          </a:p>
          <a:p>
            <a:pPr algn="just"/>
            <a:r>
              <a:rPr lang="tr-TR" dirty="0"/>
              <a:t>4-Sözsüz iletişim unsurlarını ihmal etmeyin. Beden dili ve ses tonu çok önemli unsurlardır.</a:t>
            </a:r>
          </a:p>
          <a:p>
            <a:pPr algn="just"/>
            <a:r>
              <a:rPr lang="tr-TR" dirty="0"/>
              <a:t> </a:t>
            </a:r>
          </a:p>
          <a:p>
            <a:endParaRPr lang="tr-TR" dirty="0"/>
          </a:p>
        </p:txBody>
      </p:sp>
    </p:spTree>
    <p:extLst>
      <p:ext uri="{BB962C8B-B14F-4D97-AF65-F5344CB8AC3E}">
        <p14:creationId xmlns:p14="http://schemas.microsoft.com/office/powerpoint/2010/main" xmlns="" val="589095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13. Doğru İletişimde Dikkat Edilmesi Gereken Unsurlar</a:t>
            </a:r>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4" y="849219"/>
            <a:ext cx="5059684" cy="4135785"/>
          </a:xfrm>
        </p:spPr>
        <p:txBody>
          <a:bodyPr>
            <a:normAutofit/>
          </a:bodyPr>
          <a:lstStyle/>
          <a:p>
            <a:pPr algn="just"/>
            <a:r>
              <a:rPr lang="tr-TR" dirty="0"/>
              <a:t>1-Ne söylemek istiyorum? </a:t>
            </a:r>
          </a:p>
          <a:p>
            <a:pPr algn="just"/>
            <a:r>
              <a:rPr lang="tr-TR" dirty="0"/>
              <a:t>2-Ne zaman söylersem karşımdakinin iletişim kanalları açık olur? </a:t>
            </a:r>
          </a:p>
          <a:p>
            <a:pPr algn="just"/>
            <a:r>
              <a:rPr lang="tr-TR" dirty="0"/>
              <a:t>3-Nerede iletişimi başlatsam yerinde olur? (Erdem; 2009: 30 ).</a:t>
            </a:r>
          </a:p>
          <a:p>
            <a:pPr algn="just"/>
            <a:r>
              <a:rPr lang="tr-TR" b="1" dirty="0"/>
              <a:t>  </a:t>
            </a:r>
            <a:endParaRPr lang="tr-TR" dirty="0"/>
          </a:p>
          <a:p>
            <a:pPr marL="285750" indent="-285750" algn="just">
              <a:buFont typeface="Arial" panose="020B0604020202020204" pitchFamily="34" charset="0"/>
              <a:buChar char="•"/>
            </a:pPr>
            <a:r>
              <a:rPr lang="tr-TR" dirty="0"/>
              <a:t>İletişim kurulurken ilk izlenim çok önemlidir.</a:t>
            </a:r>
          </a:p>
          <a:p>
            <a:pPr marL="285750" indent="-285750" algn="just">
              <a:buFont typeface="Arial" panose="020B0604020202020204" pitchFamily="34" charset="0"/>
              <a:buChar char="•"/>
            </a:pPr>
            <a:r>
              <a:rPr lang="tr-TR" dirty="0"/>
              <a:t> Başarılı bir iletişim için ilk dakika çok önemli.</a:t>
            </a:r>
          </a:p>
          <a:p>
            <a:pPr marL="285750" indent="-285750" algn="just">
              <a:buFont typeface="Arial" panose="020B0604020202020204" pitchFamily="34" charset="0"/>
              <a:buChar char="•"/>
            </a:pPr>
            <a:r>
              <a:rPr lang="tr-TR" dirty="0"/>
              <a:t>Beden dili, kullandığı kelimeler ve taşıdığı aksesuar, içinde bulunduğu fiziki ortam nesnelerine kadar geniş bir dağılım gösterir. </a:t>
            </a:r>
          </a:p>
          <a:p>
            <a:pPr marL="285750" indent="-285750" algn="just">
              <a:buFont typeface="Arial" panose="020B0604020202020204" pitchFamily="34" charset="0"/>
              <a:buChar char="•"/>
            </a:pPr>
            <a:r>
              <a:rPr lang="tr-TR" dirty="0"/>
              <a:t>Zihninde bir etiket yapıştırmak. </a:t>
            </a:r>
          </a:p>
          <a:p>
            <a:pPr marL="285750" indent="-285750" algn="just">
              <a:buFont typeface="Arial" panose="020B0604020202020204" pitchFamily="34" charset="0"/>
              <a:buChar char="•"/>
            </a:pPr>
            <a:endParaRPr lang="tr-TR" dirty="0"/>
          </a:p>
        </p:txBody>
      </p:sp>
      <p:pic>
        <p:nvPicPr>
          <p:cNvPr id="5128" name="Picture 8" descr="Renkli arka plan üzerinde komik düşük poli maske ile adam stok fotoğrafı">
            <a:extLst>
              <a:ext uri="{FF2B5EF4-FFF2-40B4-BE49-F238E27FC236}">
                <a16:creationId xmlns:a16="http://schemas.microsoft.com/office/drawing/2014/main" xmlns="" id="{9D0605AB-FB84-ED40-8047-250A7440DB6D}"/>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535168" y="848955"/>
            <a:ext cx="3425952" cy="382058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046755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14. Konuşma</a:t>
            </a:r>
            <a:endParaRPr lang="tr-TR" sz="2800"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143000" y="849219"/>
            <a:ext cx="3721608" cy="4027581"/>
          </a:xfrm>
        </p:spPr>
        <p:txBody>
          <a:bodyPr>
            <a:normAutofit lnSpcReduction="10000"/>
          </a:bodyPr>
          <a:lstStyle/>
          <a:p>
            <a:r>
              <a:rPr lang="tr-TR" dirty="0"/>
              <a:t> </a:t>
            </a:r>
          </a:p>
          <a:p>
            <a:pPr marL="285750" indent="-285750" algn="just">
              <a:buFont typeface="Arial" panose="020B0604020202020204" pitchFamily="34" charset="0"/>
              <a:buChar char="•"/>
            </a:pPr>
            <a:r>
              <a:rPr lang="tr-TR" dirty="0"/>
              <a:t>Dilimizi kullanırken de en sık başvurduğumuz kaynağımız konuşmadır. </a:t>
            </a:r>
          </a:p>
          <a:p>
            <a:pPr marL="285750" indent="-285750" algn="just">
              <a:buFont typeface="Arial" panose="020B0604020202020204" pitchFamily="34" charset="0"/>
              <a:buChar char="•"/>
            </a:pPr>
            <a:r>
              <a:rPr lang="tr-TR" dirty="0"/>
              <a:t>Duygu, düşünce, tasarım ve isteklerin sözle bildirilmesidir (Sever; 2004: 22). </a:t>
            </a:r>
          </a:p>
          <a:p>
            <a:pPr marL="285750" indent="-285750" algn="just">
              <a:buFont typeface="Arial" panose="020B0604020202020204" pitchFamily="34" charset="0"/>
              <a:buChar char="•"/>
            </a:pPr>
            <a:r>
              <a:rPr lang="tr-TR" dirty="0"/>
              <a:t>Düşünme ve konuşma arasındaki bu sıkı ilişkide, diğer taraftan, doğru, yerinde ve başarılı bir konuşmanın da  insanın düşünme süreçlerine etkide bulunduğu söylenebilir (Durmuş, 2011, s. 196).</a:t>
            </a:r>
          </a:p>
          <a:p>
            <a:pPr algn="just"/>
            <a:r>
              <a:rPr lang="tr-TR" dirty="0"/>
              <a:t> </a:t>
            </a:r>
          </a:p>
          <a:p>
            <a:endParaRPr lang="tr-TR" dirty="0"/>
          </a:p>
        </p:txBody>
      </p:sp>
      <p:pic>
        <p:nvPicPr>
          <p:cNvPr id="6146" name="Picture 2">
            <a:extLst>
              <a:ext uri="{FF2B5EF4-FFF2-40B4-BE49-F238E27FC236}">
                <a16:creationId xmlns:a16="http://schemas.microsoft.com/office/drawing/2014/main" xmlns="" id="{97988604-3DC3-F047-B29D-173AC98F03DD}"/>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120146" y="849218"/>
            <a:ext cx="2682569" cy="402758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818846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15. Konuşmanın Unsurları</a:t>
            </a:r>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143000" y="849219"/>
            <a:ext cx="6858000" cy="4027581"/>
          </a:xfrm>
        </p:spPr>
        <p:txBody>
          <a:bodyPr>
            <a:normAutofit fontScale="92500" lnSpcReduction="20000"/>
          </a:bodyPr>
          <a:lstStyle/>
          <a:p>
            <a:pPr marL="285750" indent="-285750" algn="just">
              <a:buFont typeface="Arial" panose="020B0604020202020204" pitchFamily="34" charset="0"/>
              <a:buChar char="•"/>
            </a:pPr>
            <a:r>
              <a:rPr lang="tr-TR" dirty="0"/>
              <a:t>Sözcük seçimi ve ses tonu,</a:t>
            </a:r>
          </a:p>
          <a:p>
            <a:pPr marL="285750" indent="-285750" algn="just">
              <a:buFont typeface="Arial" panose="020B0604020202020204" pitchFamily="34" charset="0"/>
              <a:buChar char="•"/>
            </a:pPr>
            <a:r>
              <a:rPr lang="tr-TR" dirty="0"/>
              <a:t>konuşma ve işitme ile ilgili fizyolojik durum, </a:t>
            </a:r>
          </a:p>
          <a:p>
            <a:pPr marL="285750" indent="-285750" algn="just">
              <a:buFont typeface="Arial" panose="020B0604020202020204" pitchFamily="34" charset="0"/>
              <a:buChar char="•"/>
            </a:pPr>
            <a:r>
              <a:rPr lang="tr-TR" dirty="0"/>
              <a:t>vurgu, </a:t>
            </a:r>
          </a:p>
          <a:p>
            <a:pPr marL="285750" indent="-285750" algn="just">
              <a:buFont typeface="Arial" panose="020B0604020202020204" pitchFamily="34" charset="0"/>
              <a:buChar char="•"/>
            </a:pPr>
            <a:r>
              <a:rPr lang="tr-TR" dirty="0"/>
              <a:t>içerik, </a:t>
            </a:r>
          </a:p>
          <a:p>
            <a:pPr marL="285750" indent="-285750" algn="just">
              <a:buFont typeface="Arial" panose="020B0604020202020204" pitchFamily="34" charset="0"/>
              <a:buChar char="•"/>
            </a:pPr>
            <a:r>
              <a:rPr lang="tr-TR" dirty="0"/>
              <a:t>simgesel dil ve mizah kullanımı, </a:t>
            </a:r>
          </a:p>
          <a:p>
            <a:pPr marL="285750" indent="-285750" algn="just">
              <a:buFont typeface="Arial" panose="020B0604020202020204" pitchFamily="34" charset="0"/>
              <a:buChar char="•"/>
            </a:pPr>
            <a:r>
              <a:rPr lang="tr-TR" dirty="0"/>
              <a:t>hız, </a:t>
            </a:r>
          </a:p>
          <a:p>
            <a:pPr marL="285750" indent="-285750" algn="just">
              <a:buFont typeface="Arial" panose="020B0604020202020204" pitchFamily="34" charset="0"/>
              <a:buChar char="•"/>
            </a:pPr>
            <a:r>
              <a:rPr lang="tr-TR" dirty="0"/>
              <a:t>telaffuz, </a:t>
            </a:r>
          </a:p>
          <a:p>
            <a:pPr marL="285750" indent="-285750" algn="just">
              <a:buFont typeface="Arial" panose="020B0604020202020204" pitchFamily="34" charset="0"/>
              <a:buChar char="•"/>
            </a:pPr>
            <a:r>
              <a:rPr lang="tr-TR" dirty="0"/>
              <a:t>ses perdesi, </a:t>
            </a:r>
          </a:p>
          <a:p>
            <a:pPr marL="285750" indent="-285750" algn="just">
              <a:buFont typeface="Arial" panose="020B0604020202020204" pitchFamily="34" charset="0"/>
              <a:buChar char="•"/>
            </a:pPr>
            <a:r>
              <a:rPr lang="tr-TR" dirty="0"/>
              <a:t>hedefe yönelik konuşma, üslup-tarz, anlamlılık, zihinsel etkinlik ve kalıplardır (Telman, Ünsal; 2005: 79). </a:t>
            </a:r>
          </a:p>
          <a:p>
            <a:pPr algn="just"/>
            <a:r>
              <a:rPr lang="tr-TR" dirty="0"/>
              <a:t>Son zamanlarda yapılan bir araştırmaya göre, beyinde bulunan kafatası sinirlerinin hem yüz ifadelerini hem de vokal ifadeyi kontrol ettiği ortaya çıkmıştır. Bu, yüz ifadelerimizi harekete geçiren aynı </a:t>
            </a:r>
            <a:r>
              <a:rPr lang="tr-TR" dirty="0" err="1"/>
              <a:t>kronyal</a:t>
            </a:r>
            <a:r>
              <a:rPr lang="tr-TR" dirty="0"/>
              <a:t> uyaranın aynı zamanda vokal ifadelerimizi de kontrol ettiği anlamına gelir (</a:t>
            </a:r>
            <a:r>
              <a:rPr lang="tr-TR" dirty="0" err="1"/>
              <a:t>Glass</a:t>
            </a:r>
            <a:r>
              <a:rPr lang="tr-TR" dirty="0"/>
              <a:t>; 2008: 51). </a:t>
            </a:r>
          </a:p>
          <a:p>
            <a:pPr algn="just"/>
            <a:endParaRPr lang="tr-TR" dirty="0"/>
          </a:p>
          <a:p>
            <a:endParaRPr lang="tr-TR" dirty="0"/>
          </a:p>
        </p:txBody>
      </p:sp>
    </p:spTree>
    <p:extLst>
      <p:ext uri="{BB962C8B-B14F-4D97-AF65-F5344CB8AC3E}">
        <p14:creationId xmlns:p14="http://schemas.microsoft.com/office/powerpoint/2010/main" xmlns="" val="3362262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0" y="120310"/>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endParaRPr lang="tr-TR" sz="2800" dirty="0">
              <a:solidFill>
                <a:srgbClr val="771614"/>
              </a:solidFill>
            </a:endParaRPr>
          </a:p>
          <a:p>
            <a:pPr marL="0" lvl="1"/>
            <a:r>
              <a:rPr lang="tr-TR" sz="2800" b="1" dirty="0"/>
              <a:t>16. Ses, Sıklık </a:t>
            </a:r>
            <a:endParaRPr lang="tr-TR" sz="2800" dirty="0"/>
          </a:p>
          <a:p>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143000" y="1463040"/>
            <a:ext cx="6858000" cy="3389376"/>
          </a:xfrm>
        </p:spPr>
        <p:txBody>
          <a:bodyPr>
            <a:normAutofit/>
          </a:bodyPr>
          <a:lstStyle/>
          <a:p>
            <a:pPr marL="285750" indent="-285750" algn="just">
              <a:buFont typeface="Arial" panose="020B0604020202020204" pitchFamily="34" charset="0"/>
              <a:buChar char="•"/>
            </a:pPr>
            <a:r>
              <a:rPr lang="tr-TR" b="1" dirty="0"/>
              <a:t>Ses: </a:t>
            </a:r>
            <a:r>
              <a:rPr lang="tr-TR" dirty="0"/>
              <a:t>Konuşma sesleri, akciğerlerden başlayıp ağız ve burunda sona eren solunum yollarında sıralanmış organlara çarpıp veya sürtünüp seda hâline geldikten sonra en son olarak bir kalıptan, engelden geçip ağızdan çıkan titreşimlerdir. (Ergin 1990: 30) </a:t>
            </a:r>
          </a:p>
          <a:p>
            <a:pPr algn="just"/>
            <a:r>
              <a:rPr lang="tr-TR" dirty="0"/>
              <a:t>Beyin tarafından yönetilen konuşma süreçlerinde, insan ses aygıtlarının 60 kadar farklı sesi çıkarmaya ve işitildiğinde bunları ayırt etmeye uygun olduğu görülmektedir. </a:t>
            </a:r>
          </a:p>
          <a:p>
            <a:pPr marL="285750" indent="-285750" algn="just">
              <a:buFont typeface="Arial" panose="020B0604020202020204" pitchFamily="34" charset="0"/>
              <a:buChar char="•"/>
            </a:pPr>
            <a:r>
              <a:rPr lang="tr-TR" b="1" dirty="0"/>
              <a:t>Sıklık/Frekans: </a:t>
            </a:r>
            <a:r>
              <a:rPr lang="tr-TR" dirty="0"/>
              <a:t>Titreşen her nesnenin 1 saniyedeki yalın titreşimleridir. Ölçü birimi </a:t>
            </a:r>
            <a:r>
              <a:rPr lang="tr-TR" dirty="0" err="1"/>
              <a:t>Hertz’dir</a:t>
            </a:r>
            <a:r>
              <a:rPr lang="tr-TR" dirty="0"/>
              <a:t>. İnsanlar 20 ile 20.000 Hertz arasındaki ses dalgalarını algılayabilirler. Sıklıkla meydana gelen değişiklikler, kulaktaki seslerin tonunun alçak ve yüksek olarak algılanmasına neden olur. (Toklu, 2003: 35) </a:t>
            </a:r>
          </a:p>
        </p:txBody>
      </p:sp>
    </p:spTree>
    <p:extLst>
      <p:ext uri="{BB962C8B-B14F-4D97-AF65-F5344CB8AC3E}">
        <p14:creationId xmlns:p14="http://schemas.microsoft.com/office/powerpoint/2010/main" xmlns="" val="2418714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17.Ton/Tonlama, Ezgi</a:t>
            </a:r>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365760" y="1463040"/>
            <a:ext cx="8546592" cy="3337560"/>
          </a:xfrm>
        </p:spPr>
        <p:txBody>
          <a:bodyPr>
            <a:normAutofit/>
          </a:bodyPr>
          <a:lstStyle/>
          <a:p>
            <a:pPr algn="just"/>
            <a:r>
              <a:rPr lang="tr-TR" b="1" dirty="0"/>
              <a:t>Tonlama:</a:t>
            </a:r>
            <a:r>
              <a:rPr lang="tr-TR" dirty="0"/>
              <a:t> Titreşen, ses veren varlığın titreşim sayısının az ya da çok oluşuna tonlama denir (Toklu, 2003: 35). </a:t>
            </a:r>
          </a:p>
          <a:p>
            <a:pPr algn="just"/>
            <a:r>
              <a:rPr lang="tr-TR" dirty="0"/>
              <a:t>Tonlama, iletilmek istenen mesajın doğru şekilde dinleyiciye ulaşmasına, dinleyici üzerindeki etkisinin artmasına yardımcı olur. Tonlama aracılığıyla, konuşmanın içeriğine uygun, coşkun, güçlü, yumuşak, kesin, hassas duygular dinleyiciye iletilir.  </a:t>
            </a:r>
          </a:p>
          <a:p>
            <a:pPr algn="just"/>
            <a:endParaRPr lang="tr-TR" dirty="0"/>
          </a:p>
          <a:p>
            <a:pPr algn="just"/>
            <a:r>
              <a:rPr lang="tr-TR" b="1" dirty="0"/>
              <a:t>Ezgi: </a:t>
            </a:r>
            <a:r>
              <a:rPr lang="tr-TR" dirty="0"/>
              <a:t>Sözcük içerisinde hecelerin </a:t>
            </a:r>
            <a:r>
              <a:rPr lang="tr-TR" dirty="0" err="1"/>
              <a:t>sesletiminde</a:t>
            </a:r>
            <a:r>
              <a:rPr lang="tr-TR" dirty="0"/>
              <a:t> alçalan veya yükselen tona karşılık, cümle düzeyinde sözcüklerin, sözcük gruplarının da alçalan veya yükselen tonda </a:t>
            </a:r>
            <a:r>
              <a:rPr lang="tr-TR" dirty="0" err="1"/>
              <a:t>sesletildiği</a:t>
            </a:r>
            <a:r>
              <a:rPr lang="tr-TR" dirty="0"/>
              <a:t> görülür. İletilmek istenen mesaja, oluşturulmak istenen duygu değerine bağlı olarak konuşmacının cümle düzeyinde yaptığı tonlamalara ezgi denir ( Toklu, 2003: 35).</a:t>
            </a:r>
          </a:p>
          <a:p>
            <a:endParaRPr lang="tr-TR" dirty="0"/>
          </a:p>
        </p:txBody>
      </p:sp>
    </p:spTree>
    <p:extLst>
      <p:ext uri="{BB962C8B-B14F-4D97-AF65-F5344CB8AC3E}">
        <p14:creationId xmlns:p14="http://schemas.microsoft.com/office/powerpoint/2010/main" xmlns="" val="3649751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61819"/>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18. Vurgu, Durak </a:t>
            </a:r>
            <a:endParaRPr lang="tr-TR" sz="2800"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09728" y="865199"/>
            <a:ext cx="7776973" cy="3995479"/>
          </a:xfrm>
        </p:spPr>
        <p:txBody>
          <a:bodyPr>
            <a:normAutofit fontScale="85000" lnSpcReduction="20000"/>
          </a:bodyPr>
          <a:lstStyle/>
          <a:p>
            <a:pPr algn="just"/>
            <a:r>
              <a:rPr lang="tr-TR" b="1" dirty="0"/>
              <a:t>Sözcüklerde veya sözcük öbeklerinde bazı hecelerin, cümlenin bütününde bazı sözcüklerin diğerlerine göre daha yüksek tonda seslendirilmesidir. (Durmuş, 2015: 197) </a:t>
            </a:r>
            <a:endParaRPr lang="tr-TR" dirty="0"/>
          </a:p>
          <a:p>
            <a:pPr marL="285750" indent="-285750" algn="just">
              <a:buFont typeface="Arial" panose="020B0604020202020204" pitchFamily="34" charset="0"/>
              <a:buChar char="•"/>
            </a:pPr>
            <a:r>
              <a:rPr lang="tr-TR" i="1" dirty="0"/>
              <a:t>(benim) çocuğum, (ben) çocuğum, (Hey!) Çocuğum</a:t>
            </a:r>
            <a:r>
              <a:rPr lang="tr-TR" dirty="0"/>
              <a:t> (Eker, 2005: 317)</a:t>
            </a:r>
            <a:r>
              <a:rPr lang="tr-TR" b="1" dirty="0"/>
              <a:t> </a:t>
            </a:r>
            <a:endParaRPr lang="tr-TR" dirty="0"/>
          </a:p>
          <a:p>
            <a:pPr marL="285750" indent="-285750" algn="just">
              <a:buFont typeface="Arial" panose="020B0604020202020204" pitchFamily="34" charset="0"/>
              <a:buChar char="•"/>
            </a:pPr>
            <a:r>
              <a:rPr lang="tr-TR" i="1" dirty="0"/>
              <a:t>Ordu, </a:t>
            </a:r>
            <a:r>
              <a:rPr lang="tr-TR" i="1" dirty="0" err="1"/>
              <a:t>KURtuluş</a:t>
            </a:r>
            <a:r>
              <a:rPr lang="tr-TR" i="1" dirty="0"/>
              <a:t>, </a:t>
            </a:r>
            <a:r>
              <a:rPr lang="tr-TR" i="1" dirty="0" err="1"/>
              <a:t>BEbek</a:t>
            </a:r>
            <a:r>
              <a:rPr lang="tr-TR" i="1" dirty="0"/>
              <a:t> </a:t>
            </a:r>
            <a:r>
              <a:rPr lang="tr-TR" dirty="0"/>
              <a:t>yer adlarında vurgu ilke hece üzerindedir. Buna karşılık </a:t>
            </a:r>
            <a:r>
              <a:rPr lang="tr-TR" i="1" dirty="0" err="1"/>
              <a:t>orDU</a:t>
            </a:r>
            <a:r>
              <a:rPr lang="tr-TR" i="1" dirty="0"/>
              <a:t>, </a:t>
            </a:r>
            <a:r>
              <a:rPr lang="tr-TR" i="1" dirty="0" err="1"/>
              <a:t>kurtuLUŞ</a:t>
            </a:r>
            <a:r>
              <a:rPr lang="tr-TR" i="1" dirty="0"/>
              <a:t>, </a:t>
            </a:r>
            <a:r>
              <a:rPr lang="tr-TR" i="1" dirty="0" err="1"/>
              <a:t>beBEK</a:t>
            </a:r>
            <a:r>
              <a:rPr lang="tr-TR" dirty="0"/>
              <a:t> sözcüklerinde vurgu son hece üzerindedir.  Başka örnekler olarak </a:t>
            </a:r>
            <a:r>
              <a:rPr lang="tr-TR" i="1" dirty="0" err="1"/>
              <a:t>KAZma</a:t>
            </a:r>
            <a:r>
              <a:rPr lang="tr-TR" i="1" dirty="0"/>
              <a:t>, </a:t>
            </a:r>
            <a:r>
              <a:rPr lang="tr-TR" i="1" dirty="0" err="1"/>
              <a:t>ÇİZme</a:t>
            </a:r>
            <a:r>
              <a:rPr lang="tr-TR" i="1" dirty="0"/>
              <a:t>, </a:t>
            </a:r>
            <a:r>
              <a:rPr lang="tr-TR" i="1" dirty="0" err="1"/>
              <a:t>SARma</a:t>
            </a:r>
            <a:r>
              <a:rPr lang="tr-TR" b="1" i="1" dirty="0"/>
              <a:t> </a:t>
            </a:r>
            <a:r>
              <a:rPr lang="tr-TR" dirty="0"/>
              <a:t>eylem adlarına vurgu ilk hece üzerinde iken </a:t>
            </a:r>
            <a:r>
              <a:rPr lang="tr-TR" i="1" dirty="0" err="1"/>
              <a:t>kazMA</a:t>
            </a:r>
            <a:r>
              <a:rPr lang="tr-TR" i="1" dirty="0"/>
              <a:t> (alet), </a:t>
            </a:r>
            <a:r>
              <a:rPr lang="tr-TR" i="1" dirty="0" err="1"/>
              <a:t>çizME</a:t>
            </a:r>
            <a:r>
              <a:rPr lang="tr-TR" i="1" dirty="0"/>
              <a:t> (ayakkabı), </a:t>
            </a:r>
            <a:r>
              <a:rPr lang="tr-TR" i="1" dirty="0" err="1"/>
              <a:t>sarMA</a:t>
            </a:r>
            <a:r>
              <a:rPr lang="tr-TR" i="1" dirty="0"/>
              <a:t> (yiyecek)</a:t>
            </a:r>
            <a:r>
              <a:rPr lang="tr-TR" dirty="0"/>
              <a:t> nesne adlarında vurgu son hece üzerindedir. </a:t>
            </a:r>
          </a:p>
          <a:p>
            <a:pPr marL="285750" indent="-285750" algn="just">
              <a:buFont typeface="Arial" panose="020B0604020202020204" pitchFamily="34" charset="0"/>
              <a:buChar char="•"/>
            </a:pPr>
            <a:r>
              <a:rPr lang="tr-TR" dirty="0"/>
              <a:t>Türkçede sözcüklerin vurgusu genellikle son hecededir. </a:t>
            </a:r>
          </a:p>
          <a:p>
            <a:pPr marL="285750" indent="-285750" algn="just">
              <a:buFont typeface="Arial" panose="020B0604020202020204" pitchFamily="34" charset="0"/>
              <a:buChar char="•"/>
            </a:pPr>
            <a:r>
              <a:rPr lang="tr-TR" dirty="0"/>
              <a:t>Örneğin; </a:t>
            </a:r>
            <a:r>
              <a:rPr lang="tr-TR" i="1" dirty="0" err="1"/>
              <a:t>DeNİZli</a:t>
            </a:r>
            <a:r>
              <a:rPr lang="tr-TR" i="1" dirty="0"/>
              <a:t>, </a:t>
            </a:r>
            <a:r>
              <a:rPr lang="tr-TR" i="1" dirty="0" err="1"/>
              <a:t>MaLATya</a:t>
            </a:r>
            <a:r>
              <a:rPr lang="tr-TR" i="1" dirty="0"/>
              <a:t>, </a:t>
            </a:r>
            <a:r>
              <a:rPr lang="tr-TR" i="1" dirty="0" err="1"/>
              <a:t>AnTALya</a:t>
            </a:r>
            <a:r>
              <a:rPr lang="tr-TR" dirty="0"/>
              <a:t> gibi.</a:t>
            </a:r>
          </a:p>
          <a:p>
            <a:pPr marL="285750" indent="-285750" algn="just">
              <a:buFont typeface="Arial" panose="020B0604020202020204" pitchFamily="34" charset="0"/>
              <a:buChar char="•"/>
            </a:pPr>
            <a:r>
              <a:rPr lang="tr-TR" dirty="0"/>
              <a:t>Cümle vurgusu, cümledeki ögelerden birinin diğerlerine göre daha yüksek tonda, daha baskılı söylenmesidir. Türkçede normal koşullarda cümle vurgusu yüklem üzerindedir. Ancak cümledeki yeni bilginin odağı olan sözcükler yükselen tonda seslendirilerek, yüklemin önünde kullanılarak, </a:t>
            </a:r>
            <a:r>
              <a:rPr lang="tr-TR" i="1" dirty="0"/>
              <a:t>soru eki, de bağlacı, yalnız edatı</a:t>
            </a:r>
            <a:r>
              <a:rPr lang="tr-TR" dirty="0"/>
              <a:t> gibi dil bilgisel unsurlardan yararlanarak vurgulanabilir. (Durmuş, 2015 s. 198).</a:t>
            </a:r>
          </a:p>
          <a:p>
            <a:pPr algn="just"/>
            <a:r>
              <a:rPr lang="tr-TR" b="1" dirty="0"/>
              <a:t>Durak/Duraklama</a:t>
            </a:r>
            <a:endParaRPr lang="tr-TR" dirty="0"/>
          </a:p>
          <a:p>
            <a:pPr marL="285750" indent="-285750" algn="just">
              <a:buFont typeface="Arial" panose="020B0604020202020204" pitchFamily="34" charset="0"/>
              <a:buChar char="•"/>
            </a:pPr>
            <a:r>
              <a:rPr lang="tr-TR" dirty="0"/>
              <a:t>Özellikle vurgulanan bir yargının, mesajın, yüksek tonlu ifadenin veya bir sorunun ardından gelen kısa süreli sessizliktir. Cümlenin anlamı, mesajın değeri, konuşmada durağın yerini ve süresini belirler. </a:t>
            </a:r>
          </a:p>
        </p:txBody>
      </p:sp>
    </p:spTree>
    <p:extLst>
      <p:ext uri="{BB962C8B-B14F-4D97-AF65-F5344CB8AC3E}">
        <p14:creationId xmlns:p14="http://schemas.microsoft.com/office/powerpoint/2010/main" xmlns="" val="2352517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19. Tını/Renk , Pes ve Tiz Ses </a:t>
            </a:r>
            <a:endParaRPr lang="tr-TR" sz="2800"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143000" y="1463040"/>
            <a:ext cx="6858000" cy="2480310"/>
          </a:xfrm>
        </p:spPr>
        <p:txBody>
          <a:bodyPr>
            <a:normAutofit lnSpcReduction="10000"/>
          </a:bodyPr>
          <a:lstStyle/>
          <a:p>
            <a:pPr marL="285750" indent="-285750" algn="just">
              <a:buFont typeface="Arial" panose="020B0604020202020204" pitchFamily="34" charset="0"/>
              <a:buChar char="•"/>
            </a:pPr>
            <a:r>
              <a:rPr lang="tr-TR" dirty="0"/>
              <a:t>Bir sesi başka seslerden ayırmamızı sağlayan fiziksel niteliğe tını ya da renk denir. </a:t>
            </a:r>
          </a:p>
          <a:p>
            <a:pPr algn="just"/>
            <a:r>
              <a:rPr lang="tr-TR" b="1" dirty="0"/>
              <a:t>Pes ve Tiz Ses</a:t>
            </a:r>
            <a:endParaRPr lang="tr-TR" dirty="0"/>
          </a:p>
          <a:p>
            <a:pPr algn="just"/>
            <a:r>
              <a:rPr lang="tr-TR" dirty="0"/>
              <a:t>Seslerin kulağa kalın veya ince, yavaş veya hızlı, alçak veya yüksek ulaşmasını ifade etmek için </a:t>
            </a:r>
            <a:r>
              <a:rPr lang="tr-TR" i="1" dirty="0"/>
              <a:t>pes</a:t>
            </a:r>
            <a:r>
              <a:rPr lang="tr-TR" dirty="0"/>
              <a:t> ve </a:t>
            </a:r>
            <a:r>
              <a:rPr lang="tr-TR" i="1" dirty="0"/>
              <a:t>tiz </a:t>
            </a:r>
            <a:r>
              <a:rPr lang="tr-TR" dirty="0"/>
              <a:t>terimleri kullanılır. Buna göre pes, kulağa kalın, yavaş, alçak gelen sesler için kullanılırken; tiz, kulağa ince, hızlı, yüksek gelen sesler için kullanılır. </a:t>
            </a:r>
          </a:p>
          <a:p>
            <a:pPr algn="just"/>
            <a:r>
              <a:rPr lang="tr-TR" dirty="0"/>
              <a:t>Pes ve Tiz Sesle İlgili Bilgilendirme Videosu</a:t>
            </a:r>
          </a:p>
          <a:p>
            <a:pPr algn="just"/>
            <a:r>
              <a:rPr lang="tr-TR" dirty="0">
                <a:hlinkClick r:id="rId3"/>
              </a:rPr>
              <a:t>https://www.youtube.com/watch?v=OqAvOLulMMk</a:t>
            </a:r>
            <a:r>
              <a:rPr lang="tr-TR" dirty="0"/>
              <a:t> </a:t>
            </a:r>
          </a:p>
          <a:p>
            <a:pPr marL="285750" indent="-285750" algn="just">
              <a:buFont typeface="Arial" panose="020B0604020202020204" pitchFamily="34" charset="0"/>
              <a:buChar char="•"/>
            </a:pPr>
            <a:endParaRPr lang="tr-TR" dirty="0"/>
          </a:p>
          <a:p>
            <a:endParaRPr lang="tr-TR" dirty="0"/>
          </a:p>
        </p:txBody>
      </p:sp>
    </p:spTree>
    <p:extLst>
      <p:ext uri="{BB962C8B-B14F-4D97-AF65-F5344CB8AC3E}">
        <p14:creationId xmlns:p14="http://schemas.microsoft.com/office/powerpoint/2010/main" xmlns="" val="380618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20. Doğru, Güzel, İyi Bir Sesin Sahip Olması Gereken Temel Fiziksel Özellikler</a:t>
            </a:r>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143000" y="1463040"/>
            <a:ext cx="6858000" cy="3279648"/>
          </a:xfrm>
        </p:spPr>
        <p:txBody>
          <a:bodyPr>
            <a:normAutofit fontScale="85000" lnSpcReduction="20000"/>
          </a:bodyPr>
          <a:lstStyle/>
          <a:p>
            <a:pPr marL="285750" indent="-285750" algn="just">
              <a:buFont typeface="Arial" panose="020B0604020202020204" pitchFamily="34" charset="0"/>
              <a:buChar char="•"/>
            </a:pPr>
            <a:r>
              <a:rPr lang="tr-TR" b="1" dirty="0" err="1"/>
              <a:t>İşitilebilirlik</a:t>
            </a:r>
            <a:r>
              <a:rPr lang="tr-TR" b="1" dirty="0"/>
              <a:t>:</a:t>
            </a:r>
            <a:r>
              <a:rPr lang="tr-TR" dirty="0"/>
              <a:t> Konuşmanın sıklığı, tonu, </a:t>
            </a:r>
            <a:r>
              <a:rPr lang="tr-TR" dirty="0" err="1"/>
              <a:t>yeğinliği</a:t>
            </a:r>
            <a:r>
              <a:rPr lang="tr-TR" dirty="0"/>
              <a:t> ve tınısı dinleyicinin rahatça işitebileceği nitelikte olmalıdır. </a:t>
            </a:r>
          </a:p>
          <a:p>
            <a:pPr marL="285750" lvl="0" indent="-285750" algn="just">
              <a:buFont typeface="Arial" panose="020B0604020202020204" pitchFamily="34" charset="0"/>
              <a:buChar char="•"/>
            </a:pPr>
            <a:r>
              <a:rPr lang="tr-TR" b="1" dirty="0"/>
              <a:t>Esneklik:</a:t>
            </a:r>
            <a:r>
              <a:rPr lang="tr-TR" dirty="0"/>
              <a:t> Esneklik, ses hacminin değişikliğe bağlı olan ses tonunu ya da perde değişikliğini ifade eder. Konuşmayı aynı tonda, tekdüze olmaktan çıkaran unsurlardan biri, ses hacminin ve perdelerinin karışık olarak kullanılmasıdır (Vural, 2003: 99).</a:t>
            </a:r>
          </a:p>
          <a:p>
            <a:pPr marL="285750" indent="-285750" algn="just">
              <a:buFont typeface="Arial" panose="020B0604020202020204" pitchFamily="34" charset="0"/>
              <a:buChar char="•"/>
            </a:pPr>
            <a:r>
              <a:rPr lang="tr-TR" b="1" dirty="0"/>
              <a:t>Akıcılık: </a:t>
            </a:r>
            <a:r>
              <a:rPr lang="tr-TR" dirty="0"/>
              <a:t>Konuşma sırasında sesin </a:t>
            </a:r>
            <a:r>
              <a:rPr lang="tr-TR" dirty="0" err="1"/>
              <a:t>boğumlanarak</a:t>
            </a:r>
            <a:r>
              <a:rPr lang="tr-TR" dirty="0"/>
              <a:t> sözcüklere dönüştürülmesi ve boğumlanma hızı, iletilmek istenen mesajın hedefe en doğru şekilde ulaşması için iyi ayarlanmalıdır. </a:t>
            </a:r>
          </a:p>
          <a:p>
            <a:pPr marL="285750" indent="-285750" algn="just">
              <a:buFont typeface="Arial" panose="020B0604020202020204" pitchFamily="34" charset="0"/>
              <a:buChar char="•"/>
            </a:pPr>
            <a:r>
              <a:rPr lang="tr-TR" b="1" dirty="0" err="1"/>
              <a:t>Hoşagiderlik</a:t>
            </a:r>
            <a:r>
              <a:rPr lang="tr-TR" b="1" dirty="0"/>
              <a:t>: </a:t>
            </a:r>
            <a:r>
              <a:rPr lang="tr-TR" dirty="0"/>
              <a:t>Kişi doğru, güzel ve etkili iletişim kurabilmek için ses aralığını, perde genişliğini tonlamayla sesine katabileceği tınıları, ifadesine katabileceği ezgileri, sözcükleri söyleyiş hızını öncelikle tanımalı, ardından da doğru şekillerde bunlardan yararlanmalıdır</a:t>
            </a:r>
            <a:r>
              <a:rPr lang="tr-TR" b="1" dirty="0"/>
              <a:t>. </a:t>
            </a:r>
            <a:endParaRPr lang="tr-TR" dirty="0"/>
          </a:p>
          <a:p>
            <a:pPr marL="285750" lvl="0" indent="-285750">
              <a:buFont typeface="Arial" panose="020B0604020202020204" pitchFamily="34" charset="0"/>
              <a:buChar char="•"/>
            </a:pPr>
            <a:endParaRPr lang="tr-TR" dirty="0"/>
          </a:p>
          <a:p>
            <a:pPr lvl="0"/>
            <a:r>
              <a:rPr lang="tr-TR" dirty="0"/>
              <a:t> </a:t>
            </a:r>
          </a:p>
        </p:txBody>
      </p:sp>
    </p:spTree>
    <p:extLst>
      <p:ext uri="{BB962C8B-B14F-4D97-AF65-F5344CB8AC3E}">
        <p14:creationId xmlns:p14="http://schemas.microsoft.com/office/powerpoint/2010/main" xmlns="" val="919189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21. Doğru, Güzel ve Etkili Konuşmanın Temel İlkeleri</a:t>
            </a:r>
            <a:endParaRPr lang="tr-TR" sz="2800"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4" y="849219"/>
            <a:ext cx="9144004" cy="3710081"/>
          </a:xfrm>
        </p:spPr>
        <p:txBody>
          <a:bodyPr>
            <a:normAutofit fontScale="77500" lnSpcReduction="20000"/>
          </a:bodyPr>
          <a:lstStyle/>
          <a:p>
            <a:r>
              <a:rPr lang="tr-TR" dirty="0"/>
              <a:t> </a:t>
            </a:r>
          </a:p>
          <a:p>
            <a:pPr algn="just"/>
            <a:r>
              <a:rPr lang="tr-TR" dirty="0"/>
              <a:t>Konuşmanın temel unsurları olarak ele alınan başlık, sesin fizyolojik niteliği ve niceliğine yönelik bilgileri içermektedir (Durmuş, 2015 s. 199):  </a:t>
            </a:r>
          </a:p>
          <a:p>
            <a:pPr marL="285750" indent="-285750" algn="just">
              <a:buFont typeface="Arial" panose="020B0604020202020204" pitchFamily="34" charset="0"/>
              <a:buChar char="•"/>
            </a:pPr>
            <a:r>
              <a:rPr lang="tr-TR" b="1" dirty="0"/>
              <a:t>Açıklık: </a:t>
            </a:r>
            <a:r>
              <a:rPr lang="tr-TR" dirty="0"/>
              <a:t>Açıklık, konuşmanın hem fizyolojik hem de psikolojik yönüyle ilgilidir. Sesleri doğru çıkarmak, doğru </a:t>
            </a:r>
            <a:r>
              <a:rPr lang="tr-TR" dirty="0" err="1"/>
              <a:t>boğumlamak</a:t>
            </a:r>
            <a:r>
              <a:rPr lang="tr-TR" dirty="0"/>
              <a:t>, iletilmek istenen mesaja göre doğru vurguyu kullanmak açık konuşmanın fizyolojik yönü ile ilgilidir.  </a:t>
            </a:r>
          </a:p>
          <a:p>
            <a:pPr marL="285750" indent="-285750" algn="just">
              <a:buFont typeface="Arial" panose="020B0604020202020204" pitchFamily="34" charset="0"/>
              <a:buChar char="•"/>
            </a:pPr>
            <a:r>
              <a:rPr lang="tr-TR" b="1" dirty="0" err="1"/>
              <a:t>Doğalllık</a:t>
            </a:r>
            <a:r>
              <a:rPr lang="tr-TR" b="1" dirty="0"/>
              <a:t>: </a:t>
            </a:r>
            <a:r>
              <a:rPr lang="tr-TR" dirty="0"/>
              <a:t>Doğallık, konuşmacının inandırıcılığı bakımından oldukça önemlidir. İçten olmayı gerektiren doğallık, konuşmacının yapmacık sözcük tercihleri ve vurgulara başvurmadan iletmek istediği mesajı karşısındaki ulaştırma çabasıdır. </a:t>
            </a:r>
          </a:p>
          <a:p>
            <a:pPr marL="285750" indent="-285750" algn="just">
              <a:buFont typeface="Arial" panose="020B0604020202020204" pitchFamily="34" charset="0"/>
              <a:buChar char="•"/>
            </a:pPr>
            <a:r>
              <a:rPr lang="tr-TR" b="1" dirty="0"/>
              <a:t>İnandırıcılık: </a:t>
            </a:r>
            <a:r>
              <a:rPr lang="tr-TR" dirty="0"/>
              <a:t>Konuşmacının ortaya koyacağı fikirlerin inandırıcı bulunabilmesi için bu fikirlere öncelikle konuşmacı inanmalıdır. </a:t>
            </a:r>
          </a:p>
          <a:p>
            <a:pPr marL="285750" indent="-285750" algn="just">
              <a:buFont typeface="Arial" panose="020B0604020202020204" pitchFamily="34" charset="0"/>
              <a:buChar char="•"/>
            </a:pPr>
            <a:r>
              <a:rPr lang="tr-TR" b="1" dirty="0"/>
              <a:t>İlginçlik: </a:t>
            </a:r>
            <a:r>
              <a:rPr lang="tr-TR" dirty="0"/>
              <a:t>Konuşmacının üzerinde konuştuğu konu her zaman ilgi çekici değildir. </a:t>
            </a:r>
          </a:p>
          <a:p>
            <a:pPr marL="285750" indent="-285750" algn="just">
              <a:buFont typeface="Arial" panose="020B0604020202020204" pitchFamily="34" charset="0"/>
              <a:buChar char="•"/>
            </a:pPr>
            <a:r>
              <a:rPr lang="tr-TR" b="1" dirty="0"/>
              <a:t>Konuşmacının Bilgi ve Donanımı: </a:t>
            </a:r>
            <a:r>
              <a:rPr lang="tr-TR" dirty="0"/>
              <a:t>Bir konu üzerinde konuşabilmek için konuşmacının o konuya dair yeterli düzeyde bilgi ve birikime sahip olması gerekir. </a:t>
            </a:r>
          </a:p>
          <a:p>
            <a:pPr marL="285750" indent="-285750" algn="just">
              <a:buFont typeface="Arial" panose="020B0604020202020204" pitchFamily="34" charset="0"/>
              <a:buChar char="•"/>
            </a:pPr>
            <a:r>
              <a:rPr lang="tr-TR" b="1" dirty="0"/>
              <a:t>Ön Çalışma: </a:t>
            </a:r>
            <a:r>
              <a:rPr lang="tr-TR" dirty="0"/>
              <a:t>Başarılı bir konuşma için temel kriterlerden biri de konuşma öncesi yapılan hazırlıktır. Konuyu sınırlandırma, gerekli yerlerin üzerinde durma, belli bir akış ile konuşmayı sürdürme, doğru yerlerde örnekler verme iyi bir konuşma öncesi yapılması gereken hazırlıklar arasındadır. </a:t>
            </a:r>
          </a:p>
          <a:p>
            <a:pPr marL="285750" indent="-285750" algn="just">
              <a:buFont typeface="Arial" panose="020B0604020202020204" pitchFamily="34" charset="0"/>
              <a:buChar char="•"/>
            </a:pPr>
            <a:r>
              <a:rPr lang="tr-TR" b="1" dirty="0"/>
              <a:t>Yöntem ve Plan: </a:t>
            </a:r>
            <a:r>
              <a:rPr lang="tr-TR" dirty="0"/>
              <a:t>Hazırlıklı konuşmalarda hedef kitlenin niteliklerine, süreye, konuşmada yararlanılacak araçlara göre içerik mantıksal bir düzende hazırlanmalı, örnekler, konuşmayı etkili kılacak teknikler doğru yerlerde kullanılmalıdır. </a:t>
            </a:r>
          </a:p>
        </p:txBody>
      </p:sp>
    </p:spTree>
    <p:extLst>
      <p:ext uri="{BB962C8B-B14F-4D97-AF65-F5344CB8AC3E}">
        <p14:creationId xmlns:p14="http://schemas.microsoft.com/office/powerpoint/2010/main" xmlns="" val="788117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22. Konuşma Türleri</a:t>
            </a:r>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143000" y="849219"/>
            <a:ext cx="6858000" cy="4135520"/>
          </a:xfrm>
        </p:spPr>
        <p:txBody>
          <a:bodyPr>
            <a:normAutofit/>
          </a:bodyPr>
          <a:lstStyle/>
          <a:p>
            <a:r>
              <a:rPr lang="tr-TR" b="1" dirty="0"/>
              <a:t> </a:t>
            </a:r>
            <a:endParaRPr lang="tr-TR" dirty="0"/>
          </a:p>
          <a:p>
            <a:pPr algn="just"/>
            <a:r>
              <a:rPr lang="tr-TR" dirty="0"/>
              <a:t>Konuşmayı kendi içinde hazırlıklı ve hazırlıksız olmak üzere ikiye ayırıyoruz.</a:t>
            </a:r>
          </a:p>
          <a:p>
            <a:pPr algn="just"/>
            <a:r>
              <a:rPr lang="tr-TR" dirty="0"/>
              <a:t> </a:t>
            </a:r>
            <a:r>
              <a:rPr lang="tr-TR" b="1" dirty="0"/>
              <a:t>Hazırlıksız Konuşmalar/Günlük Konuşmalar: </a:t>
            </a:r>
            <a:r>
              <a:rPr lang="tr-TR" dirty="0"/>
              <a:t>Günlük yaşamımızda diyaloglara konu olan belirli planlamaya, araştırmaya, düzenlemeye ihtiyaç olmayan konuşmalardır. Bu konuşmalar aile bireyleri, iş ve okul arkadaşları, sosyal yaşamda her yerde görülebilir. </a:t>
            </a:r>
          </a:p>
          <a:p>
            <a:pPr algn="just"/>
            <a:r>
              <a:rPr lang="tr-TR" dirty="0"/>
              <a:t> </a:t>
            </a:r>
          </a:p>
          <a:p>
            <a:endParaRPr lang="tr-TR" dirty="0"/>
          </a:p>
        </p:txBody>
      </p:sp>
    </p:spTree>
    <p:extLst>
      <p:ext uri="{BB962C8B-B14F-4D97-AF65-F5344CB8AC3E}">
        <p14:creationId xmlns:p14="http://schemas.microsoft.com/office/powerpoint/2010/main" xmlns="" val="4173255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23. Dikkat Edilmesi Gereken Bazı Kurallar</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143000" y="849219"/>
            <a:ext cx="6858000" cy="4135520"/>
          </a:xfrm>
        </p:spPr>
        <p:txBody>
          <a:bodyPr>
            <a:normAutofit lnSpcReduction="10000"/>
          </a:bodyPr>
          <a:lstStyle/>
          <a:p>
            <a:pPr marL="285750" indent="-285750" algn="just">
              <a:buFont typeface="Arial" panose="020B0604020202020204" pitchFamily="34" charset="0"/>
              <a:buChar char="•"/>
            </a:pPr>
            <a:r>
              <a:rPr lang="tr-TR" dirty="0"/>
              <a:t>Sözlü iletişimin her aşamasında içten olunmalıdır. </a:t>
            </a:r>
          </a:p>
          <a:p>
            <a:pPr marL="285750" lvl="0" indent="-285750" algn="just">
              <a:buFont typeface="Arial" panose="020B0604020202020204" pitchFamily="34" charset="0"/>
              <a:buChar char="•"/>
            </a:pPr>
            <a:r>
              <a:rPr lang="tr-TR" dirty="0"/>
              <a:t>Konuşma sırasında diğer bireyleri küçümseyen söz ve davranışlardan kaçınılmalıdır. </a:t>
            </a:r>
          </a:p>
          <a:p>
            <a:pPr marL="285750" lvl="0" indent="-285750" algn="just">
              <a:buFont typeface="Arial" panose="020B0604020202020204" pitchFamily="34" charset="0"/>
              <a:buChar char="•"/>
            </a:pPr>
            <a:r>
              <a:rPr lang="tr-TR" dirty="0"/>
              <a:t>Bireylerin övgüye ve kutlamaya değer meziyetleri ortaya konulmalıdır. </a:t>
            </a:r>
          </a:p>
          <a:p>
            <a:pPr marL="285750" lvl="0" indent="-285750" algn="just">
              <a:buFont typeface="Arial" panose="020B0604020202020204" pitchFamily="34" charset="0"/>
              <a:buChar char="•"/>
            </a:pPr>
            <a:r>
              <a:rPr lang="tr-TR" dirty="0"/>
              <a:t>Konuşma sırasında diğer bireylerin yaşı, statüsü, cinsiyeti, durumu ve şartları gözetilmelidir. </a:t>
            </a:r>
          </a:p>
          <a:p>
            <a:pPr marL="285750" lvl="0" indent="-285750" algn="just">
              <a:buFont typeface="Arial" panose="020B0604020202020204" pitchFamily="34" charset="0"/>
              <a:buChar char="•"/>
            </a:pPr>
            <a:r>
              <a:rPr lang="tr-TR" dirty="0"/>
              <a:t>Konuşma sırasında diğer bireyleri ikna etmeye çalışan, belli bir düşünceye katılmaya zorlayan üstünlük veya baskı kurmaya çalışan söz, tavır ve davranışlardan uzak durulmalıdır.</a:t>
            </a:r>
          </a:p>
          <a:p>
            <a:pPr marL="285750" lvl="0" indent="-285750" algn="just">
              <a:buFont typeface="Arial" panose="020B0604020202020204" pitchFamily="34" charset="0"/>
              <a:buChar char="•"/>
            </a:pPr>
            <a:r>
              <a:rPr lang="tr-TR" dirty="0"/>
              <a:t>Diğer bireylerin hatalarını gözeten ve her fırsatta dile getiren, sürekli uyarıda bulunan söz ve davranışlardan kaçınılmalıdır. </a:t>
            </a:r>
          </a:p>
          <a:p>
            <a:pPr marL="285750" lvl="0" indent="-285750" algn="just">
              <a:buFont typeface="Arial" panose="020B0604020202020204" pitchFamily="34" charset="0"/>
              <a:buChar char="•"/>
            </a:pPr>
            <a:r>
              <a:rPr lang="tr-TR" dirty="0"/>
              <a:t>Karşılıklı iletişimde konuşma hakkına saygı duyulmalı, bu çerçevede gereğinden fazla konuşulmamalı, konuşan kişinin sözleri saygı ve dikkatle dinlenmelidir. </a:t>
            </a:r>
          </a:p>
        </p:txBody>
      </p:sp>
    </p:spTree>
    <p:extLst>
      <p:ext uri="{BB962C8B-B14F-4D97-AF65-F5344CB8AC3E}">
        <p14:creationId xmlns:p14="http://schemas.microsoft.com/office/powerpoint/2010/main" xmlns="" val="804025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24. Yukarıdaki maddelere şunlar da eklenebilir:</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01600" y="975359"/>
            <a:ext cx="4470400" cy="4009379"/>
          </a:xfrm>
        </p:spPr>
        <p:txBody>
          <a:bodyPr>
            <a:normAutofit lnSpcReduction="10000"/>
          </a:bodyPr>
          <a:lstStyle/>
          <a:p>
            <a:pPr marL="285750" lvl="0" indent="-285750" algn="just">
              <a:buFont typeface="Arial" panose="020B0604020202020204" pitchFamily="34" charset="0"/>
              <a:buChar char="•"/>
            </a:pPr>
            <a:r>
              <a:rPr lang="tr-TR" dirty="0"/>
              <a:t>Konuşma sırasında sadece soru sormaya odaklanılmamalıdır. </a:t>
            </a:r>
          </a:p>
          <a:p>
            <a:pPr marL="285750" lvl="0" indent="-285750" algn="just">
              <a:buFont typeface="Arial" panose="020B0604020202020204" pitchFamily="34" charset="0"/>
              <a:buChar char="•"/>
            </a:pPr>
            <a:r>
              <a:rPr lang="tr-TR" dirty="0"/>
              <a:t>İletişim kurarken bağlam ve ortamın dikkate alınması iletişim sürecinin kalitesini, etkililiğini belirlemede gerekli ve önemlidir.</a:t>
            </a:r>
          </a:p>
          <a:p>
            <a:pPr marL="285750" lvl="0" indent="-285750" algn="just">
              <a:buFont typeface="Arial" panose="020B0604020202020204" pitchFamily="34" charset="0"/>
              <a:buChar char="•"/>
            </a:pPr>
            <a:r>
              <a:rPr lang="tr-TR" dirty="0"/>
              <a:t>Karşılıklı etkileşimde etkin dinleme, iletişim sürecinin kalitesini belirleyici faktörlerin başında gelmektedir.</a:t>
            </a:r>
          </a:p>
          <a:p>
            <a:pPr marL="285750" lvl="0" indent="-285750" algn="just">
              <a:buFont typeface="Arial" panose="020B0604020202020204" pitchFamily="34" charset="0"/>
              <a:buChar char="•"/>
            </a:pPr>
            <a:r>
              <a:rPr lang="tr-TR" dirty="0"/>
              <a:t>Konuşmanın yapıldığı ortam göz önünde bulundurularak konuşulmalı, çok yüksek sesle konuşulmamalı ya da kahkaha atılmamalıdır. </a:t>
            </a:r>
          </a:p>
          <a:p>
            <a:pPr marL="285750" lvl="0" indent="-285750" algn="just">
              <a:buFont typeface="Arial" panose="020B0604020202020204" pitchFamily="34" charset="0"/>
              <a:buChar char="•"/>
            </a:pPr>
            <a:r>
              <a:rPr lang="tr-TR" dirty="0"/>
              <a:t>Konuşma ya da karşılıklı iletişimde beden dili kullanımı da son derece önemlidir. </a:t>
            </a:r>
          </a:p>
        </p:txBody>
      </p:sp>
      <p:pic>
        <p:nvPicPr>
          <p:cNvPr id="10242" name="Picture 2" descr="çalışma alanı, gülümsemek, iç mekan içeren Ücretsiz stok fotoğraf">
            <a:extLst>
              <a:ext uri="{FF2B5EF4-FFF2-40B4-BE49-F238E27FC236}">
                <a16:creationId xmlns:a16="http://schemas.microsoft.com/office/drawing/2014/main" xmlns="" id="{DE41B587-FAF8-D14A-AF4B-60A9EA9D4DFA}"/>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023937" y="1350264"/>
            <a:ext cx="3668126" cy="244297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069757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25. Telefonla Konuşma</a:t>
            </a:r>
            <a:endParaRPr lang="tr-TR" sz="2800"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143000" y="849219"/>
            <a:ext cx="6858000" cy="4135520"/>
          </a:xfrm>
        </p:spPr>
        <p:txBody>
          <a:bodyPr>
            <a:normAutofit/>
          </a:bodyPr>
          <a:lstStyle/>
          <a:p>
            <a:r>
              <a:rPr lang="tr-TR" b="1" dirty="0"/>
              <a:t> </a:t>
            </a:r>
            <a:endParaRPr lang="tr-TR" dirty="0"/>
          </a:p>
          <a:p>
            <a:pPr marL="285750" lvl="0" indent="-285750" algn="just">
              <a:buFont typeface="Arial" panose="020B0604020202020204" pitchFamily="34" charset="0"/>
              <a:buChar char="•"/>
            </a:pPr>
            <a:r>
              <a:rPr lang="tr-TR" dirty="0"/>
              <a:t>Telefon görüşmelerinde öncelikle konuşmaya uygun fiziksel koşullar gözetilmelidir. </a:t>
            </a:r>
          </a:p>
          <a:p>
            <a:pPr marL="285750" lvl="0" indent="-285750" algn="just">
              <a:buFont typeface="Arial" panose="020B0604020202020204" pitchFamily="34" charset="0"/>
              <a:buChar char="•"/>
            </a:pPr>
            <a:r>
              <a:rPr lang="tr-TR" dirty="0"/>
              <a:t>Arama yapan kişi doğru kişi ile görüştüğünden emin olmak için selamlama ve kendisini tanıtmadan sonra doğru kişi ile görüştüğünü sormalı, sonrasında konuşulmak istenen konu görüşülmelidir. </a:t>
            </a:r>
          </a:p>
          <a:p>
            <a:pPr marL="285750" lvl="0" indent="-285750" algn="just">
              <a:buFont typeface="Arial" panose="020B0604020202020204" pitchFamily="34" charset="0"/>
              <a:buChar char="•"/>
            </a:pPr>
            <a:r>
              <a:rPr lang="tr-TR" dirty="0"/>
              <a:t>Konuşma gereğinden fazla uzatılmamalıdır. </a:t>
            </a:r>
          </a:p>
          <a:p>
            <a:pPr marL="285750" lvl="0" indent="-285750" algn="just">
              <a:buFont typeface="Arial" panose="020B0604020202020204" pitchFamily="34" charset="0"/>
              <a:buChar char="•"/>
            </a:pPr>
            <a:r>
              <a:rPr lang="tr-TR" dirty="0"/>
              <a:t>Görüşme sırasında ihtiyaç duyulabilecek araçlar önceden hazırlanmalıdır.</a:t>
            </a:r>
          </a:p>
          <a:p>
            <a:pPr marL="285750" lvl="0" indent="-285750" algn="just">
              <a:buFont typeface="Arial" panose="020B0604020202020204" pitchFamily="34" charset="0"/>
              <a:buChar char="•"/>
            </a:pPr>
            <a:r>
              <a:rPr lang="tr-TR" dirty="0"/>
              <a:t>Telefon görüşmesinin sonunda uygun vedalaşma ifadeleri kullanılarak görüşme sonlandırılır. </a:t>
            </a:r>
          </a:p>
          <a:p>
            <a:endParaRPr lang="tr-TR" dirty="0"/>
          </a:p>
        </p:txBody>
      </p:sp>
    </p:spTree>
    <p:extLst>
      <p:ext uri="{BB962C8B-B14F-4D97-AF65-F5344CB8AC3E}">
        <p14:creationId xmlns:p14="http://schemas.microsoft.com/office/powerpoint/2010/main" xmlns="" val="3365510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26. Telefonla Konuşma</a:t>
            </a:r>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85344" y="849219"/>
            <a:ext cx="4937760" cy="4135520"/>
          </a:xfrm>
        </p:spPr>
        <p:txBody>
          <a:bodyPr>
            <a:normAutofit fontScale="92500" lnSpcReduction="10000"/>
          </a:bodyPr>
          <a:lstStyle/>
          <a:p>
            <a:pPr marL="285750" lvl="0" indent="-285750" algn="just">
              <a:buFont typeface="Arial" panose="020B0604020202020204" pitchFamily="34" charset="0"/>
              <a:buChar char="•"/>
            </a:pPr>
            <a:r>
              <a:rPr lang="tr-TR" dirty="0"/>
              <a:t>İş görüşmeleri </a:t>
            </a:r>
            <a:r>
              <a:rPr lang="tr-TR" dirty="0" err="1"/>
              <a:t>aciliyet</a:t>
            </a:r>
            <a:r>
              <a:rPr lang="tr-TR" dirty="0"/>
              <a:t> taşımıyorsa mesai saatleri dışında yapılmamalıdır. </a:t>
            </a:r>
          </a:p>
          <a:p>
            <a:pPr marL="285750" lvl="0" indent="-285750" algn="just">
              <a:buFont typeface="Arial" panose="020B0604020202020204" pitchFamily="34" charset="0"/>
              <a:buChar char="•"/>
            </a:pPr>
            <a:r>
              <a:rPr lang="tr-TR" dirty="0"/>
              <a:t>Aramalar üst üste yapılmamalıdır. Aranılan kişilerin telefona cevap vermeme haklarının bulunduğu unutulmamalıdır.  </a:t>
            </a:r>
          </a:p>
          <a:p>
            <a:pPr marL="285750" lvl="0" indent="-285750" algn="just">
              <a:buFont typeface="Arial" panose="020B0604020202020204" pitchFamily="34" charset="0"/>
              <a:buChar char="•"/>
            </a:pPr>
            <a:r>
              <a:rPr lang="tr-TR" dirty="0"/>
              <a:t>İlerleyen saatlerde </a:t>
            </a:r>
            <a:r>
              <a:rPr lang="tr-TR" dirty="0" err="1"/>
              <a:t>aciliyet</a:t>
            </a:r>
            <a:r>
              <a:rPr lang="tr-TR" dirty="0"/>
              <a:t> durumu yoksa arama yapılmamalıdır. </a:t>
            </a:r>
          </a:p>
          <a:p>
            <a:pPr marL="285750" lvl="0" indent="-285750" algn="just">
              <a:buFont typeface="Arial" panose="020B0604020202020204" pitchFamily="34" charset="0"/>
              <a:buChar char="•"/>
            </a:pPr>
            <a:r>
              <a:rPr lang="tr-TR" dirty="0"/>
              <a:t>Toplu mesaj gruplarında konu kapsamı dışında gereksiz paylaşımlar yapılmamalı, bireysel çözümlenebilecek soru(n)</a:t>
            </a:r>
            <a:r>
              <a:rPr lang="tr-TR" dirty="0" err="1"/>
              <a:t>lar</a:t>
            </a:r>
            <a:r>
              <a:rPr lang="tr-TR" dirty="0"/>
              <a:t> ortak gruplara yazılmamalıdır. </a:t>
            </a:r>
          </a:p>
          <a:p>
            <a:pPr marL="285750" lvl="0" indent="-285750" algn="just">
              <a:buFont typeface="Arial" panose="020B0604020202020204" pitchFamily="34" charset="0"/>
              <a:buChar char="•"/>
            </a:pPr>
            <a:r>
              <a:rPr lang="tr-TR" dirty="0"/>
              <a:t>Ortak mesajlaşma gruplarında sabah erken saatlerde ve gece saatlerinde mesaj yazılmamalıdır. </a:t>
            </a:r>
          </a:p>
          <a:p>
            <a:pPr marL="285750" lvl="0" indent="-285750" algn="just">
              <a:buFont typeface="Arial" panose="020B0604020202020204" pitchFamily="34" charset="0"/>
              <a:buChar char="•"/>
            </a:pPr>
            <a:r>
              <a:rPr lang="tr-TR" dirty="0"/>
              <a:t>Ortak mesajlaşma grupları genellikle toplu duyuru ve bilgilendirmelerin yapılması için kurulur. Bireysel tartışmalar, gereksiz yazışmalar bu tür gruplarda yapılmamalıdır. </a:t>
            </a:r>
          </a:p>
          <a:p>
            <a:endParaRPr lang="tr-TR" dirty="0"/>
          </a:p>
        </p:txBody>
      </p:sp>
      <p:sp>
        <p:nvSpPr>
          <p:cNvPr id="2" name="Metin kutusu 1">
            <a:extLst>
              <a:ext uri="{FF2B5EF4-FFF2-40B4-BE49-F238E27FC236}">
                <a16:creationId xmlns:a16="http://schemas.microsoft.com/office/drawing/2014/main" xmlns="" id="{C29AB0F3-ECE1-5548-AEBD-B633EB768D40}"/>
              </a:ext>
            </a:extLst>
          </p:cNvPr>
          <p:cNvSpPr txBox="1"/>
          <p:nvPr/>
        </p:nvSpPr>
        <p:spPr>
          <a:xfrm>
            <a:off x="8914454" y="1552107"/>
            <a:ext cx="144201" cy="223596"/>
          </a:xfrm>
          <a:prstGeom prst="rect">
            <a:avLst/>
          </a:prstGeom>
          <a:noFill/>
        </p:spPr>
        <p:txBody>
          <a:bodyPr wrap="square" rtlCol="0">
            <a:spAutoFit/>
          </a:bodyPr>
          <a:lstStyle/>
          <a:p>
            <a:endParaRPr lang="tr-TR" dirty="0"/>
          </a:p>
        </p:txBody>
      </p:sp>
      <p:pic>
        <p:nvPicPr>
          <p:cNvPr id="9218" name="Picture 2" descr="person holding blue light in dark room">
            <a:extLst>
              <a:ext uri="{FF2B5EF4-FFF2-40B4-BE49-F238E27FC236}">
                <a16:creationId xmlns:a16="http://schemas.microsoft.com/office/drawing/2014/main" xmlns="" id="{FB48F932-D277-5849-B085-03277E1BE382}"/>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827776" y="781786"/>
            <a:ext cx="2674052" cy="399443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12389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27. HAZIRLIKLI KONUŞMALAR/ TOPLULUK KONUŞMALARI</a:t>
            </a:r>
            <a:endParaRPr lang="tr-TR" sz="2800"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265176" y="928732"/>
            <a:ext cx="3735326" cy="4135520"/>
          </a:xfrm>
        </p:spPr>
        <p:txBody>
          <a:bodyPr>
            <a:normAutofit/>
          </a:bodyPr>
          <a:lstStyle/>
          <a:p>
            <a:r>
              <a:rPr lang="tr-TR" b="1" dirty="0"/>
              <a:t> </a:t>
            </a:r>
            <a:endParaRPr lang="tr-TR" dirty="0"/>
          </a:p>
          <a:p>
            <a:pPr algn="just"/>
            <a:r>
              <a:rPr lang="tr-TR" dirty="0"/>
              <a:t>Hazırlıklı konuşmalar bir topluluk önünde yapılan konuşmalardır. </a:t>
            </a:r>
          </a:p>
          <a:p>
            <a:pPr algn="just"/>
            <a:r>
              <a:rPr lang="tr-TR" b="1" dirty="0"/>
              <a:t>Nutuk/Söylev</a:t>
            </a:r>
            <a:r>
              <a:rPr lang="tr-TR" dirty="0"/>
              <a:t> : Bir düşünceyi, bir fikri belli bir topluluğa açıklamak amacıyla yapılan konuşmadır. </a:t>
            </a:r>
          </a:p>
          <a:p>
            <a:pPr algn="just"/>
            <a:r>
              <a:rPr lang="tr-TR" b="1" dirty="0"/>
              <a:t>Konferans: </a:t>
            </a:r>
            <a:r>
              <a:rPr lang="tr-TR" dirty="0"/>
              <a:t>Uzmanlık gerektiren ve ilgili bir topluluk karşısında yapılan konuşmalardır. </a:t>
            </a:r>
          </a:p>
          <a:p>
            <a:pPr algn="just"/>
            <a:r>
              <a:rPr lang="tr-TR" b="1" dirty="0"/>
              <a:t>Açış/Açılış Konuşması : </a:t>
            </a:r>
            <a:r>
              <a:rPr lang="tr-TR" dirty="0"/>
              <a:t>Açılış konuşması daha önce duyurulan başta bilimsel, sanat etkinlikleri olmak üzere düzenlenen toplu etkinliklerin başlaması için yapılan konuşmadır. </a:t>
            </a:r>
          </a:p>
          <a:p>
            <a:pPr algn="just"/>
            <a:endParaRPr lang="tr-TR" dirty="0"/>
          </a:p>
        </p:txBody>
      </p:sp>
      <p:pic>
        <p:nvPicPr>
          <p:cNvPr id="8194" name="Picture 2" descr="Toplantı, Konferans, Genel Kurul, Grup">
            <a:extLst>
              <a:ext uri="{FF2B5EF4-FFF2-40B4-BE49-F238E27FC236}">
                <a16:creationId xmlns:a16="http://schemas.microsoft.com/office/drawing/2014/main" xmlns="" id="{96067B83-FBE3-3149-8E7B-FCAF1C50E853}"/>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779264" y="849219"/>
            <a:ext cx="3585972" cy="388153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922048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355600" y="849219"/>
            <a:ext cx="3289808" cy="4135520"/>
          </a:xfrm>
        </p:spPr>
        <p:txBody>
          <a:bodyPr>
            <a:normAutofit lnSpcReduction="10000"/>
          </a:bodyPr>
          <a:lstStyle/>
          <a:p>
            <a:pPr algn="just"/>
            <a:r>
              <a:rPr lang="tr-TR" b="1" dirty="0"/>
              <a:t>Açık Oturum</a:t>
            </a:r>
            <a:endParaRPr lang="tr-TR" dirty="0"/>
          </a:p>
          <a:p>
            <a:pPr algn="just"/>
            <a:r>
              <a:rPr lang="tr-TR" dirty="0"/>
              <a:t>Genellikle toplumu ilgilendiren konularda önceden belirlenmiş bir konu ve uzman konuklar eşliğinde yapılan konuşmalardır. </a:t>
            </a:r>
          </a:p>
          <a:p>
            <a:pPr algn="just"/>
            <a:endParaRPr lang="tr-TR" dirty="0"/>
          </a:p>
          <a:p>
            <a:pPr algn="just"/>
            <a:r>
              <a:rPr lang="tr-TR" b="1" dirty="0"/>
              <a:t>Panel</a:t>
            </a:r>
            <a:endParaRPr lang="tr-TR" dirty="0"/>
          </a:p>
          <a:p>
            <a:pPr algn="just"/>
            <a:r>
              <a:rPr lang="tr-TR" dirty="0"/>
              <a:t>Panel konuşmaları da açık oturuma çok benzer. Bir yönetici ve alan uzmanlarının katıldığı önceden belirlenmiş bir konu izleyiciler önünde tartışılır. Açık oturuma nazaran daha sınırlı sayıda bir dinleyici kitlesi önünde yapılır. </a:t>
            </a:r>
          </a:p>
        </p:txBody>
      </p:sp>
      <p:pic>
        <p:nvPicPr>
          <p:cNvPr id="7172" name="Picture 4" descr="Diverse team of business people meeting in office lobby - Royalty-free Lobi - Mimari Özellik Stok görsel">
            <a:extLst>
              <a:ext uri="{FF2B5EF4-FFF2-40B4-BE49-F238E27FC236}">
                <a16:creationId xmlns:a16="http://schemas.microsoft.com/office/drawing/2014/main" xmlns="" id="{1A26EECB-56EA-8D4C-9823-389939049CF5}"/>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873472" y="940500"/>
            <a:ext cx="4666707" cy="325374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57637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355600" y="963167"/>
            <a:ext cx="4216400" cy="4021571"/>
          </a:xfrm>
        </p:spPr>
        <p:txBody>
          <a:bodyPr>
            <a:normAutofit/>
          </a:bodyPr>
          <a:lstStyle/>
          <a:p>
            <a:r>
              <a:rPr lang="tr-TR" b="1" dirty="0"/>
              <a:t>Forum </a:t>
            </a:r>
            <a:endParaRPr lang="tr-TR" dirty="0"/>
          </a:p>
          <a:p>
            <a:r>
              <a:rPr lang="tr-TR" dirty="0"/>
              <a:t>Forum da panel ve açık oturum gibi belli bir dinleyici kitlesi önünde alan uzmanlarınca gerçekleştirilen konuşmalardır. </a:t>
            </a:r>
          </a:p>
          <a:p>
            <a:r>
              <a:rPr lang="tr-TR" b="1" dirty="0"/>
              <a:t>Sempozyum/ Bilgi Şöleni</a:t>
            </a:r>
            <a:endParaRPr lang="tr-TR" dirty="0"/>
          </a:p>
          <a:p>
            <a:r>
              <a:rPr lang="tr-TR" dirty="0"/>
              <a:t>Özellikle bilimsel etkinlerde karşımıza çıkan bir konuşma türüdür. Daha önceden ilan edilmiş, belli bir konu(</a:t>
            </a:r>
            <a:r>
              <a:rPr lang="tr-TR" dirty="0" err="1"/>
              <a:t>lar</a:t>
            </a:r>
            <a:r>
              <a:rPr lang="tr-TR" dirty="0"/>
              <a:t>) etrafında alan uzmanlarınca yapılan konuşmalardır. </a:t>
            </a:r>
          </a:p>
          <a:p>
            <a:endParaRPr lang="tr-TR" dirty="0"/>
          </a:p>
          <a:p>
            <a:r>
              <a:rPr lang="tr-TR" b="1" dirty="0"/>
              <a:t> </a:t>
            </a:r>
            <a:endParaRPr lang="tr-TR" dirty="0"/>
          </a:p>
          <a:p>
            <a:pPr algn="just"/>
            <a:endParaRPr lang="tr-TR" dirty="0"/>
          </a:p>
        </p:txBody>
      </p:sp>
      <p:pic>
        <p:nvPicPr>
          <p:cNvPr id="11268" name="Picture 4" descr="audience at the conference hall. - sempozyum stok fotoğraflar ve resimler">
            <a:extLst>
              <a:ext uri="{FF2B5EF4-FFF2-40B4-BE49-F238E27FC236}">
                <a16:creationId xmlns:a16="http://schemas.microsoft.com/office/drawing/2014/main" xmlns="" id="{BBD13E84-FD70-D84F-85A4-D253048DB4E6}"/>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930775" y="1935898"/>
            <a:ext cx="3857625" cy="25717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989842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355600" y="1097280"/>
            <a:ext cx="4435856" cy="3887459"/>
          </a:xfrm>
        </p:spPr>
        <p:txBody>
          <a:bodyPr>
            <a:normAutofit/>
          </a:bodyPr>
          <a:lstStyle/>
          <a:p>
            <a:pPr algn="just"/>
            <a:r>
              <a:rPr lang="tr-TR" b="1" dirty="0"/>
              <a:t>Kurultay </a:t>
            </a:r>
            <a:endParaRPr lang="tr-TR" dirty="0"/>
          </a:p>
          <a:p>
            <a:pPr algn="just"/>
            <a:r>
              <a:rPr lang="tr-TR" dirty="0"/>
              <a:t>Kurumlarca belli amaçlarla düzenlenen, uzman davetlilerin katıldığı konuşmalardır. </a:t>
            </a:r>
          </a:p>
          <a:p>
            <a:pPr algn="just"/>
            <a:r>
              <a:rPr lang="tr-TR" b="1" dirty="0"/>
              <a:t>Seminer</a:t>
            </a:r>
            <a:r>
              <a:rPr lang="tr-TR" dirty="0"/>
              <a:t> </a:t>
            </a:r>
          </a:p>
          <a:p>
            <a:pPr algn="just"/>
            <a:r>
              <a:rPr lang="tr-TR" dirty="0"/>
              <a:t>Bir araştırmacı ya da araştırmacı grubunun çalışmalarının sonuçlarını paylaştıkları konuşma türüdür. </a:t>
            </a:r>
          </a:p>
          <a:p>
            <a:pPr algn="just"/>
            <a:r>
              <a:rPr lang="tr-TR" b="1" dirty="0"/>
              <a:t>Münazara</a:t>
            </a:r>
            <a:r>
              <a:rPr lang="tr-TR" dirty="0"/>
              <a:t> </a:t>
            </a:r>
          </a:p>
          <a:p>
            <a:pPr algn="just"/>
            <a:r>
              <a:rPr lang="tr-TR" dirty="0"/>
              <a:t>Önceden belirlenmiş bir konu üzerinde karşıt iki grubun düşüncelerini belli bir düzen içinde aktarmaları ile yapılan nitelikli tartışmaya münazara denilmektedir. </a:t>
            </a:r>
          </a:p>
        </p:txBody>
      </p:sp>
      <p:pic>
        <p:nvPicPr>
          <p:cNvPr id="12290" name="Picture 2" descr="mutlu girişimci iş planı bir sunum ofiste ekibine açıklayan görünümünü yukarıda. - seminer stok fotoğraflar ve resimler">
            <a:extLst>
              <a:ext uri="{FF2B5EF4-FFF2-40B4-BE49-F238E27FC236}">
                <a16:creationId xmlns:a16="http://schemas.microsoft.com/office/drawing/2014/main" xmlns="" id="{9C584ECD-FF81-3845-BC5C-F41CDE3A9DD0}"/>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059810" y="1779381"/>
            <a:ext cx="3471541" cy="225196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5385480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31. Sözlü Anlatımda Bazı Söyleyiş Özellikleri</a:t>
            </a:r>
            <a:endParaRPr lang="tr-TR" sz="2800"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355600" y="849219"/>
            <a:ext cx="8470900" cy="4135520"/>
          </a:xfrm>
        </p:spPr>
        <p:txBody>
          <a:bodyPr>
            <a:normAutofit/>
          </a:bodyPr>
          <a:lstStyle/>
          <a:p>
            <a:r>
              <a:rPr lang="tr-TR" b="1" dirty="0"/>
              <a:t> </a:t>
            </a:r>
            <a:endParaRPr lang="tr-TR" dirty="0"/>
          </a:p>
          <a:p>
            <a:pPr algn="just"/>
            <a:r>
              <a:rPr lang="tr-TR" b="1" dirty="0"/>
              <a:t>Asalak Ses, Sözcük ve İfadelerin Kullanımı</a:t>
            </a:r>
            <a:endParaRPr lang="tr-TR" dirty="0"/>
          </a:p>
          <a:p>
            <a:pPr algn="just"/>
            <a:r>
              <a:rPr lang="tr-TR" b="1" dirty="0"/>
              <a:t> </a:t>
            </a:r>
            <a:endParaRPr lang="tr-TR" dirty="0"/>
          </a:p>
          <a:p>
            <a:pPr algn="just"/>
            <a:r>
              <a:rPr lang="tr-TR" dirty="0"/>
              <a:t>Konuşma sırasında ifadelerin aralarına takılan ve genellikle düşünülmeden kullanılan bazı sesler, sözcükler veya ifadeler bulunur… </a:t>
            </a:r>
            <a:r>
              <a:rPr lang="tr-TR" i="1" dirty="0" err="1"/>
              <a:t>Iı</a:t>
            </a:r>
            <a:r>
              <a:rPr lang="tr-TR" i="1" dirty="0"/>
              <a:t>, </a:t>
            </a:r>
            <a:r>
              <a:rPr lang="tr-TR" i="1" dirty="0" err="1"/>
              <a:t>hı</a:t>
            </a:r>
            <a:r>
              <a:rPr lang="tr-TR" i="1" dirty="0"/>
              <a:t>, şey, yani, falan, tamam mı, işte, aynen, artı, dermişim, neyse, efendime </a:t>
            </a:r>
            <a:r>
              <a:rPr lang="tr-TR" i="1" dirty="0" err="1"/>
              <a:t>söyleyim</a:t>
            </a:r>
            <a:r>
              <a:rPr lang="tr-TR" i="1" dirty="0"/>
              <a:t>, anlatabildim mi, vb. </a:t>
            </a:r>
            <a:r>
              <a:rPr lang="tr-TR" dirty="0"/>
              <a:t>asalak ses ve sözler konuşmacının dikkat eksikliği ile çok yakından ilişkilidir (Durmuş, 2015, s. 209).</a:t>
            </a:r>
          </a:p>
          <a:p>
            <a:pPr algn="just"/>
            <a:r>
              <a:rPr lang="tr-TR" dirty="0"/>
              <a:t> </a:t>
            </a:r>
          </a:p>
          <a:p>
            <a:pPr algn="just"/>
            <a:r>
              <a:rPr lang="tr-TR" dirty="0"/>
              <a:t>Asalak sözcük ya da ifadeler, sözlü anlatımda içeriğin önüne geçebilir, bunun sonucunda da dinleyici konuşmanın içeriğinden uzaklaşabilir. </a:t>
            </a:r>
          </a:p>
        </p:txBody>
      </p:sp>
    </p:spTree>
    <p:extLst>
      <p:ext uri="{BB962C8B-B14F-4D97-AF65-F5344CB8AC3E}">
        <p14:creationId xmlns:p14="http://schemas.microsoft.com/office/powerpoint/2010/main" xmlns="" val="3563925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eaLnBrk="0" fontAlgn="base" hangingPunct="0">
              <a:spcBef>
                <a:spcPct val="0"/>
              </a:spcBef>
              <a:spcAft>
                <a:spcPct val="0"/>
              </a:spcAft>
            </a:pPr>
            <a:r>
              <a:rPr lang="tr-TR" altLang="tr-TR" sz="2800" b="1" dirty="0">
                <a:latin typeface="Arial" panose="020B0604020202020204" pitchFamily="34" charset="0"/>
                <a:ea typeface="Times New Roman" panose="02020603050405020304" pitchFamily="18" charset="0"/>
              </a:rPr>
              <a:t>32. Bazı Sözcüklerin Kullanımında Dikkat Edilmesi Gereken Özellikler</a:t>
            </a:r>
            <a:endParaRPr lang="tr-TR" altLang="tr-TR" sz="1400" dirty="0">
              <a:latin typeface="Arial" panose="020B0604020202020204" pitchFamily="34" charset="0"/>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o 1">
            <a:extLst>
              <a:ext uri="{FF2B5EF4-FFF2-40B4-BE49-F238E27FC236}">
                <a16:creationId xmlns:a16="http://schemas.microsoft.com/office/drawing/2014/main" xmlns="" id="{8FFA2948-2DFE-8944-94EF-57F7D6E5FE8E}"/>
              </a:ext>
            </a:extLst>
          </p:cNvPr>
          <p:cNvGraphicFramePr>
            <a:graphicFrameLocks noGrp="1"/>
          </p:cNvGraphicFramePr>
          <p:nvPr>
            <p:extLst>
              <p:ext uri="{D42A27DB-BD31-4B8C-83A1-F6EECF244321}">
                <p14:modId xmlns:p14="http://schemas.microsoft.com/office/powerpoint/2010/main" xmlns="" val="3913212925"/>
              </p:ext>
            </p:extLst>
          </p:nvPr>
        </p:nvGraphicFramePr>
        <p:xfrm>
          <a:off x="1522730" y="2970492"/>
          <a:ext cx="5610860" cy="1280160"/>
        </p:xfrm>
        <a:graphic>
          <a:graphicData uri="http://schemas.openxmlformats.org/drawingml/2006/table">
            <a:tbl>
              <a:tblPr firstRow="1" firstCol="1" bandRow="1">
                <a:tableStyleId>{5C22544A-7EE6-4342-B048-85BDC9FD1C3A}</a:tableStyleId>
              </a:tblPr>
              <a:tblGrid>
                <a:gridCol w="2805430">
                  <a:extLst>
                    <a:ext uri="{9D8B030D-6E8A-4147-A177-3AD203B41FA5}">
                      <a16:colId xmlns:a16="http://schemas.microsoft.com/office/drawing/2014/main" xmlns="" val="1710330470"/>
                    </a:ext>
                  </a:extLst>
                </a:gridCol>
                <a:gridCol w="2805430">
                  <a:extLst>
                    <a:ext uri="{9D8B030D-6E8A-4147-A177-3AD203B41FA5}">
                      <a16:colId xmlns:a16="http://schemas.microsoft.com/office/drawing/2014/main" xmlns="" val="2208708955"/>
                    </a:ext>
                  </a:extLst>
                </a:gridCol>
              </a:tblGrid>
              <a:tr h="0">
                <a:tc>
                  <a:txBody>
                    <a:bodyPr/>
                    <a:lstStyle/>
                    <a:p>
                      <a:pPr algn="just"/>
                      <a:r>
                        <a:rPr lang="tr-TR" sz="1200" dirty="0">
                          <a:effectLst/>
                        </a:rPr>
                        <a:t>geleceğim</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a:effectLst/>
                        </a:rPr>
                        <a:t>gelicem</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323633989"/>
                  </a:ext>
                </a:extLst>
              </a:tr>
              <a:tr h="0">
                <a:tc>
                  <a:txBody>
                    <a:bodyPr/>
                    <a:lstStyle/>
                    <a:p>
                      <a:pPr algn="just"/>
                      <a:r>
                        <a:rPr lang="tr-TR" sz="1200">
                          <a:effectLst/>
                        </a:rPr>
                        <a:t>dinleyen</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a:effectLst/>
                        </a:rPr>
                        <a:t>dinliyen</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435738605"/>
                  </a:ext>
                </a:extLst>
              </a:tr>
              <a:tr h="0">
                <a:tc>
                  <a:txBody>
                    <a:bodyPr/>
                    <a:lstStyle/>
                    <a:p>
                      <a:pPr algn="just"/>
                      <a:r>
                        <a:rPr lang="tr-TR" sz="1200" dirty="0">
                          <a:effectLst/>
                        </a:rPr>
                        <a:t>bekleyip</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a:effectLst/>
                        </a:rPr>
                        <a:t>bekliyip</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877168136"/>
                  </a:ext>
                </a:extLst>
              </a:tr>
              <a:tr h="0">
                <a:tc>
                  <a:txBody>
                    <a:bodyPr/>
                    <a:lstStyle/>
                    <a:p>
                      <a:pPr algn="just"/>
                      <a:r>
                        <a:rPr lang="tr-TR" sz="1200">
                          <a:effectLst/>
                        </a:rPr>
                        <a:t>dinleyici</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a:effectLst/>
                        </a:rPr>
                        <a:t>dinliyici</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906187971"/>
                  </a:ext>
                </a:extLst>
              </a:tr>
              <a:tr h="0">
                <a:tc>
                  <a:txBody>
                    <a:bodyPr/>
                    <a:lstStyle/>
                    <a:p>
                      <a:pPr algn="just"/>
                      <a:r>
                        <a:rPr lang="tr-TR" sz="1200">
                          <a:effectLst/>
                        </a:rPr>
                        <a:t>çağırmak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a:effectLst/>
                        </a:rPr>
                        <a:t>ça:rmak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4233714292"/>
                  </a:ext>
                </a:extLst>
              </a:tr>
              <a:tr h="0">
                <a:tc>
                  <a:txBody>
                    <a:bodyPr/>
                    <a:lstStyle/>
                    <a:p>
                      <a:pPr algn="just"/>
                      <a:r>
                        <a:rPr lang="tr-TR" sz="1200">
                          <a:effectLst/>
                        </a:rPr>
                        <a:t>ağır</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a:effectLst/>
                        </a:rPr>
                        <a:t>a:r</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711663257"/>
                  </a:ext>
                </a:extLst>
              </a:tr>
              <a:tr h="0">
                <a:tc>
                  <a:txBody>
                    <a:bodyPr/>
                    <a:lstStyle/>
                    <a:p>
                      <a:pPr algn="just"/>
                      <a:r>
                        <a:rPr lang="tr-TR" sz="1200">
                          <a:effectLst/>
                        </a:rPr>
                        <a:t>yağmur</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dirty="0" err="1">
                          <a:effectLst/>
                        </a:rPr>
                        <a:t>ya:mur</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129588958"/>
                  </a:ext>
                </a:extLst>
              </a:tr>
            </a:tbl>
          </a:graphicData>
        </a:graphic>
      </p:graphicFrame>
      <p:sp>
        <p:nvSpPr>
          <p:cNvPr id="5" name="Metin kutusu 4">
            <a:extLst>
              <a:ext uri="{FF2B5EF4-FFF2-40B4-BE49-F238E27FC236}">
                <a16:creationId xmlns:a16="http://schemas.microsoft.com/office/drawing/2014/main" xmlns="" id="{B542448B-32AF-6E41-958D-991CEE92E0B2}"/>
              </a:ext>
            </a:extLst>
          </p:cNvPr>
          <p:cNvSpPr txBox="1"/>
          <p:nvPr/>
        </p:nvSpPr>
        <p:spPr>
          <a:xfrm>
            <a:off x="673100" y="1054100"/>
            <a:ext cx="7845161" cy="1815882"/>
          </a:xfrm>
          <a:prstGeom prst="rect">
            <a:avLst/>
          </a:prstGeom>
          <a:noFill/>
        </p:spPr>
        <p:txBody>
          <a:bodyPr wrap="none" rtlCol="0">
            <a:spAutoFit/>
          </a:bodyPr>
          <a:lstStyle/>
          <a:p>
            <a:pPr lvl="0" defTabSz="914400" eaLnBrk="0" fontAlgn="base" hangingPunct="0">
              <a:spcBef>
                <a:spcPct val="0"/>
              </a:spcBef>
              <a:spcAft>
                <a:spcPct val="0"/>
              </a:spcAft>
            </a:pPr>
            <a:r>
              <a:rPr lang="tr-TR" altLang="tr-TR" sz="1400" dirty="0">
                <a:latin typeface="Arial" panose="020B0604020202020204" pitchFamily="34" charset="0"/>
                <a:ea typeface="Times New Roman" panose="02020603050405020304" pitchFamily="18" charset="0"/>
              </a:rPr>
              <a:t>Türkçede bazı sözcükler, söylenişlerinde ortaya çıkan ses değişimleri sebebiyle yazılımlarından</a:t>
            </a:r>
          </a:p>
          <a:p>
            <a:pPr lvl="0" defTabSz="914400" eaLnBrk="0" fontAlgn="base" hangingPunct="0">
              <a:spcBef>
                <a:spcPct val="0"/>
              </a:spcBef>
              <a:spcAft>
                <a:spcPct val="0"/>
              </a:spcAft>
            </a:pPr>
            <a:r>
              <a:rPr lang="tr-TR" altLang="tr-TR" sz="1400" dirty="0">
                <a:latin typeface="Arial" panose="020B0604020202020204" pitchFamily="34" charset="0"/>
                <a:ea typeface="Times New Roman" panose="02020603050405020304" pitchFamily="18" charset="0"/>
              </a:rPr>
              <a:t>farklı olarak seslendirilirler.  Ses daralması, ses veya hece düşmesi örnekleri olarak ortaya çıkan</a:t>
            </a:r>
          </a:p>
          <a:p>
            <a:pPr lvl="0" defTabSz="914400" eaLnBrk="0" fontAlgn="base" hangingPunct="0">
              <a:spcBef>
                <a:spcPct val="0"/>
              </a:spcBef>
              <a:spcAft>
                <a:spcPct val="0"/>
              </a:spcAft>
            </a:pPr>
            <a:r>
              <a:rPr lang="tr-TR" altLang="tr-TR" sz="1400" dirty="0">
                <a:latin typeface="Arial" panose="020B0604020202020204" pitchFamily="34" charset="0"/>
                <a:ea typeface="Times New Roman" panose="02020603050405020304" pitchFamily="18" charset="0"/>
              </a:rPr>
              <a:t>bu biçimler konuşma ile sınırlıdır, yazıda gösterilmez. Günlük konuşmalarda sıkça rastlanan bu </a:t>
            </a:r>
          </a:p>
          <a:p>
            <a:pPr lvl="0" defTabSz="914400" eaLnBrk="0" fontAlgn="base" hangingPunct="0">
              <a:spcBef>
                <a:spcPct val="0"/>
              </a:spcBef>
              <a:spcAft>
                <a:spcPct val="0"/>
              </a:spcAft>
            </a:pPr>
            <a:r>
              <a:rPr lang="tr-TR" altLang="tr-TR" sz="1400" dirty="0">
                <a:latin typeface="Arial" panose="020B0604020202020204" pitchFamily="34" charset="0"/>
                <a:ea typeface="Times New Roman" panose="02020603050405020304" pitchFamily="18" charset="0"/>
              </a:rPr>
              <a:t>kullanımlar, dinleyici karşısında yapılan konuşmalarda daha az karşımıza çıkmaktadır. </a:t>
            </a:r>
            <a:endParaRPr lang="tr-TR" altLang="tr-TR" sz="900" dirty="0">
              <a:latin typeface="Arial" panose="020B0604020202020204" pitchFamily="34" charset="0"/>
            </a:endParaRPr>
          </a:p>
          <a:p>
            <a:pPr lvl="0" defTabSz="914400" eaLnBrk="0" fontAlgn="base" hangingPunct="0">
              <a:spcBef>
                <a:spcPct val="0"/>
              </a:spcBef>
              <a:spcAft>
                <a:spcPct val="0"/>
              </a:spcAft>
            </a:pPr>
            <a:endParaRPr lang="tr-TR" altLang="tr-TR" sz="1400" b="1" i="1" dirty="0">
              <a:latin typeface="Arial" panose="020B0604020202020204" pitchFamily="34" charset="0"/>
              <a:ea typeface="Times New Roman" panose="02020603050405020304" pitchFamily="18" charset="0"/>
            </a:endParaRPr>
          </a:p>
          <a:p>
            <a:pPr lvl="0" defTabSz="914400" eaLnBrk="0" fontAlgn="base" hangingPunct="0">
              <a:spcBef>
                <a:spcPct val="0"/>
              </a:spcBef>
              <a:spcAft>
                <a:spcPct val="0"/>
              </a:spcAft>
            </a:pPr>
            <a:endParaRPr lang="tr-TR" altLang="tr-TR" sz="1400" b="1" i="1" dirty="0">
              <a:latin typeface="Arial" panose="020B0604020202020204" pitchFamily="34" charset="0"/>
              <a:ea typeface="Times New Roman" panose="02020603050405020304" pitchFamily="18" charset="0"/>
            </a:endParaRPr>
          </a:p>
          <a:p>
            <a:pPr lvl="0" defTabSz="914400" eaLnBrk="0" fontAlgn="base" hangingPunct="0">
              <a:spcBef>
                <a:spcPct val="0"/>
              </a:spcBef>
              <a:spcAft>
                <a:spcPct val="0"/>
              </a:spcAft>
            </a:pPr>
            <a:endParaRPr lang="tr-TR" altLang="tr-TR" sz="1400" b="1" i="1" dirty="0">
              <a:latin typeface="Arial" panose="020B0604020202020204" pitchFamily="34" charset="0"/>
              <a:ea typeface="Times New Roman" panose="02020603050405020304" pitchFamily="18" charset="0"/>
            </a:endParaRPr>
          </a:p>
          <a:p>
            <a:pPr lvl="0" defTabSz="914400" eaLnBrk="0" fontAlgn="base" hangingPunct="0">
              <a:spcBef>
                <a:spcPct val="0"/>
              </a:spcBef>
              <a:spcAft>
                <a:spcPct val="0"/>
              </a:spcAft>
            </a:pPr>
            <a:r>
              <a:rPr lang="tr-TR" altLang="tr-TR" sz="1400" b="1" i="1" dirty="0">
                <a:latin typeface="Arial" panose="020B0604020202020204" pitchFamily="34" charset="0"/>
                <a:ea typeface="Times New Roman" panose="02020603050405020304" pitchFamily="18" charset="0"/>
              </a:rPr>
              <a:t>Söylenişleri Yazılışından Farklı Olan Sözcük Örnekleri</a:t>
            </a:r>
            <a:endParaRPr lang="tr-TR" altLang="tr-TR" sz="900" dirty="0">
              <a:latin typeface="Arial" panose="020B0604020202020204" pitchFamily="34" charset="0"/>
            </a:endParaRPr>
          </a:p>
        </p:txBody>
      </p:sp>
    </p:spTree>
    <p:extLst>
      <p:ext uri="{BB962C8B-B14F-4D97-AF65-F5344CB8AC3E}">
        <p14:creationId xmlns:p14="http://schemas.microsoft.com/office/powerpoint/2010/main" xmlns="" val="3539215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altLang="tr-TR" sz="2800" b="1" dirty="0">
                <a:latin typeface="Arial" panose="020B0604020202020204" pitchFamily="34" charset="0"/>
                <a:ea typeface="Times New Roman" panose="02020603050405020304" pitchFamily="18" charset="0"/>
              </a:rPr>
              <a:t>33. Bazı Sözcüklerin Kullanımında Dikkat Edilmesi Gereken Özellikler</a:t>
            </a:r>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o 1">
            <a:extLst>
              <a:ext uri="{FF2B5EF4-FFF2-40B4-BE49-F238E27FC236}">
                <a16:creationId xmlns:a16="http://schemas.microsoft.com/office/drawing/2014/main" xmlns="" id="{552A26A8-F8B9-8740-BC13-E2F1B49F30CE}"/>
              </a:ext>
            </a:extLst>
          </p:cNvPr>
          <p:cNvGraphicFramePr>
            <a:graphicFrameLocks noGrp="1"/>
          </p:cNvGraphicFramePr>
          <p:nvPr>
            <p:extLst>
              <p:ext uri="{D42A27DB-BD31-4B8C-83A1-F6EECF244321}">
                <p14:modId xmlns:p14="http://schemas.microsoft.com/office/powerpoint/2010/main" xmlns="" val="1137322041"/>
              </p:ext>
            </p:extLst>
          </p:nvPr>
        </p:nvGraphicFramePr>
        <p:xfrm>
          <a:off x="1620077" y="2571749"/>
          <a:ext cx="5496340" cy="1990310"/>
        </p:xfrm>
        <a:graphic>
          <a:graphicData uri="http://schemas.openxmlformats.org/drawingml/2006/table">
            <a:tbl>
              <a:tblPr firstRow="1" firstCol="1" bandRow="1">
                <a:tableStyleId>{5C22544A-7EE6-4342-B048-85BDC9FD1C3A}</a:tableStyleId>
              </a:tblPr>
              <a:tblGrid>
                <a:gridCol w="2748170">
                  <a:extLst>
                    <a:ext uri="{9D8B030D-6E8A-4147-A177-3AD203B41FA5}">
                      <a16:colId xmlns:a16="http://schemas.microsoft.com/office/drawing/2014/main" xmlns="" val="669990129"/>
                    </a:ext>
                  </a:extLst>
                </a:gridCol>
                <a:gridCol w="2748170">
                  <a:extLst>
                    <a:ext uri="{9D8B030D-6E8A-4147-A177-3AD203B41FA5}">
                      <a16:colId xmlns:a16="http://schemas.microsoft.com/office/drawing/2014/main" xmlns="" val="1464267277"/>
                    </a:ext>
                  </a:extLst>
                </a:gridCol>
              </a:tblGrid>
              <a:tr h="284330">
                <a:tc>
                  <a:txBody>
                    <a:bodyPr/>
                    <a:lstStyle/>
                    <a:p>
                      <a:pPr algn="just"/>
                      <a:r>
                        <a:rPr lang="tr-TR" sz="1200">
                          <a:effectLst/>
                        </a:rPr>
                        <a:t>Adet (sayı)</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a:effectLst/>
                        </a:rPr>
                        <a:t>Âdet (gelenek)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484843686"/>
                  </a:ext>
                </a:extLst>
              </a:tr>
              <a:tr h="284330">
                <a:tc>
                  <a:txBody>
                    <a:bodyPr/>
                    <a:lstStyle/>
                    <a:p>
                      <a:pPr algn="just"/>
                      <a:r>
                        <a:rPr lang="tr-TR" sz="1200" dirty="0">
                          <a:effectLst/>
                        </a:rPr>
                        <a:t>Ala (karışık renkte)</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a:effectLst/>
                        </a:rPr>
                        <a:t>Âlâ (pekiyi)</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982240853"/>
                  </a:ext>
                </a:extLst>
              </a:tr>
              <a:tr h="284330">
                <a:tc>
                  <a:txBody>
                    <a:bodyPr/>
                    <a:lstStyle/>
                    <a:p>
                      <a:pPr algn="just"/>
                      <a:r>
                        <a:rPr lang="tr-TR" sz="1200">
                          <a:effectLst/>
                        </a:rPr>
                        <a:t>Ama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dirty="0">
                          <a:effectLst/>
                        </a:rPr>
                        <a:t>Âmâ (görme engelli)</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162473672"/>
                  </a:ext>
                </a:extLst>
              </a:tr>
              <a:tr h="284330">
                <a:tc>
                  <a:txBody>
                    <a:bodyPr/>
                    <a:lstStyle/>
                    <a:p>
                      <a:pPr algn="just"/>
                      <a:r>
                        <a:rPr lang="tr-TR" sz="1200">
                          <a:effectLst/>
                        </a:rPr>
                        <a:t>Aşık (oyun)</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a:effectLst/>
                        </a:rPr>
                        <a:t>Âşık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740008533"/>
                  </a:ext>
                </a:extLst>
              </a:tr>
              <a:tr h="284330">
                <a:tc>
                  <a:txBody>
                    <a:bodyPr/>
                    <a:lstStyle/>
                    <a:p>
                      <a:pPr algn="just"/>
                      <a:r>
                        <a:rPr lang="tr-TR" sz="1200">
                          <a:effectLst/>
                        </a:rPr>
                        <a:t>Dahi (bağlaç, edat)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a:effectLst/>
                        </a:rPr>
                        <a:t>Dâhi (deha sahibi)</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101480991"/>
                  </a:ext>
                </a:extLst>
              </a:tr>
              <a:tr h="284330">
                <a:tc>
                  <a:txBody>
                    <a:bodyPr/>
                    <a:lstStyle/>
                    <a:p>
                      <a:pPr algn="just"/>
                      <a:r>
                        <a:rPr lang="tr-TR" sz="1200">
                          <a:effectLst/>
                        </a:rPr>
                        <a:t>Hala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a:effectLst/>
                        </a:rPr>
                        <a:t>Hâlâ (edat)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4187488"/>
                  </a:ext>
                </a:extLst>
              </a:tr>
              <a:tr h="284330">
                <a:tc>
                  <a:txBody>
                    <a:bodyPr/>
                    <a:lstStyle/>
                    <a:p>
                      <a:pPr algn="just"/>
                      <a:r>
                        <a:rPr lang="tr-TR" sz="1200">
                          <a:effectLst/>
                        </a:rPr>
                        <a:t>Yar (uçurum)</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tr-TR" sz="1200" dirty="0">
                          <a:effectLst/>
                        </a:rPr>
                        <a:t>Yâr (Sevgili)</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69158513"/>
                  </a:ext>
                </a:extLst>
              </a:tr>
            </a:tbl>
          </a:graphicData>
        </a:graphic>
      </p:graphicFrame>
      <p:sp>
        <p:nvSpPr>
          <p:cNvPr id="5" name="Metin kutusu 4">
            <a:extLst>
              <a:ext uri="{FF2B5EF4-FFF2-40B4-BE49-F238E27FC236}">
                <a16:creationId xmlns:a16="http://schemas.microsoft.com/office/drawing/2014/main" xmlns="" id="{EEDA6471-6744-6045-A453-0CD21CCD20A6}"/>
              </a:ext>
            </a:extLst>
          </p:cNvPr>
          <p:cNvSpPr txBox="1"/>
          <p:nvPr/>
        </p:nvSpPr>
        <p:spPr>
          <a:xfrm>
            <a:off x="-2" y="972930"/>
            <a:ext cx="24288942" cy="1300356"/>
          </a:xfrm>
          <a:prstGeom prst="rect">
            <a:avLst/>
          </a:prstGeom>
          <a:noFill/>
        </p:spPr>
        <p:txBody>
          <a:bodyPr wrap="square" rtlCol="0">
            <a:spAutoFit/>
          </a:bodyPr>
          <a:lstStyle/>
          <a:p>
            <a:pPr lvl="0" defTabSz="914400" eaLnBrk="0" fontAlgn="base" hangingPunct="0">
              <a:spcBef>
                <a:spcPct val="0"/>
              </a:spcBef>
              <a:spcAft>
                <a:spcPct val="0"/>
              </a:spcAft>
            </a:pPr>
            <a:r>
              <a:rPr lang="tr-TR" altLang="tr-TR" sz="1400" dirty="0">
                <a:latin typeface="Arial" panose="020B0604020202020204" pitchFamily="34" charset="0"/>
                <a:ea typeface="Times New Roman" panose="02020603050405020304" pitchFamily="18" charset="0"/>
              </a:rPr>
              <a:t>Ünlü uzunluğunun veya inceliğinin anlam ayırıcı olduğu durumlarda yazıda bazı sözcüklerin ‘^’ işareti kullanılarak</a:t>
            </a:r>
          </a:p>
          <a:p>
            <a:pPr lvl="0" defTabSz="914400" eaLnBrk="0" fontAlgn="base" hangingPunct="0">
              <a:spcBef>
                <a:spcPct val="0"/>
              </a:spcBef>
              <a:spcAft>
                <a:spcPct val="0"/>
              </a:spcAft>
            </a:pPr>
            <a:r>
              <a:rPr lang="tr-TR" altLang="tr-TR" sz="1400" dirty="0">
                <a:latin typeface="Arial" panose="020B0604020202020204" pitchFamily="34" charset="0"/>
                <a:ea typeface="Times New Roman" panose="02020603050405020304" pitchFamily="18" charset="0"/>
              </a:rPr>
              <a:t> birbirinden farklı gösterildiği görülür. Bu sözcüklerin arasındaki ayrım konuşma sırasında da gözetilmeli, uzun veya</a:t>
            </a:r>
          </a:p>
          <a:p>
            <a:pPr lvl="0" defTabSz="914400" eaLnBrk="0" fontAlgn="base" hangingPunct="0">
              <a:spcBef>
                <a:spcPct val="0"/>
              </a:spcBef>
              <a:spcAft>
                <a:spcPct val="0"/>
              </a:spcAft>
            </a:pPr>
            <a:r>
              <a:rPr lang="tr-TR" altLang="tr-TR" sz="1400" dirty="0">
                <a:latin typeface="Arial" panose="020B0604020202020204" pitchFamily="34" charset="0"/>
                <a:ea typeface="Times New Roman" panose="02020603050405020304" pitchFamily="18" charset="0"/>
              </a:rPr>
              <a:t> ince söylenmesi gereken sözcükler doğru şekilde kullanılmalıdır. </a:t>
            </a:r>
          </a:p>
          <a:p>
            <a:pPr lvl="0" defTabSz="914400" eaLnBrk="0" fontAlgn="base" hangingPunct="0">
              <a:spcBef>
                <a:spcPct val="0"/>
              </a:spcBef>
              <a:spcAft>
                <a:spcPct val="0"/>
              </a:spcAft>
            </a:pPr>
            <a:endParaRPr lang="tr-TR" altLang="tr-TR" sz="900" dirty="0">
              <a:latin typeface="Arial" panose="020B0604020202020204" pitchFamily="34" charset="0"/>
            </a:endParaRPr>
          </a:p>
          <a:p>
            <a:pPr lvl="0" defTabSz="914400" eaLnBrk="0" fontAlgn="base" hangingPunct="0">
              <a:spcBef>
                <a:spcPct val="0"/>
              </a:spcBef>
              <a:spcAft>
                <a:spcPct val="0"/>
              </a:spcAft>
            </a:pPr>
            <a:r>
              <a:rPr lang="tr-TR" altLang="tr-TR" sz="1400" b="1" i="1" dirty="0">
                <a:latin typeface="Arial" panose="020B0604020202020204" pitchFamily="34" charset="0"/>
                <a:ea typeface="Times New Roman" panose="02020603050405020304" pitchFamily="18" charset="0"/>
              </a:rPr>
              <a:t>Uzun veya İnce Söylenmesi Gereken Sözcük Örnekleri</a:t>
            </a:r>
            <a:endParaRPr lang="tr-TR" altLang="tr-TR" sz="900" dirty="0">
              <a:latin typeface="Arial" panose="020B0604020202020204" pitchFamily="34" charset="0"/>
            </a:endParaRPr>
          </a:p>
          <a:p>
            <a:endParaRPr lang="tr-TR" dirty="0"/>
          </a:p>
        </p:txBody>
      </p:sp>
    </p:spTree>
    <p:extLst>
      <p:ext uri="{BB962C8B-B14F-4D97-AF65-F5344CB8AC3E}">
        <p14:creationId xmlns:p14="http://schemas.microsoft.com/office/powerpoint/2010/main" xmlns="" val="24040697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altLang="tr-TR" sz="2800" b="1" dirty="0">
                <a:latin typeface="Arial" panose="020B0604020202020204" pitchFamily="34" charset="0"/>
                <a:ea typeface="Times New Roman" panose="02020603050405020304" pitchFamily="18" charset="0"/>
              </a:rPr>
              <a:t>34. Bazı Sözcüklerin Kullanımında Dikkat Edilmesi Gereken Özellikler</a:t>
            </a:r>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o 1">
            <a:extLst>
              <a:ext uri="{FF2B5EF4-FFF2-40B4-BE49-F238E27FC236}">
                <a16:creationId xmlns:a16="http://schemas.microsoft.com/office/drawing/2014/main" xmlns="" id="{3AC13A37-091E-E148-8D0A-40EBDACA4D3D}"/>
              </a:ext>
            </a:extLst>
          </p:cNvPr>
          <p:cNvGraphicFramePr>
            <a:graphicFrameLocks noGrp="1"/>
          </p:cNvGraphicFramePr>
          <p:nvPr>
            <p:extLst>
              <p:ext uri="{D42A27DB-BD31-4B8C-83A1-F6EECF244321}">
                <p14:modId xmlns:p14="http://schemas.microsoft.com/office/powerpoint/2010/main" xmlns="" val="3754144758"/>
              </p:ext>
            </p:extLst>
          </p:nvPr>
        </p:nvGraphicFramePr>
        <p:xfrm>
          <a:off x="1669034" y="2831241"/>
          <a:ext cx="5610860" cy="1463040"/>
        </p:xfrm>
        <a:graphic>
          <a:graphicData uri="http://schemas.openxmlformats.org/drawingml/2006/table">
            <a:tbl>
              <a:tblPr firstRow="1" firstCol="1" bandRow="1">
                <a:tableStyleId>{5C22544A-7EE6-4342-B048-85BDC9FD1C3A}</a:tableStyleId>
              </a:tblPr>
              <a:tblGrid>
                <a:gridCol w="1402715">
                  <a:extLst>
                    <a:ext uri="{9D8B030D-6E8A-4147-A177-3AD203B41FA5}">
                      <a16:colId xmlns:a16="http://schemas.microsoft.com/office/drawing/2014/main" xmlns="" val="3926054177"/>
                    </a:ext>
                  </a:extLst>
                </a:gridCol>
                <a:gridCol w="1402715">
                  <a:extLst>
                    <a:ext uri="{9D8B030D-6E8A-4147-A177-3AD203B41FA5}">
                      <a16:colId xmlns:a16="http://schemas.microsoft.com/office/drawing/2014/main" xmlns="" val="3496688140"/>
                    </a:ext>
                  </a:extLst>
                </a:gridCol>
                <a:gridCol w="1402715">
                  <a:extLst>
                    <a:ext uri="{9D8B030D-6E8A-4147-A177-3AD203B41FA5}">
                      <a16:colId xmlns:a16="http://schemas.microsoft.com/office/drawing/2014/main" xmlns="" val="2805529432"/>
                    </a:ext>
                  </a:extLst>
                </a:gridCol>
                <a:gridCol w="1402715">
                  <a:extLst>
                    <a:ext uri="{9D8B030D-6E8A-4147-A177-3AD203B41FA5}">
                      <a16:colId xmlns:a16="http://schemas.microsoft.com/office/drawing/2014/main" xmlns="" val="4208007688"/>
                    </a:ext>
                  </a:extLst>
                </a:gridCol>
              </a:tblGrid>
              <a:tr h="0">
                <a:tc>
                  <a:txBody>
                    <a:bodyPr/>
                    <a:lstStyle/>
                    <a:p>
                      <a:r>
                        <a:rPr lang="tr-TR" sz="1200">
                          <a:effectLst/>
                        </a:rPr>
                        <a:t>beraat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cemaat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dikkat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fesahat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197426488"/>
                  </a:ext>
                </a:extLst>
              </a:tr>
              <a:tr h="0">
                <a:tc>
                  <a:txBody>
                    <a:bodyPr/>
                    <a:lstStyle/>
                    <a:p>
                      <a:r>
                        <a:rPr lang="tr-TR" sz="1200">
                          <a:effectLst/>
                        </a:rPr>
                        <a:t>hakikat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istirahat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itaat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kabahat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957380164"/>
                  </a:ext>
                </a:extLst>
              </a:tr>
              <a:tr h="0">
                <a:tc>
                  <a:txBody>
                    <a:bodyPr/>
                    <a:lstStyle/>
                    <a:p>
                      <a:r>
                        <a:rPr lang="tr-TR" sz="1200">
                          <a:effectLst/>
                        </a:rPr>
                        <a:t>kıraat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liyakat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meşakkat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nasihat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951228730"/>
                  </a:ext>
                </a:extLst>
              </a:tr>
              <a:tr h="0">
                <a:tc>
                  <a:txBody>
                    <a:bodyPr/>
                    <a:lstStyle/>
                    <a:p>
                      <a:r>
                        <a:rPr lang="tr-TR" sz="1200">
                          <a:effectLst/>
                        </a:rPr>
                        <a:t>biyomedikal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dijital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ekol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emsal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078411799"/>
                  </a:ext>
                </a:extLst>
              </a:tr>
              <a:tr h="0">
                <a:tc>
                  <a:txBody>
                    <a:bodyPr/>
                    <a:lstStyle/>
                    <a:p>
                      <a:r>
                        <a:rPr lang="tr-TR" sz="1200">
                          <a:effectLst/>
                        </a:rPr>
                        <a:t>faal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faul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federal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festival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680927644"/>
                  </a:ext>
                </a:extLst>
              </a:tr>
              <a:tr h="0">
                <a:tc>
                  <a:txBody>
                    <a:bodyPr/>
                    <a:lstStyle/>
                    <a:p>
                      <a:r>
                        <a:rPr lang="tr-TR" sz="1200">
                          <a:effectLst/>
                        </a:rPr>
                        <a:t>ithal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kabul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kontrol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kristal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872367518"/>
                  </a:ext>
                </a:extLst>
              </a:tr>
              <a:tr h="0">
                <a:tc>
                  <a:txBody>
                    <a:bodyPr/>
                    <a:lstStyle/>
                    <a:p>
                      <a:r>
                        <a:rPr lang="tr-TR" sz="1200">
                          <a:effectLst/>
                        </a:rPr>
                        <a:t>liberal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mahsul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meşgul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metal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715950820"/>
                  </a:ext>
                </a:extLst>
              </a:tr>
              <a:tr h="0">
                <a:tc>
                  <a:txBody>
                    <a:bodyPr/>
                    <a:lstStyle/>
                    <a:p>
                      <a:r>
                        <a:rPr lang="tr-TR" sz="1200">
                          <a:effectLst/>
                        </a:rPr>
                        <a:t>sosyal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şarampol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termal</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dirty="0">
                          <a:effectLst/>
                        </a:rPr>
                        <a:t>terminal</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970012104"/>
                  </a:ext>
                </a:extLst>
              </a:tr>
            </a:tbl>
          </a:graphicData>
        </a:graphic>
      </p:graphicFrame>
      <p:sp>
        <p:nvSpPr>
          <p:cNvPr id="5" name="Metin kutusu 4">
            <a:extLst>
              <a:ext uri="{FF2B5EF4-FFF2-40B4-BE49-F238E27FC236}">
                <a16:creationId xmlns:a16="http://schemas.microsoft.com/office/drawing/2014/main" xmlns="" id="{41A33AA5-D46A-394A-A8F6-051B1885845D}"/>
              </a:ext>
            </a:extLst>
          </p:cNvPr>
          <p:cNvSpPr txBox="1"/>
          <p:nvPr/>
        </p:nvSpPr>
        <p:spPr>
          <a:xfrm>
            <a:off x="952500" y="1092200"/>
            <a:ext cx="8103500" cy="1592744"/>
          </a:xfrm>
          <a:prstGeom prst="rect">
            <a:avLst/>
          </a:prstGeom>
          <a:noFill/>
        </p:spPr>
        <p:txBody>
          <a:bodyPr wrap="none" rtlCol="0">
            <a:spAutoFit/>
          </a:bodyPr>
          <a:lstStyle/>
          <a:p>
            <a:pPr lvl="0" defTabSz="914400" eaLnBrk="0" fontAlgn="base" hangingPunct="0">
              <a:spcBef>
                <a:spcPct val="0"/>
              </a:spcBef>
              <a:spcAft>
                <a:spcPct val="0"/>
              </a:spcAft>
            </a:pPr>
            <a:r>
              <a:rPr lang="tr-TR" altLang="tr-TR" sz="1400" dirty="0">
                <a:latin typeface="Arial" panose="020B0604020202020204" pitchFamily="34" charset="0"/>
                <a:ea typeface="Times New Roman" panose="02020603050405020304" pitchFamily="18" charset="0"/>
              </a:rPr>
              <a:t>Türkçeye başka dillerden geçen ve ince sıradan ünlülerle söylenmesi gereken bazı sözcüklerin kalın</a:t>
            </a:r>
          </a:p>
          <a:p>
            <a:pPr lvl="0" defTabSz="914400" eaLnBrk="0" fontAlgn="base" hangingPunct="0">
              <a:spcBef>
                <a:spcPct val="0"/>
              </a:spcBef>
              <a:spcAft>
                <a:spcPct val="0"/>
              </a:spcAft>
            </a:pPr>
            <a:r>
              <a:rPr lang="tr-TR" altLang="tr-TR" sz="1400" dirty="0">
                <a:latin typeface="Arial" panose="020B0604020202020204" pitchFamily="34" charset="0"/>
                <a:ea typeface="Times New Roman" panose="02020603050405020304" pitchFamily="18" charset="0"/>
              </a:rPr>
              <a:t> sıradan ünlülerle söylendiği görülmektedir. İnce t veya ince l ile biten bu tür sözcüklerin büyük bir </a:t>
            </a:r>
          </a:p>
          <a:p>
            <a:pPr lvl="0" defTabSz="914400" eaLnBrk="0" fontAlgn="base" hangingPunct="0">
              <a:spcBef>
                <a:spcPct val="0"/>
              </a:spcBef>
              <a:spcAft>
                <a:spcPct val="0"/>
              </a:spcAft>
            </a:pPr>
            <a:r>
              <a:rPr lang="tr-TR" altLang="tr-TR" sz="1400" dirty="0">
                <a:latin typeface="Arial" panose="020B0604020202020204" pitchFamily="34" charset="0"/>
                <a:ea typeface="Times New Roman" panose="02020603050405020304" pitchFamily="18" charset="0"/>
              </a:rPr>
              <a:t>kısmı Arapçadan Türkçeye geçmiştir. </a:t>
            </a:r>
            <a:endParaRPr lang="tr-TR" altLang="tr-TR" sz="900" dirty="0">
              <a:latin typeface="Arial" panose="020B0604020202020204" pitchFamily="34" charset="0"/>
            </a:endParaRPr>
          </a:p>
          <a:p>
            <a:pPr lvl="0" defTabSz="914400" eaLnBrk="0" fontAlgn="base" hangingPunct="0">
              <a:spcBef>
                <a:spcPct val="0"/>
              </a:spcBef>
              <a:spcAft>
                <a:spcPct val="0"/>
              </a:spcAft>
            </a:pPr>
            <a:endParaRPr lang="tr-TR" altLang="tr-TR" sz="1400" b="1" i="1" dirty="0">
              <a:latin typeface="Arial" panose="020B0604020202020204" pitchFamily="34" charset="0"/>
              <a:ea typeface="Times New Roman" panose="02020603050405020304" pitchFamily="18" charset="0"/>
            </a:endParaRPr>
          </a:p>
          <a:p>
            <a:pPr lvl="0" defTabSz="914400" eaLnBrk="0" fontAlgn="base" hangingPunct="0">
              <a:spcBef>
                <a:spcPct val="0"/>
              </a:spcBef>
              <a:spcAft>
                <a:spcPct val="0"/>
              </a:spcAft>
            </a:pPr>
            <a:r>
              <a:rPr lang="tr-TR" altLang="tr-TR" sz="1400" b="1" i="1" dirty="0">
                <a:latin typeface="Arial" panose="020B0604020202020204" pitchFamily="34" charset="0"/>
                <a:ea typeface="Times New Roman" panose="02020603050405020304" pitchFamily="18" charset="0"/>
              </a:rPr>
              <a:t>İnce Sıradan Ünlülerle Söylenmesi Gereken Bazı Sözcüklerin Kalın Sıradan Ünlülerle </a:t>
            </a:r>
          </a:p>
          <a:p>
            <a:pPr lvl="0" defTabSz="914400" eaLnBrk="0" fontAlgn="base" hangingPunct="0">
              <a:spcBef>
                <a:spcPct val="0"/>
              </a:spcBef>
              <a:spcAft>
                <a:spcPct val="0"/>
              </a:spcAft>
            </a:pPr>
            <a:r>
              <a:rPr lang="tr-TR" altLang="tr-TR" sz="1400" b="1" i="1" dirty="0">
                <a:latin typeface="Arial" panose="020B0604020202020204" pitchFamily="34" charset="0"/>
                <a:ea typeface="Times New Roman" panose="02020603050405020304" pitchFamily="18" charset="0"/>
              </a:rPr>
              <a:t>Söylendiği Sözcük Örnekleri</a:t>
            </a:r>
            <a:endParaRPr lang="tr-TR" altLang="tr-TR" sz="900" dirty="0">
              <a:latin typeface="Arial" panose="020B0604020202020204" pitchFamily="34" charset="0"/>
            </a:endParaRPr>
          </a:p>
          <a:p>
            <a:endParaRPr lang="tr-TR" dirty="0"/>
          </a:p>
        </p:txBody>
      </p:sp>
    </p:spTree>
    <p:extLst>
      <p:ext uri="{BB962C8B-B14F-4D97-AF65-F5344CB8AC3E}">
        <p14:creationId xmlns:p14="http://schemas.microsoft.com/office/powerpoint/2010/main" xmlns="" val="953401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altLang="tr-TR" sz="2800" b="1" dirty="0">
                <a:latin typeface="Arial" panose="020B0604020202020204" pitchFamily="34" charset="0"/>
                <a:ea typeface="Times New Roman" panose="02020603050405020304" pitchFamily="18" charset="0"/>
              </a:rPr>
              <a:t>35. Bazı Sözcüklerin Kullanımında Dikkat Edilmesi Gereken Özellikler</a:t>
            </a:r>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o 1">
            <a:extLst>
              <a:ext uri="{FF2B5EF4-FFF2-40B4-BE49-F238E27FC236}">
                <a16:creationId xmlns:a16="http://schemas.microsoft.com/office/drawing/2014/main" xmlns="" id="{1A68BB71-BB20-D841-9F83-EA9E32C1A100}"/>
              </a:ext>
            </a:extLst>
          </p:cNvPr>
          <p:cNvGraphicFramePr>
            <a:graphicFrameLocks noGrp="1"/>
          </p:cNvGraphicFramePr>
          <p:nvPr>
            <p:extLst>
              <p:ext uri="{D42A27DB-BD31-4B8C-83A1-F6EECF244321}">
                <p14:modId xmlns:p14="http://schemas.microsoft.com/office/powerpoint/2010/main" xmlns="" val="3037376486"/>
              </p:ext>
            </p:extLst>
          </p:nvPr>
        </p:nvGraphicFramePr>
        <p:xfrm>
          <a:off x="1755648" y="1812449"/>
          <a:ext cx="5621782" cy="2377440"/>
        </p:xfrm>
        <a:graphic>
          <a:graphicData uri="http://schemas.openxmlformats.org/drawingml/2006/table">
            <a:tbl>
              <a:tblPr firstRow="1" firstCol="1" bandRow="1">
                <a:tableStyleId>{5C22544A-7EE6-4342-B048-85BDC9FD1C3A}</a:tableStyleId>
              </a:tblPr>
              <a:tblGrid>
                <a:gridCol w="2816352">
                  <a:extLst>
                    <a:ext uri="{9D8B030D-6E8A-4147-A177-3AD203B41FA5}">
                      <a16:colId xmlns:a16="http://schemas.microsoft.com/office/drawing/2014/main" xmlns="" val="3515473213"/>
                    </a:ext>
                  </a:extLst>
                </a:gridCol>
                <a:gridCol w="2805430">
                  <a:extLst>
                    <a:ext uri="{9D8B030D-6E8A-4147-A177-3AD203B41FA5}">
                      <a16:colId xmlns:a16="http://schemas.microsoft.com/office/drawing/2014/main" xmlns="" val="1267872223"/>
                    </a:ext>
                  </a:extLst>
                </a:gridCol>
              </a:tblGrid>
              <a:tr h="0">
                <a:tc>
                  <a:txBody>
                    <a:bodyPr/>
                    <a:lstStyle/>
                    <a:p>
                      <a:r>
                        <a:rPr lang="tr-TR" sz="1200">
                          <a:effectLst/>
                        </a:rPr>
                        <a:t>Yanlış</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Doğru</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040240172"/>
                  </a:ext>
                </a:extLst>
              </a:tr>
              <a:tr h="0">
                <a:tc>
                  <a:txBody>
                    <a:bodyPr/>
                    <a:lstStyle/>
                    <a:p>
                      <a:r>
                        <a:rPr lang="tr-TR" sz="1200">
                          <a:effectLst/>
                        </a:rPr>
                        <a:t>Açıklama yapmak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Açıklamak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4188582837"/>
                  </a:ext>
                </a:extLst>
              </a:tr>
              <a:tr h="0">
                <a:tc>
                  <a:txBody>
                    <a:bodyPr/>
                    <a:lstStyle/>
                    <a:p>
                      <a:r>
                        <a:rPr lang="tr-TR" sz="1200">
                          <a:effectLst/>
                        </a:rPr>
                        <a:t>Alkış almak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Alkışlanmak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740335784"/>
                  </a:ext>
                </a:extLst>
              </a:tr>
              <a:tr h="0">
                <a:tc>
                  <a:txBody>
                    <a:bodyPr/>
                    <a:lstStyle/>
                    <a:p>
                      <a:r>
                        <a:rPr lang="tr-TR" sz="1200">
                          <a:effectLst/>
                        </a:rPr>
                        <a:t>Beğeni almak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Beğenilmek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817567908"/>
                  </a:ext>
                </a:extLst>
              </a:tr>
              <a:tr h="0">
                <a:tc>
                  <a:txBody>
                    <a:bodyPr/>
                    <a:lstStyle/>
                    <a:p>
                      <a:r>
                        <a:rPr lang="tr-TR" sz="1200">
                          <a:effectLst/>
                        </a:rPr>
                        <a:t>Bekleme yapmak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Beklemek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236531084"/>
                  </a:ext>
                </a:extLst>
              </a:tr>
              <a:tr h="0">
                <a:tc>
                  <a:txBody>
                    <a:bodyPr/>
                    <a:lstStyle/>
                    <a:p>
                      <a:r>
                        <a:rPr lang="tr-TR" sz="1200">
                          <a:effectLst/>
                        </a:rPr>
                        <a:t>Duş almak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Yıkanmak/ çimmek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416426491"/>
                  </a:ext>
                </a:extLst>
              </a:tr>
              <a:tr h="0">
                <a:tc>
                  <a:txBody>
                    <a:bodyPr/>
                    <a:lstStyle/>
                    <a:p>
                      <a:r>
                        <a:rPr lang="tr-TR" sz="1200">
                          <a:effectLst/>
                        </a:rPr>
                        <a:t>Etki yapmak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Etkilemek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304641916"/>
                  </a:ext>
                </a:extLst>
              </a:tr>
              <a:tr h="0">
                <a:tc>
                  <a:txBody>
                    <a:bodyPr/>
                    <a:lstStyle/>
                    <a:p>
                      <a:r>
                        <a:rPr lang="tr-TR" sz="1200">
                          <a:effectLst/>
                        </a:rPr>
                        <a:t>İçki almak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İçki içmek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984075270"/>
                  </a:ext>
                </a:extLst>
              </a:tr>
              <a:tr h="0">
                <a:tc>
                  <a:txBody>
                    <a:bodyPr/>
                    <a:lstStyle/>
                    <a:p>
                      <a:r>
                        <a:rPr lang="tr-TR" sz="1200">
                          <a:effectLst/>
                        </a:rPr>
                        <a:t>İstek almak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İstenmek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786659469"/>
                  </a:ext>
                </a:extLst>
              </a:tr>
              <a:tr h="0">
                <a:tc>
                  <a:txBody>
                    <a:bodyPr/>
                    <a:lstStyle/>
                    <a:p>
                      <a:r>
                        <a:rPr lang="tr-TR" sz="1200">
                          <a:effectLst/>
                        </a:rPr>
                        <a:t>Katkı yapmak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Katkıda bulunmak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072313206"/>
                  </a:ext>
                </a:extLst>
              </a:tr>
              <a:tr h="0">
                <a:tc>
                  <a:txBody>
                    <a:bodyPr/>
                    <a:lstStyle/>
                    <a:p>
                      <a:r>
                        <a:rPr lang="tr-TR" sz="1200">
                          <a:effectLst/>
                        </a:rPr>
                        <a:t>Konuşma yapmak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Konuşmak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4069048022"/>
                  </a:ext>
                </a:extLst>
              </a:tr>
              <a:tr h="0">
                <a:tc>
                  <a:txBody>
                    <a:bodyPr/>
                    <a:lstStyle/>
                    <a:p>
                      <a:r>
                        <a:rPr lang="tr-TR" sz="1200">
                          <a:effectLst/>
                        </a:rPr>
                        <a:t>Panik yapmak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Paniğe kapılmak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296960242"/>
                  </a:ext>
                </a:extLst>
              </a:tr>
              <a:tr h="0">
                <a:tc>
                  <a:txBody>
                    <a:bodyPr/>
                    <a:lstStyle/>
                    <a:p>
                      <a:r>
                        <a:rPr lang="tr-TR" sz="1200">
                          <a:effectLst/>
                        </a:rPr>
                        <a:t>Sahne almak </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dirty="0">
                          <a:effectLst/>
                        </a:rPr>
                        <a:t>Sahneye çıkmak </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06314321"/>
                  </a:ext>
                </a:extLst>
              </a:tr>
            </a:tbl>
          </a:graphicData>
        </a:graphic>
      </p:graphicFrame>
      <p:sp>
        <p:nvSpPr>
          <p:cNvPr id="5" name="Metin kutusu 4">
            <a:extLst>
              <a:ext uri="{FF2B5EF4-FFF2-40B4-BE49-F238E27FC236}">
                <a16:creationId xmlns:a16="http://schemas.microsoft.com/office/drawing/2014/main" xmlns="" id="{83059261-68CB-814A-81BB-127121CBAD91}"/>
              </a:ext>
            </a:extLst>
          </p:cNvPr>
          <p:cNvSpPr txBox="1"/>
          <p:nvPr/>
        </p:nvSpPr>
        <p:spPr>
          <a:xfrm>
            <a:off x="1054100" y="1066800"/>
            <a:ext cx="8061181" cy="307777"/>
          </a:xfrm>
          <a:prstGeom prst="rect">
            <a:avLst/>
          </a:prstGeom>
          <a:noFill/>
        </p:spPr>
        <p:txBody>
          <a:bodyPr wrap="none" rtlCol="0">
            <a:spAutoFit/>
          </a:bodyPr>
          <a:lstStyle/>
          <a:p>
            <a:pPr lvl="0" defTabSz="914400" eaLnBrk="0" fontAlgn="base" hangingPunct="0">
              <a:spcBef>
                <a:spcPct val="0"/>
              </a:spcBef>
              <a:spcAft>
                <a:spcPct val="0"/>
              </a:spcAft>
            </a:pPr>
            <a:r>
              <a:rPr lang="tr-TR" altLang="tr-TR" sz="1400" b="1" dirty="0">
                <a:latin typeface="Arial" panose="020B0604020202020204" pitchFamily="34" charset="0"/>
                <a:ea typeface="Times New Roman" panose="02020603050405020304" pitchFamily="18" charset="0"/>
              </a:rPr>
              <a:t>Anlam Kopyalamalarından Kaynaklanan Yanlış Yardımcı Eylem Kullanımı ve Doğru Kullanımı</a:t>
            </a:r>
            <a:endParaRPr lang="tr-TR" altLang="tr-TR" sz="900" dirty="0">
              <a:latin typeface="Arial" panose="020B0604020202020204" pitchFamily="34" charset="0"/>
            </a:endParaRPr>
          </a:p>
        </p:txBody>
      </p:sp>
    </p:spTree>
    <p:extLst>
      <p:ext uri="{BB962C8B-B14F-4D97-AF65-F5344CB8AC3E}">
        <p14:creationId xmlns:p14="http://schemas.microsoft.com/office/powerpoint/2010/main" xmlns="" val="33476701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altLang="tr-TR" sz="2800" b="1" dirty="0">
                <a:latin typeface="Arial" panose="020B0604020202020204" pitchFamily="34" charset="0"/>
                <a:ea typeface="Times New Roman" panose="02020603050405020304" pitchFamily="18" charset="0"/>
              </a:rPr>
              <a:t>36. Bazı Sözcüklerin Kullanımında Dikkat Edilmesi Gereken Özellikler</a:t>
            </a:r>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o 1">
            <a:extLst>
              <a:ext uri="{FF2B5EF4-FFF2-40B4-BE49-F238E27FC236}">
                <a16:creationId xmlns:a16="http://schemas.microsoft.com/office/drawing/2014/main" xmlns="" id="{56A8EFD4-4750-E647-9BF6-334CD4F772DE}"/>
              </a:ext>
            </a:extLst>
          </p:cNvPr>
          <p:cNvGraphicFramePr>
            <a:graphicFrameLocks noGrp="1"/>
          </p:cNvGraphicFramePr>
          <p:nvPr>
            <p:extLst>
              <p:ext uri="{D42A27DB-BD31-4B8C-83A1-F6EECF244321}">
                <p14:modId xmlns:p14="http://schemas.microsoft.com/office/powerpoint/2010/main" xmlns="" val="1935287033"/>
              </p:ext>
            </p:extLst>
          </p:nvPr>
        </p:nvGraphicFramePr>
        <p:xfrm>
          <a:off x="1766570" y="1446689"/>
          <a:ext cx="5610860" cy="3153251"/>
        </p:xfrm>
        <a:graphic>
          <a:graphicData uri="http://schemas.openxmlformats.org/drawingml/2006/table">
            <a:tbl>
              <a:tblPr firstRow="1" firstCol="1" bandRow="1">
                <a:tableStyleId>{5C22544A-7EE6-4342-B048-85BDC9FD1C3A}</a:tableStyleId>
              </a:tblPr>
              <a:tblGrid>
                <a:gridCol w="2805430">
                  <a:extLst>
                    <a:ext uri="{9D8B030D-6E8A-4147-A177-3AD203B41FA5}">
                      <a16:colId xmlns:a16="http://schemas.microsoft.com/office/drawing/2014/main" xmlns="" val="3125987116"/>
                    </a:ext>
                  </a:extLst>
                </a:gridCol>
                <a:gridCol w="2805430">
                  <a:extLst>
                    <a:ext uri="{9D8B030D-6E8A-4147-A177-3AD203B41FA5}">
                      <a16:colId xmlns:a16="http://schemas.microsoft.com/office/drawing/2014/main" xmlns="" val="3489260439"/>
                    </a:ext>
                  </a:extLst>
                </a:gridCol>
              </a:tblGrid>
              <a:tr h="0">
                <a:tc>
                  <a:txBody>
                    <a:bodyPr/>
                    <a:lstStyle/>
                    <a:p>
                      <a:r>
                        <a:rPr lang="tr-TR" sz="1200">
                          <a:effectLst/>
                        </a:rPr>
                        <a:t>Yanlış</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Doğru</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472773709"/>
                  </a:ext>
                </a:extLst>
              </a:tr>
              <a:tr h="0">
                <a:tc>
                  <a:txBody>
                    <a:bodyPr/>
                    <a:lstStyle/>
                    <a:p>
                      <a:r>
                        <a:rPr lang="tr-TR" sz="1200">
                          <a:effectLst/>
                        </a:rPr>
                        <a:t>acemî</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acemi</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412438083"/>
                  </a:ext>
                </a:extLst>
              </a:tr>
              <a:tr h="227171">
                <a:tc>
                  <a:txBody>
                    <a:bodyPr/>
                    <a:lstStyle/>
                    <a:p>
                      <a:r>
                        <a:rPr lang="tr-TR" sz="1200">
                          <a:effectLst/>
                        </a:rPr>
                        <a:t>adele</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adale</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503783951"/>
                  </a:ext>
                </a:extLst>
              </a:tr>
              <a:tr h="0">
                <a:tc>
                  <a:txBody>
                    <a:bodyPr/>
                    <a:lstStyle/>
                    <a:p>
                      <a:r>
                        <a:rPr lang="tr-TR" sz="1200" dirty="0">
                          <a:effectLst/>
                        </a:rPr>
                        <a:t>afakan</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hafakan</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414276702"/>
                  </a:ext>
                </a:extLst>
              </a:tr>
              <a:tr h="0">
                <a:tc>
                  <a:txBody>
                    <a:bodyPr/>
                    <a:lstStyle/>
                    <a:p>
                      <a:r>
                        <a:rPr lang="tr-TR" sz="1200" dirty="0" err="1">
                          <a:effectLst/>
                        </a:rPr>
                        <a:t>aferim</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dirty="0">
                          <a:effectLst/>
                        </a:rPr>
                        <a:t>aferin</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886042288"/>
                  </a:ext>
                </a:extLst>
              </a:tr>
              <a:tr h="0">
                <a:tc>
                  <a:txBody>
                    <a:bodyPr/>
                    <a:lstStyle/>
                    <a:p>
                      <a:r>
                        <a:rPr lang="tr-TR" sz="1200" dirty="0" err="1">
                          <a:effectLst/>
                        </a:rPr>
                        <a:t>ahpap</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ahbap</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200033629"/>
                  </a:ext>
                </a:extLst>
              </a:tr>
              <a:tr h="0">
                <a:tc>
                  <a:txBody>
                    <a:bodyPr/>
                    <a:lstStyle/>
                    <a:p>
                      <a:r>
                        <a:rPr lang="tr-TR" sz="1200">
                          <a:effectLst/>
                        </a:rPr>
                        <a:t>aksesuvar</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aksesuar</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575672921"/>
                  </a:ext>
                </a:extLst>
              </a:tr>
              <a:tr h="0">
                <a:tc>
                  <a:txBody>
                    <a:bodyPr/>
                    <a:lstStyle/>
                    <a:p>
                      <a:r>
                        <a:rPr lang="tr-TR" sz="1200">
                          <a:effectLst/>
                        </a:rPr>
                        <a:t>alfâbe</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alfabe</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178558013"/>
                  </a:ext>
                </a:extLst>
              </a:tr>
              <a:tr h="0">
                <a:tc>
                  <a:txBody>
                    <a:bodyPr/>
                    <a:lstStyle/>
                    <a:p>
                      <a:r>
                        <a:rPr lang="tr-TR" sz="1200">
                          <a:effectLst/>
                        </a:rPr>
                        <a:t>aliminyum</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alüminyum</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195895234"/>
                  </a:ext>
                </a:extLst>
              </a:tr>
              <a:tr h="0">
                <a:tc>
                  <a:txBody>
                    <a:bodyPr/>
                    <a:lstStyle/>
                    <a:p>
                      <a:r>
                        <a:rPr lang="tr-TR" sz="1200">
                          <a:effectLst/>
                        </a:rPr>
                        <a:t>allerji</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alerji</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686024609"/>
                  </a:ext>
                </a:extLst>
              </a:tr>
              <a:tr h="0">
                <a:tc>
                  <a:txBody>
                    <a:bodyPr/>
                    <a:lstStyle/>
                    <a:p>
                      <a:r>
                        <a:rPr lang="tr-TR" sz="1200">
                          <a:effectLst/>
                        </a:rPr>
                        <a:t>anfi</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amfi</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652577354"/>
                  </a:ext>
                </a:extLst>
              </a:tr>
              <a:tr h="0">
                <a:tc>
                  <a:txBody>
                    <a:bodyPr/>
                    <a:lstStyle/>
                    <a:p>
                      <a:r>
                        <a:rPr lang="tr-TR" sz="1200">
                          <a:effectLst/>
                        </a:rPr>
                        <a:t>arabeks</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arabesk</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469477624"/>
                  </a:ext>
                </a:extLst>
              </a:tr>
              <a:tr h="0">
                <a:tc>
                  <a:txBody>
                    <a:bodyPr/>
                    <a:lstStyle/>
                    <a:p>
                      <a:r>
                        <a:rPr lang="tr-TR" sz="1200">
                          <a:effectLst/>
                        </a:rPr>
                        <a:t>artis</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artist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998287505"/>
                  </a:ext>
                </a:extLst>
              </a:tr>
              <a:tr h="0">
                <a:tc>
                  <a:txBody>
                    <a:bodyPr/>
                    <a:lstStyle/>
                    <a:p>
                      <a:r>
                        <a:rPr lang="tr-TR" sz="1200">
                          <a:effectLst/>
                        </a:rPr>
                        <a:t>askerî ücret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asgari ücret</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278462088"/>
                  </a:ext>
                </a:extLst>
              </a:tr>
              <a:tr h="0">
                <a:tc>
                  <a:txBody>
                    <a:bodyPr/>
                    <a:lstStyle/>
                    <a:p>
                      <a:r>
                        <a:rPr lang="tr-TR" sz="1200">
                          <a:effectLst/>
                        </a:rPr>
                        <a:t>azâmi</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azami</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3325810832"/>
                  </a:ext>
                </a:extLst>
              </a:tr>
              <a:tr h="0">
                <a:tc>
                  <a:txBody>
                    <a:bodyPr/>
                    <a:lstStyle/>
                    <a:p>
                      <a:r>
                        <a:rPr lang="tr-TR" sz="1200">
                          <a:effectLst/>
                        </a:rPr>
                        <a:t>bâkiye</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a:effectLst/>
                        </a:rPr>
                        <a:t>bakiye</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530264623"/>
                  </a:ext>
                </a:extLst>
              </a:tr>
              <a:tr h="0">
                <a:tc>
                  <a:txBody>
                    <a:bodyPr/>
                    <a:lstStyle/>
                    <a:p>
                      <a:r>
                        <a:rPr lang="tr-TR" sz="1200">
                          <a:effectLst/>
                        </a:rPr>
                        <a:t>bazan</a:t>
                      </a:r>
                      <a:endParaRPr lang="tr-TR"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tr-TR" sz="1200" dirty="0">
                          <a:effectLst/>
                        </a:rPr>
                        <a:t>bazen</a:t>
                      </a:r>
                      <a:endParaRPr lang="tr-T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864548756"/>
                  </a:ext>
                </a:extLst>
              </a:tr>
            </a:tbl>
          </a:graphicData>
        </a:graphic>
      </p:graphicFrame>
      <p:sp>
        <p:nvSpPr>
          <p:cNvPr id="5" name="Metin kutusu 4">
            <a:extLst>
              <a:ext uri="{FF2B5EF4-FFF2-40B4-BE49-F238E27FC236}">
                <a16:creationId xmlns:a16="http://schemas.microsoft.com/office/drawing/2014/main" xmlns="" id="{89DCB657-C4BD-8149-9199-64E2839A2386}"/>
              </a:ext>
            </a:extLst>
          </p:cNvPr>
          <p:cNvSpPr txBox="1"/>
          <p:nvPr/>
        </p:nvSpPr>
        <p:spPr>
          <a:xfrm>
            <a:off x="228600" y="849219"/>
            <a:ext cx="9578190" cy="523220"/>
          </a:xfrm>
          <a:prstGeom prst="rect">
            <a:avLst/>
          </a:prstGeom>
          <a:noFill/>
        </p:spPr>
        <p:txBody>
          <a:bodyPr wrap="square" rtlCol="0">
            <a:spAutoFit/>
          </a:bodyPr>
          <a:lstStyle/>
          <a:p>
            <a:pPr lvl="0" defTabSz="914400" eaLnBrk="0" fontAlgn="base" hangingPunct="0">
              <a:spcBef>
                <a:spcPct val="0"/>
              </a:spcBef>
              <a:spcAft>
                <a:spcPct val="0"/>
              </a:spcAft>
            </a:pPr>
            <a:r>
              <a:rPr lang="tr-TR" altLang="tr-TR" sz="1400" b="1" dirty="0">
                <a:latin typeface="Arial" panose="020B0604020202020204" pitchFamily="34" charset="0"/>
                <a:ea typeface="Times New Roman" panose="02020603050405020304" pitchFamily="18" charset="0"/>
              </a:rPr>
              <a:t>Başka dillerden dilimize giren bazı sözcükler Türkçede yanlış telaffuz edilmekte ve yazılmaktadır. </a:t>
            </a:r>
            <a:endParaRPr lang="tr-TR" altLang="tr-TR" sz="900" dirty="0">
              <a:latin typeface="Arial" panose="020B0604020202020204" pitchFamily="34" charset="0"/>
            </a:endParaRPr>
          </a:p>
          <a:p>
            <a:pPr lvl="0" defTabSz="914400" eaLnBrk="0" fontAlgn="base" hangingPunct="0">
              <a:spcBef>
                <a:spcPct val="0"/>
              </a:spcBef>
              <a:spcAft>
                <a:spcPct val="0"/>
              </a:spcAft>
            </a:pPr>
            <a:r>
              <a:rPr lang="tr-TR" altLang="tr-TR" sz="1400" b="1" dirty="0">
                <a:latin typeface="Arial" panose="020B0604020202020204" pitchFamily="34" charset="0"/>
                <a:ea typeface="Times New Roman" panose="02020603050405020304" pitchFamily="18" charset="0"/>
              </a:rPr>
              <a:t>Yanlış </a:t>
            </a:r>
            <a:r>
              <a:rPr lang="tr-TR" altLang="tr-TR" sz="1400" b="1" dirty="0" err="1">
                <a:latin typeface="Arial" panose="020B0604020202020204" pitchFamily="34" charset="0"/>
                <a:ea typeface="Times New Roman" panose="02020603050405020304" pitchFamily="18" charset="0"/>
              </a:rPr>
              <a:t>Sesletilen</a:t>
            </a:r>
            <a:r>
              <a:rPr lang="tr-TR" altLang="tr-TR" sz="1400" b="1" dirty="0">
                <a:latin typeface="Arial" panose="020B0604020202020204" pitchFamily="34" charset="0"/>
                <a:ea typeface="Times New Roman" panose="02020603050405020304" pitchFamily="18" charset="0"/>
              </a:rPr>
              <a:t> Sözcük Örnekleri</a:t>
            </a:r>
            <a:endParaRPr lang="tr-TR" altLang="tr-TR" sz="2000" dirty="0">
              <a:latin typeface="Arial" panose="020B0604020202020204" pitchFamily="34" charset="0"/>
            </a:endParaRPr>
          </a:p>
        </p:txBody>
      </p:sp>
    </p:spTree>
    <p:extLst>
      <p:ext uri="{BB962C8B-B14F-4D97-AF65-F5344CB8AC3E}">
        <p14:creationId xmlns:p14="http://schemas.microsoft.com/office/powerpoint/2010/main" xmlns="" val="27935816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37. Sözsüz İletişim</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etin kutusu 6">
            <a:extLst>
              <a:ext uri="{FF2B5EF4-FFF2-40B4-BE49-F238E27FC236}">
                <a16:creationId xmlns:a16="http://schemas.microsoft.com/office/drawing/2014/main" xmlns="" id="{0AEFB69C-DFEA-DF46-A54C-A2CD49CBF1B2}"/>
              </a:ext>
            </a:extLst>
          </p:cNvPr>
          <p:cNvSpPr txBox="1"/>
          <p:nvPr/>
        </p:nvSpPr>
        <p:spPr>
          <a:xfrm>
            <a:off x="177800" y="1308100"/>
            <a:ext cx="8737601" cy="2377574"/>
          </a:xfrm>
          <a:prstGeom prst="rect">
            <a:avLst/>
          </a:prstGeom>
          <a:noFill/>
        </p:spPr>
        <p:txBody>
          <a:bodyPr wrap="square" rtlCol="0">
            <a:spAutoFit/>
          </a:bodyPr>
          <a:lstStyle/>
          <a:p>
            <a:pPr marL="285750" indent="-285750">
              <a:buFont typeface="Arial" panose="020B0604020202020204" pitchFamily="34" charset="0"/>
              <a:buChar char="•"/>
            </a:pPr>
            <a:r>
              <a:rPr lang="tr-TR" dirty="0" err="1"/>
              <a:t>İletişim</a:t>
            </a:r>
            <a:r>
              <a:rPr lang="tr-TR" dirty="0"/>
              <a:t> kavramını kendi </a:t>
            </a:r>
            <a:r>
              <a:rPr lang="tr-TR" dirty="0" err="1"/>
              <a:t>içerisinde</a:t>
            </a:r>
            <a:r>
              <a:rPr lang="tr-TR" dirty="0"/>
              <a:t> </a:t>
            </a:r>
            <a:r>
              <a:rPr lang="tr-TR" dirty="0" err="1"/>
              <a:t>sözlu</a:t>
            </a:r>
            <a:r>
              <a:rPr lang="tr-TR" dirty="0"/>
              <a:t>̈ ve </a:t>
            </a:r>
            <a:r>
              <a:rPr lang="tr-TR" dirty="0" err="1"/>
              <a:t>sözsüz</a:t>
            </a:r>
            <a:r>
              <a:rPr lang="tr-TR" dirty="0"/>
              <a:t> </a:t>
            </a:r>
            <a:r>
              <a:rPr lang="tr-TR" dirty="0" err="1"/>
              <a:t>iletişim</a:t>
            </a:r>
            <a:r>
              <a:rPr lang="tr-TR" dirty="0"/>
              <a:t> olmak </a:t>
            </a:r>
            <a:r>
              <a:rPr lang="tr-TR" dirty="0" err="1"/>
              <a:t>üzere</a:t>
            </a:r>
            <a:r>
              <a:rPr lang="tr-TR" dirty="0"/>
              <a:t> ikiye ayırabiliriz. </a:t>
            </a:r>
          </a:p>
          <a:p>
            <a:pPr marL="285750" indent="-285750">
              <a:buFont typeface="Arial" panose="020B0604020202020204" pitchFamily="34" charset="0"/>
              <a:buChar char="•"/>
            </a:pPr>
            <a:r>
              <a:rPr lang="tr-TR" dirty="0"/>
              <a:t>Sözsüz mesajların etkisi %90 oranındadır (</a:t>
            </a:r>
            <a:r>
              <a:rPr lang="tr-TR" dirty="0" err="1"/>
              <a:t>Baltaş</a:t>
            </a:r>
            <a:r>
              <a:rPr lang="tr-TR" dirty="0"/>
              <a:t>; 2002: 1).</a:t>
            </a:r>
          </a:p>
          <a:p>
            <a:pPr marL="285750" indent="-285750">
              <a:buFont typeface="Arial" panose="020B0604020202020204" pitchFamily="34" charset="0"/>
              <a:buChar char="•"/>
            </a:pPr>
            <a:r>
              <a:rPr lang="tr-TR" dirty="0"/>
              <a:t>Sözlü dil ile beden dili (sessiz iletişim şekli olarak) alanlarının birbirine ne kadar yakın olabileceği duygularımızı anlatan kelimelerden anlaşılabilmektedir. </a:t>
            </a:r>
          </a:p>
          <a:p>
            <a:pPr marL="285750" indent="-285750" algn="just">
              <a:buFont typeface="Arial" panose="020B0604020202020204" pitchFamily="34" charset="0"/>
              <a:buChar char="•"/>
            </a:pPr>
            <a:r>
              <a:rPr lang="tr-TR" dirty="0"/>
              <a:t>Sevmenin yolu anlamaktan geçer. </a:t>
            </a:r>
          </a:p>
          <a:p>
            <a:pPr algn="just"/>
            <a:endParaRPr lang="tr-TR" dirty="0"/>
          </a:p>
          <a:p>
            <a:pPr marL="285750" indent="-285750" algn="just">
              <a:buFont typeface="Arial" panose="020B0604020202020204" pitchFamily="34" charset="0"/>
              <a:buChar char="•"/>
            </a:pPr>
            <a:r>
              <a:rPr lang="tr-TR" dirty="0" err="1"/>
              <a:t>Baltaş</a:t>
            </a:r>
            <a:r>
              <a:rPr lang="tr-TR" dirty="0"/>
              <a:t> (2002: 1) şunları söyler: “Sözsüz mesajlar; jestler, göz ve baş hareketleri, beden duruşu, yüz ifadeleri, mesafe, temas gibi beden dili öğeleriyle ifade edilir.”</a:t>
            </a:r>
          </a:p>
          <a:p>
            <a:pPr algn="just"/>
            <a:r>
              <a:rPr lang="tr-TR" dirty="0"/>
              <a:t> </a:t>
            </a:r>
          </a:p>
          <a:p>
            <a:pPr marL="285750" indent="-285750" algn="just">
              <a:buFont typeface="Arial" panose="020B0604020202020204" pitchFamily="34" charset="0"/>
              <a:buChar char="•"/>
            </a:pPr>
            <a:r>
              <a:rPr lang="tr-TR" dirty="0" err="1"/>
              <a:t>Schober</a:t>
            </a:r>
            <a:r>
              <a:rPr lang="tr-TR" dirty="0"/>
              <a:t> (2007: 30) ise : “Sessiz olan, sesli olan ve kişilerin görüntülerini tamamlayan şeyler” olmak üzere sözsüz iletişimi üç bölüme ayırarak tanımlamaktadır. </a:t>
            </a:r>
          </a:p>
        </p:txBody>
      </p:sp>
    </p:spTree>
    <p:extLst>
      <p:ext uri="{BB962C8B-B14F-4D97-AF65-F5344CB8AC3E}">
        <p14:creationId xmlns:p14="http://schemas.microsoft.com/office/powerpoint/2010/main" xmlns="" val="3974983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38. Sözsüz İletişim</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etin kutusu 6">
            <a:extLst>
              <a:ext uri="{FF2B5EF4-FFF2-40B4-BE49-F238E27FC236}">
                <a16:creationId xmlns:a16="http://schemas.microsoft.com/office/drawing/2014/main" xmlns="" id="{0AEFB69C-DFEA-DF46-A54C-A2CD49CBF1B2}"/>
              </a:ext>
            </a:extLst>
          </p:cNvPr>
          <p:cNvSpPr txBox="1"/>
          <p:nvPr/>
        </p:nvSpPr>
        <p:spPr>
          <a:xfrm flipH="1">
            <a:off x="6462045" y="770980"/>
            <a:ext cx="45719" cy="715581"/>
          </a:xfrm>
          <a:prstGeom prst="rect">
            <a:avLst/>
          </a:prstGeom>
          <a:noFill/>
        </p:spPr>
        <p:txBody>
          <a:bodyPr wrap="square" rtlCol="0">
            <a:spAutoFit/>
          </a:bodyPr>
          <a:lstStyle/>
          <a:p>
            <a:endParaRPr lang="tr-TR" dirty="0"/>
          </a:p>
          <a:p>
            <a:r>
              <a:rPr lang="tr-TR" dirty="0"/>
              <a:t> </a:t>
            </a:r>
          </a:p>
          <a:p>
            <a:endParaRPr lang="tr-TR" dirty="0"/>
          </a:p>
        </p:txBody>
      </p:sp>
      <p:sp>
        <p:nvSpPr>
          <p:cNvPr id="2" name="Metin kutusu 1">
            <a:extLst>
              <a:ext uri="{FF2B5EF4-FFF2-40B4-BE49-F238E27FC236}">
                <a16:creationId xmlns:a16="http://schemas.microsoft.com/office/drawing/2014/main" xmlns="" id="{9F554343-5ED6-154C-8B6D-17920610796B}"/>
              </a:ext>
            </a:extLst>
          </p:cNvPr>
          <p:cNvSpPr txBox="1"/>
          <p:nvPr/>
        </p:nvSpPr>
        <p:spPr>
          <a:xfrm>
            <a:off x="177801" y="1028700"/>
            <a:ext cx="4975831" cy="2585323"/>
          </a:xfrm>
          <a:prstGeom prst="rect">
            <a:avLst/>
          </a:prstGeom>
          <a:noFill/>
        </p:spPr>
        <p:txBody>
          <a:bodyPr wrap="square" rtlCol="0">
            <a:spAutoFit/>
          </a:bodyPr>
          <a:lstStyle/>
          <a:p>
            <a:pPr marL="285750" indent="-285750" algn="just">
              <a:buFont typeface="Arial" panose="020B0604020202020204" pitchFamily="34" charset="0"/>
              <a:buChar char="•"/>
            </a:pPr>
            <a:r>
              <a:rPr lang="tr-TR" dirty="0"/>
              <a:t>Çoğu zaman aklımızdan geçen ile dilimizden dökülen arasında fark olur. Sözcüklere yalan söyletsek de bedenimize yalan</a:t>
            </a:r>
          </a:p>
          <a:p>
            <a:pPr algn="just"/>
            <a:r>
              <a:rPr lang="tr-TR" dirty="0"/>
              <a:t>        söyletemeyiz. </a:t>
            </a:r>
          </a:p>
          <a:p>
            <a:pPr algn="just"/>
            <a:endParaRPr lang="tr-TR" dirty="0"/>
          </a:p>
          <a:p>
            <a:pPr marL="285750" indent="-285750" algn="just">
              <a:buFont typeface="Arial" panose="020B0604020202020204" pitchFamily="34" charset="0"/>
              <a:buChar char="•"/>
            </a:pPr>
            <a:r>
              <a:rPr lang="tr-TR" dirty="0"/>
              <a:t>İnsanlar genellikle sözcüklerine hâkim olmayı başarırken beden dillerine söz geçirmekte zorlanırlar. Jestler, duruş ve vücudun pozisyonu bir şeyler söyler. </a:t>
            </a:r>
          </a:p>
          <a:p>
            <a:pPr marL="285750" indent="-285750" algn="just">
              <a:buFont typeface="Arial" panose="020B0604020202020204" pitchFamily="34" charset="0"/>
              <a:buChar char="•"/>
            </a:pPr>
            <a:r>
              <a:rPr lang="tr-TR" dirty="0"/>
              <a:t>Tam olarak ifade etmediklerinde ya da içlerindeki duygusal karmaşayı yaratan şeyi maskelemeye çalıştıklarında baş, sırt, mide ağrıları, deri rahatsızlıkları, ülser, tümör, kanser hatta kalp hastalığı görülebiliyor (</a:t>
            </a:r>
            <a:r>
              <a:rPr lang="tr-TR" dirty="0" err="1"/>
              <a:t>Glass</a:t>
            </a:r>
            <a:r>
              <a:rPr lang="tr-TR" dirty="0"/>
              <a:t>, 1997: 178).</a:t>
            </a:r>
          </a:p>
          <a:p>
            <a:endParaRPr lang="tr-TR" dirty="0"/>
          </a:p>
        </p:txBody>
      </p:sp>
      <p:pic>
        <p:nvPicPr>
          <p:cNvPr id="13314" name="Picture 2" descr="güzel kızın izole farklı yüz ifadeleri ile kolaj - body language stok fotoğraflar ve resimler">
            <a:extLst>
              <a:ext uri="{FF2B5EF4-FFF2-40B4-BE49-F238E27FC236}">
                <a16:creationId xmlns:a16="http://schemas.microsoft.com/office/drawing/2014/main" xmlns="" id="{01AE313F-7A0A-8A40-997B-F0996244171B}"/>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flipH="1">
            <a:off x="5336508" y="1128770"/>
            <a:ext cx="3629691" cy="290017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1344433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Beden dilinin önemi</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Metin kutusu 1">
            <a:extLst>
              <a:ext uri="{FF2B5EF4-FFF2-40B4-BE49-F238E27FC236}">
                <a16:creationId xmlns:a16="http://schemas.microsoft.com/office/drawing/2014/main" xmlns="" id="{46626F10-84BE-4A48-80A2-E7A3B62F3298}"/>
              </a:ext>
            </a:extLst>
          </p:cNvPr>
          <p:cNvSpPr txBox="1"/>
          <p:nvPr/>
        </p:nvSpPr>
        <p:spPr>
          <a:xfrm>
            <a:off x="406401" y="1104900"/>
            <a:ext cx="5104384" cy="3208571"/>
          </a:xfrm>
          <a:prstGeom prst="rect">
            <a:avLst/>
          </a:prstGeom>
          <a:noFill/>
        </p:spPr>
        <p:txBody>
          <a:bodyPr wrap="square" rtlCol="0">
            <a:spAutoFit/>
          </a:bodyPr>
          <a:lstStyle/>
          <a:p>
            <a:r>
              <a:rPr lang="tr-TR" dirty="0"/>
              <a:t> Beden dili kullanımı; </a:t>
            </a:r>
          </a:p>
          <a:p>
            <a:r>
              <a:rPr lang="tr-TR" dirty="0"/>
              <a:t>-Kendimizi ifade etmeyi kolaylaştırır. </a:t>
            </a:r>
          </a:p>
          <a:p>
            <a:r>
              <a:rPr lang="tr-TR" dirty="0"/>
              <a:t>-Karşımızdaki insanı daha rahat anlamamızı sağlar. </a:t>
            </a:r>
          </a:p>
          <a:p>
            <a:r>
              <a:rPr lang="tr-TR" dirty="0"/>
              <a:t>-Konuşmaya bütünlük katar.</a:t>
            </a:r>
          </a:p>
          <a:p>
            <a:r>
              <a:rPr lang="tr-TR" dirty="0"/>
              <a:t> -Kendimizin ve ilişkide olduğumuz insanların iç dünyalarını anlamamızda bize önemli ipuçları sunar. </a:t>
            </a:r>
          </a:p>
          <a:p>
            <a:r>
              <a:rPr lang="tr-TR" dirty="0"/>
              <a:t> </a:t>
            </a:r>
          </a:p>
          <a:p>
            <a:pPr marL="285750" indent="-285750">
              <a:buFont typeface="Arial" panose="020B0604020202020204" pitchFamily="34" charset="0"/>
              <a:buChar char="•"/>
            </a:pPr>
            <a:r>
              <a:rPr lang="tr-TR" dirty="0"/>
              <a:t>Bir kişinin konuşurken ürettiği pek çok beden dili olmasına rağmen, kişi beden dili işaretlerini filtrelemeye, </a:t>
            </a:r>
          </a:p>
          <a:p>
            <a:r>
              <a:rPr lang="tr-TR" dirty="0"/>
              <a:t>       düzenlemeye veya kontrol etmeye çok az dikkat eder.</a:t>
            </a:r>
          </a:p>
          <a:p>
            <a:pPr marL="285750" indent="-285750">
              <a:buFont typeface="Arial" panose="020B0604020202020204" pitchFamily="34" charset="0"/>
              <a:buChar char="•"/>
            </a:pPr>
            <a:r>
              <a:rPr lang="tr-TR" dirty="0"/>
              <a:t>Aslında hemen herkes, beden dilini doğru bir şekilde kullanır. </a:t>
            </a:r>
          </a:p>
          <a:p>
            <a:pPr marL="285750" indent="-285750">
              <a:buFont typeface="Arial" panose="020B0604020202020204" pitchFamily="34" charset="0"/>
              <a:buChar char="•"/>
            </a:pPr>
            <a:r>
              <a:rPr lang="tr-TR" dirty="0"/>
              <a:t>Aynı zamanda karşımızdaki kişilerinde beden dillerini </a:t>
            </a:r>
          </a:p>
          <a:p>
            <a:r>
              <a:rPr lang="tr-TR" dirty="0"/>
              <a:t>        doğru bir şekilde anlarız. </a:t>
            </a:r>
          </a:p>
          <a:p>
            <a:pPr marL="285750" indent="-285750">
              <a:buFont typeface="Arial" panose="020B0604020202020204" pitchFamily="34" charset="0"/>
              <a:buChar char="•"/>
            </a:pPr>
            <a:r>
              <a:rPr lang="tr-TR" dirty="0"/>
              <a:t>Ancak, kişiler karşılarındakilerin beden dillerini değil, genellikle sözcüklerini dikkate alırlar (Göçmenler, 2011, s. 46).</a:t>
            </a:r>
          </a:p>
        </p:txBody>
      </p:sp>
      <p:pic>
        <p:nvPicPr>
          <p:cNvPr id="14340" name="Picture 4" descr="businessmen discussing in creative office - body language stok fotoğraflar ve resimler">
            <a:extLst>
              <a:ext uri="{FF2B5EF4-FFF2-40B4-BE49-F238E27FC236}">
                <a16:creationId xmlns:a16="http://schemas.microsoft.com/office/drawing/2014/main" xmlns="" id="{9E8DFA91-FF05-8E4C-B48B-AC38691393EF}"/>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213221" y="1089660"/>
            <a:ext cx="3930777" cy="294894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866495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40. İlk İzlenim</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etin kutusu 6">
            <a:extLst>
              <a:ext uri="{FF2B5EF4-FFF2-40B4-BE49-F238E27FC236}">
                <a16:creationId xmlns:a16="http://schemas.microsoft.com/office/drawing/2014/main" xmlns="" id="{0AEFB69C-DFEA-DF46-A54C-A2CD49CBF1B2}"/>
              </a:ext>
            </a:extLst>
          </p:cNvPr>
          <p:cNvSpPr txBox="1"/>
          <p:nvPr/>
        </p:nvSpPr>
        <p:spPr>
          <a:xfrm>
            <a:off x="177801" y="1308100"/>
            <a:ext cx="4272280" cy="1754326"/>
          </a:xfrm>
          <a:prstGeom prst="rect">
            <a:avLst/>
          </a:prstGeom>
          <a:noFill/>
        </p:spPr>
        <p:txBody>
          <a:bodyPr wrap="square" rtlCol="0">
            <a:spAutoFit/>
          </a:bodyPr>
          <a:lstStyle/>
          <a:p>
            <a:pPr marL="285750" indent="-285750">
              <a:buFont typeface="Arial" panose="020B0604020202020204" pitchFamily="34" charset="0"/>
              <a:buChar char="•"/>
            </a:pPr>
            <a:r>
              <a:rPr lang="tr-TR" dirty="0"/>
              <a:t>Beden dilinin önemiyle alakalı en önemli özelliklerden biri de ilk izlenim konusudur. </a:t>
            </a:r>
          </a:p>
          <a:p>
            <a:r>
              <a:rPr lang="tr-TR" dirty="0"/>
              <a:t>«Bir görüşte aşık oldum.», «Bu adamı hiç gözüm tutmadı.», «Ona birden kanım ısındı.»</a:t>
            </a:r>
          </a:p>
          <a:p>
            <a:r>
              <a:rPr lang="tr-TR" dirty="0"/>
              <a:t>Yukarıdaki cümleler, günlük hayatımızda birçok kez kullandığımız cümlelerdir. </a:t>
            </a:r>
          </a:p>
          <a:p>
            <a:endParaRPr lang="tr-TR" dirty="0"/>
          </a:p>
          <a:p>
            <a:pPr marL="285750" indent="-285750">
              <a:buFont typeface="Arial" panose="020B0604020202020204" pitchFamily="34" charset="0"/>
              <a:buChar char="•"/>
            </a:pPr>
            <a:r>
              <a:rPr lang="tr-TR" dirty="0"/>
              <a:t>Kararlarımızı bu ilk izlenime göre veririz. </a:t>
            </a:r>
          </a:p>
        </p:txBody>
      </p:sp>
      <p:pic>
        <p:nvPicPr>
          <p:cNvPr id="15362" name="Picture 2" descr="sizinle birlikte çalışmaktan memnun! - tanışma stok fotoğraflar ve resimler">
            <a:extLst>
              <a:ext uri="{FF2B5EF4-FFF2-40B4-BE49-F238E27FC236}">
                <a16:creationId xmlns:a16="http://schemas.microsoft.com/office/drawing/2014/main" xmlns="" id="{C9C447B2-79D8-2D4F-804E-0CF64EB24097}"/>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450081" y="1308100"/>
            <a:ext cx="4313682" cy="287578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8174577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41. Sözsüz İletişim</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etin kutusu 6">
            <a:extLst>
              <a:ext uri="{FF2B5EF4-FFF2-40B4-BE49-F238E27FC236}">
                <a16:creationId xmlns:a16="http://schemas.microsoft.com/office/drawing/2014/main" xmlns="" id="{0AEFB69C-DFEA-DF46-A54C-A2CD49CBF1B2}"/>
              </a:ext>
            </a:extLst>
          </p:cNvPr>
          <p:cNvSpPr txBox="1"/>
          <p:nvPr/>
        </p:nvSpPr>
        <p:spPr>
          <a:xfrm>
            <a:off x="177800" y="1308100"/>
            <a:ext cx="8551671" cy="2585323"/>
          </a:xfrm>
          <a:prstGeom prst="rect">
            <a:avLst/>
          </a:prstGeom>
          <a:noFill/>
        </p:spPr>
        <p:txBody>
          <a:bodyPr wrap="square" rtlCol="0">
            <a:spAutoFit/>
          </a:bodyPr>
          <a:lstStyle/>
          <a:p>
            <a:pPr marL="285750" indent="-285750">
              <a:buFont typeface="Arial" panose="020B0604020202020204" pitchFamily="34" charset="0"/>
              <a:buChar char="•"/>
            </a:pPr>
            <a:r>
              <a:rPr lang="tr-TR" dirty="0"/>
              <a:t>Beden dilinin kötü amaçlar için de kullanılması mümkündür. </a:t>
            </a:r>
          </a:p>
          <a:p>
            <a:pPr marL="285750" indent="-285750">
              <a:buFont typeface="Arial" panose="020B0604020202020204" pitchFamily="34" charset="0"/>
              <a:buChar char="•"/>
            </a:pPr>
            <a:r>
              <a:rPr lang="tr-TR" dirty="0"/>
              <a:t>Beden dilinin de etkisiyle provoke etmek kolaydır ve sonuçta istenmeyen olaylar yaşanması kaçınılmazdır. </a:t>
            </a:r>
          </a:p>
          <a:p>
            <a:pPr marL="285750" indent="-285750">
              <a:buFont typeface="Arial" panose="020B0604020202020204" pitchFamily="34" charset="0"/>
              <a:buChar char="•"/>
            </a:pPr>
            <a:r>
              <a:rPr lang="tr-TR" dirty="0"/>
              <a:t>Öbür yandan insanları iyiye, güzele, doğruya sevk etmek de mümkündür. Aşağıdaki örnek videoları izleyebilirsiniz. </a:t>
            </a:r>
          </a:p>
          <a:p>
            <a:r>
              <a:rPr lang="tr-TR" dirty="0"/>
              <a:t> </a:t>
            </a:r>
          </a:p>
          <a:p>
            <a:r>
              <a:rPr lang="tr-TR" dirty="0">
                <a:hlinkClick r:id="rId3"/>
              </a:rPr>
              <a:t>https://www.youtube.com/watch?v=KXKI331c-Zk</a:t>
            </a:r>
            <a:endParaRPr lang="tr-TR" dirty="0"/>
          </a:p>
          <a:p>
            <a:endParaRPr lang="tr-TR" dirty="0"/>
          </a:p>
          <a:p>
            <a:r>
              <a:rPr lang="tr-TR" dirty="0">
                <a:hlinkClick r:id="rId4"/>
              </a:rPr>
              <a:t>https://www.youtube.com/watch?v=RHOg3FA9UwU</a:t>
            </a:r>
            <a:r>
              <a:rPr lang="tr-TR" dirty="0"/>
              <a:t> </a:t>
            </a:r>
          </a:p>
          <a:p>
            <a:endParaRPr lang="tr-TR" dirty="0"/>
          </a:p>
          <a:p>
            <a:r>
              <a:rPr lang="tr-TR" dirty="0">
                <a:hlinkClick r:id="rId5"/>
              </a:rPr>
              <a:t>https://www.youtube.com/watch?v=UaCuZzK6r4o</a:t>
            </a:r>
            <a:r>
              <a:rPr lang="tr-TR" dirty="0"/>
              <a:t> </a:t>
            </a:r>
          </a:p>
          <a:p>
            <a:endParaRPr lang="tr-TR" dirty="0"/>
          </a:p>
          <a:p>
            <a:pPr marL="285750" indent="-285750">
              <a:buFont typeface="Arial" panose="020B0604020202020204" pitchFamily="34" charset="0"/>
              <a:buChar char="•"/>
            </a:pPr>
            <a:r>
              <a:rPr lang="tr-TR" dirty="0"/>
              <a:t> Aynı zamanda kişilerin karakterini tahlil ederken de beden dilinden faydalanırız.</a:t>
            </a:r>
          </a:p>
          <a:p>
            <a:endParaRPr lang="tr-TR" dirty="0"/>
          </a:p>
        </p:txBody>
      </p:sp>
    </p:spTree>
    <p:extLst>
      <p:ext uri="{BB962C8B-B14F-4D97-AF65-F5344CB8AC3E}">
        <p14:creationId xmlns:p14="http://schemas.microsoft.com/office/powerpoint/2010/main" xmlns="" val="5143699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42. Sözsüz İletişim</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etin kutusu 6">
            <a:extLst>
              <a:ext uri="{FF2B5EF4-FFF2-40B4-BE49-F238E27FC236}">
                <a16:creationId xmlns:a16="http://schemas.microsoft.com/office/drawing/2014/main" xmlns="" id="{0AEFB69C-DFEA-DF46-A54C-A2CD49CBF1B2}"/>
              </a:ext>
            </a:extLst>
          </p:cNvPr>
          <p:cNvSpPr txBox="1"/>
          <p:nvPr/>
        </p:nvSpPr>
        <p:spPr>
          <a:xfrm>
            <a:off x="177801" y="1308100"/>
            <a:ext cx="7820151" cy="1546577"/>
          </a:xfrm>
          <a:prstGeom prst="rect">
            <a:avLst/>
          </a:prstGeom>
          <a:noFill/>
        </p:spPr>
        <p:txBody>
          <a:bodyPr wrap="square" rtlCol="0">
            <a:spAutoFit/>
          </a:bodyPr>
          <a:lstStyle/>
          <a:p>
            <a:pPr marL="285750" indent="-285750">
              <a:buFont typeface="Arial" panose="020B0604020202020204" pitchFamily="34" charset="0"/>
              <a:buChar char="•"/>
            </a:pPr>
            <a:r>
              <a:rPr lang="tr-TR" dirty="0"/>
              <a:t>Birçok karar alma sürecinde beden dilinden faydalanırız. </a:t>
            </a:r>
          </a:p>
          <a:p>
            <a:pPr marL="285750" indent="-285750">
              <a:buFont typeface="Arial" panose="020B0604020202020204" pitchFamily="34" charset="0"/>
              <a:buChar char="•"/>
            </a:pPr>
            <a:r>
              <a:rPr lang="tr-TR" dirty="0"/>
              <a:t>Böylece beden dili, sosyal hayatımızda, günlük iletişimimizde yaşamımızın tam merkezinde yer alır. </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dirty="0"/>
              <a:t>Beden dilinin ne denli yaşamımızın merkezinde yer aldığını görmek için aşağıda adresi verilmiş videoyu izleyiniz.</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dirty="0" err="1"/>
              <a:t>https</a:t>
            </a:r>
            <a:r>
              <a:rPr lang="tr-TR" dirty="0"/>
              <a:t>://</a:t>
            </a:r>
            <a:r>
              <a:rPr lang="tr-TR" dirty="0" err="1"/>
              <a:t>www.youtube.com</a:t>
            </a:r>
            <a:r>
              <a:rPr lang="tr-TR" dirty="0"/>
              <a:t>/</a:t>
            </a:r>
            <a:r>
              <a:rPr lang="tr-TR" dirty="0" err="1"/>
              <a:t>watch?v</a:t>
            </a:r>
            <a:r>
              <a:rPr lang="tr-TR" dirty="0"/>
              <a:t>=XXyU82QgCi4</a:t>
            </a:r>
          </a:p>
        </p:txBody>
      </p:sp>
    </p:spTree>
    <p:extLst>
      <p:ext uri="{BB962C8B-B14F-4D97-AF65-F5344CB8AC3E}">
        <p14:creationId xmlns:p14="http://schemas.microsoft.com/office/powerpoint/2010/main" xmlns="" val="7530358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43.Beden Dilinin Özellikleri </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5486400"/>
            <a:ext cx="9144000" cy="155275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etin kutusu 6">
            <a:extLst>
              <a:ext uri="{FF2B5EF4-FFF2-40B4-BE49-F238E27FC236}">
                <a16:creationId xmlns:a16="http://schemas.microsoft.com/office/drawing/2014/main" xmlns="" id="{0AEFB69C-DFEA-DF46-A54C-A2CD49CBF1B2}"/>
              </a:ext>
            </a:extLst>
          </p:cNvPr>
          <p:cNvSpPr txBox="1"/>
          <p:nvPr/>
        </p:nvSpPr>
        <p:spPr>
          <a:xfrm>
            <a:off x="177800" y="1308100"/>
            <a:ext cx="7759191" cy="2377574"/>
          </a:xfrm>
          <a:prstGeom prst="rect">
            <a:avLst/>
          </a:prstGeom>
          <a:noFill/>
        </p:spPr>
        <p:txBody>
          <a:bodyPr wrap="square" rtlCol="0">
            <a:spAutoFit/>
          </a:bodyPr>
          <a:lstStyle/>
          <a:p>
            <a:r>
              <a:rPr lang="tr-TR" dirty="0"/>
              <a:t> </a:t>
            </a:r>
          </a:p>
          <a:p>
            <a:pPr marL="285750" indent="-285750">
              <a:buFont typeface="Arial" panose="020B0604020202020204" pitchFamily="34" charset="0"/>
              <a:buChar char="•"/>
            </a:pPr>
            <a:r>
              <a:rPr lang="tr-TR" dirty="0"/>
              <a:t>1. Beden dili evrensel özellikleri sebebiyle bir yönüyle kültürden ve toplumdan bağımsız iken bir yönüyle de toplumsal yapıya sıkı sıkıya bağlıdır. </a:t>
            </a:r>
          </a:p>
          <a:p>
            <a:r>
              <a:rPr lang="tr-TR" dirty="0"/>
              <a:t>Aşağıdaki videodaki kişilerin beden dillerine dikkat ediniz ve kültürün beden dilindeki önemine dikkat ediniz.</a:t>
            </a:r>
          </a:p>
          <a:p>
            <a:endParaRPr lang="tr-TR" dirty="0">
              <a:hlinkClick r:id="rId3"/>
            </a:endParaRPr>
          </a:p>
          <a:p>
            <a:r>
              <a:rPr lang="tr-TR" dirty="0">
                <a:hlinkClick r:id="rId3"/>
              </a:rPr>
              <a:t>https://www.youtube.com/watch?v=t2NytazrqHM&amp;t=2s</a:t>
            </a:r>
            <a:r>
              <a:rPr lang="tr-TR" dirty="0"/>
              <a:t> </a:t>
            </a:r>
          </a:p>
          <a:p>
            <a:endParaRPr lang="tr-TR" dirty="0"/>
          </a:p>
          <a:p>
            <a:pPr marL="285750" indent="-285750">
              <a:buFont typeface="Arial" panose="020B0604020202020204" pitchFamily="34" charset="0"/>
              <a:buChar char="•"/>
            </a:pPr>
            <a:r>
              <a:rPr lang="tr-TR" dirty="0"/>
              <a:t>2. Bedenin her yaptığı hareket önemlidir. Hiçbir hareket anlamsız ve rastgele değildir. </a:t>
            </a:r>
          </a:p>
          <a:p>
            <a:pPr marL="285750" indent="-285750">
              <a:buFont typeface="Arial" panose="020B0604020202020204" pitchFamily="34" charset="0"/>
              <a:buChar char="•"/>
            </a:pPr>
            <a:r>
              <a:rPr lang="tr-TR" dirty="0"/>
              <a:t>3. Hareketlerin hızı ve yoğunluğu önemlidir. </a:t>
            </a:r>
          </a:p>
          <a:p>
            <a:pPr marL="285750" indent="-285750">
              <a:buFont typeface="Arial" panose="020B0604020202020204" pitchFamily="34" charset="0"/>
              <a:buChar char="•"/>
            </a:pPr>
            <a:r>
              <a:rPr lang="tr-TR" dirty="0"/>
              <a:t>4. Beden hareketlerimizin ritmik ve akıcı olması da anlamını değiştirir. </a:t>
            </a:r>
          </a:p>
          <a:p>
            <a:pPr marL="285750" indent="-285750">
              <a:buFont typeface="Arial" panose="020B0604020202020204" pitchFamily="34" charset="0"/>
              <a:buChar char="•"/>
            </a:pPr>
            <a:r>
              <a:rPr lang="tr-TR" dirty="0"/>
              <a:t>5. İçinde bulunulan durum önemlidir. </a:t>
            </a:r>
          </a:p>
        </p:txBody>
      </p:sp>
    </p:spTree>
    <p:extLst>
      <p:ext uri="{BB962C8B-B14F-4D97-AF65-F5344CB8AC3E}">
        <p14:creationId xmlns:p14="http://schemas.microsoft.com/office/powerpoint/2010/main" xmlns="" val="19008044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Sözsüz İletişim</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etin kutusu 6">
            <a:extLst>
              <a:ext uri="{FF2B5EF4-FFF2-40B4-BE49-F238E27FC236}">
                <a16:creationId xmlns:a16="http://schemas.microsoft.com/office/drawing/2014/main" xmlns="" id="{0AEFB69C-DFEA-DF46-A54C-A2CD49CBF1B2}"/>
              </a:ext>
            </a:extLst>
          </p:cNvPr>
          <p:cNvSpPr txBox="1"/>
          <p:nvPr/>
        </p:nvSpPr>
        <p:spPr>
          <a:xfrm>
            <a:off x="177800" y="1308100"/>
            <a:ext cx="8737601" cy="1546577"/>
          </a:xfrm>
          <a:prstGeom prst="rect">
            <a:avLst/>
          </a:prstGeom>
          <a:noFill/>
        </p:spPr>
        <p:txBody>
          <a:bodyPr wrap="square" rtlCol="0">
            <a:spAutoFit/>
          </a:bodyPr>
          <a:lstStyle/>
          <a:p>
            <a:r>
              <a:rPr lang="tr-TR" dirty="0"/>
              <a:t>6. Beden dili işaretlerini kendi başına değerlendirmek yerine, onları bir bütün içinde işaret olarak görmeliyiz. </a:t>
            </a:r>
          </a:p>
          <a:p>
            <a:endParaRPr lang="tr-TR" dirty="0"/>
          </a:p>
          <a:p>
            <a:r>
              <a:rPr lang="tr-TR" dirty="0"/>
              <a:t>7. Algılama yeteneği yüksek olan kişinin bedeni daha çok etkilenir ve karşısındaki kişiyi daha çok etkiler. </a:t>
            </a:r>
          </a:p>
          <a:p>
            <a:r>
              <a:rPr lang="tr-TR" dirty="0"/>
              <a:t>8. Aksesuarlarla etrafa birçok mesaj verebilirsiniz. İnsanlar sizi «giysilerinizle» karşılar, «düşüncelerinizle» uğurlar ama düşüncelerinize giysileriniz ve aksesuarlarınız değer katar (</a:t>
            </a:r>
            <a:r>
              <a:rPr lang="tr-TR" dirty="0" err="1"/>
              <a:t>İzgören</a:t>
            </a:r>
            <a:r>
              <a:rPr lang="tr-TR" dirty="0"/>
              <a:t>; 2010: 158- 159).</a:t>
            </a:r>
          </a:p>
          <a:p>
            <a:endParaRPr lang="tr-TR" dirty="0"/>
          </a:p>
          <a:p>
            <a:r>
              <a:rPr lang="tr-TR" dirty="0">
                <a:hlinkClick r:id="rId3"/>
              </a:rPr>
              <a:t>https://www.youtube.com/watch?v=Eue5khF_gFI</a:t>
            </a:r>
            <a:r>
              <a:rPr lang="tr-TR" dirty="0"/>
              <a:t> </a:t>
            </a:r>
          </a:p>
        </p:txBody>
      </p:sp>
    </p:spTree>
    <p:extLst>
      <p:ext uri="{BB962C8B-B14F-4D97-AF65-F5344CB8AC3E}">
        <p14:creationId xmlns:p14="http://schemas.microsoft.com/office/powerpoint/2010/main" xmlns="" val="1509659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45. Sözsüz İletişim</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etin kutusu 6">
            <a:extLst>
              <a:ext uri="{FF2B5EF4-FFF2-40B4-BE49-F238E27FC236}">
                <a16:creationId xmlns:a16="http://schemas.microsoft.com/office/drawing/2014/main" xmlns="" id="{0AEFB69C-DFEA-DF46-A54C-A2CD49CBF1B2}"/>
              </a:ext>
            </a:extLst>
          </p:cNvPr>
          <p:cNvSpPr txBox="1"/>
          <p:nvPr/>
        </p:nvSpPr>
        <p:spPr>
          <a:xfrm>
            <a:off x="177800" y="1308100"/>
            <a:ext cx="8737601" cy="2169825"/>
          </a:xfrm>
          <a:prstGeom prst="rect">
            <a:avLst/>
          </a:prstGeom>
          <a:noFill/>
        </p:spPr>
        <p:txBody>
          <a:bodyPr wrap="square" rtlCol="0">
            <a:spAutoFit/>
          </a:bodyPr>
          <a:lstStyle/>
          <a:p>
            <a:r>
              <a:rPr lang="tr-TR" dirty="0"/>
              <a:t>9. Uzun süredir tanıdığımız kişilerin sinyalleri, tanımadığımız kişilere nazaran bize daha ayrıntılı bilgiler verir. </a:t>
            </a:r>
          </a:p>
          <a:p>
            <a:endParaRPr lang="tr-TR" dirty="0"/>
          </a:p>
          <a:p>
            <a:r>
              <a:rPr lang="tr-TR" dirty="0"/>
              <a:t>10. Kadınlar beden dilini okuma konusunda erkeklere oranla çok daha yeteneklidir. </a:t>
            </a:r>
          </a:p>
          <a:p>
            <a:endParaRPr lang="tr-TR" dirty="0"/>
          </a:p>
          <a:p>
            <a:r>
              <a:rPr lang="tr-TR" dirty="0"/>
              <a:t>11. Beden dilinin farklılaştığı noktalar vardır. Beden dili ülkelere, bölgelere, mesleklere, yetiştirilme tarzına göre değişir.</a:t>
            </a:r>
          </a:p>
          <a:p>
            <a:endParaRPr lang="tr-TR" dirty="0"/>
          </a:p>
          <a:p>
            <a:r>
              <a:rPr lang="tr-TR" dirty="0"/>
              <a:t>12. Sadece göğüs açıklığına bakarak bir insanın kişilik yapısı ve içinde bulunduğu duygu durumu konusunda bilgi sahibi olmak mümkündür. </a:t>
            </a:r>
          </a:p>
          <a:p>
            <a:endParaRPr lang="tr-TR" dirty="0"/>
          </a:p>
          <a:p>
            <a:r>
              <a:rPr lang="tr-TR" dirty="0"/>
              <a:t> </a:t>
            </a:r>
          </a:p>
        </p:txBody>
      </p:sp>
    </p:spTree>
    <p:extLst>
      <p:ext uri="{BB962C8B-B14F-4D97-AF65-F5344CB8AC3E}">
        <p14:creationId xmlns:p14="http://schemas.microsoft.com/office/powerpoint/2010/main" xmlns="" val="38168683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46. Beden Dili ile İlgili Bilgiler</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etin kutusu 6">
            <a:extLst>
              <a:ext uri="{FF2B5EF4-FFF2-40B4-BE49-F238E27FC236}">
                <a16:creationId xmlns:a16="http://schemas.microsoft.com/office/drawing/2014/main" xmlns="" id="{0AEFB69C-DFEA-DF46-A54C-A2CD49CBF1B2}"/>
              </a:ext>
            </a:extLst>
          </p:cNvPr>
          <p:cNvSpPr txBox="1"/>
          <p:nvPr/>
        </p:nvSpPr>
        <p:spPr>
          <a:xfrm>
            <a:off x="177800" y="1308100"/>
            <a:ext cx="8737601" cy="3624069"/>
          </a:xfrm>
          <a:prstGeom prst="rect">
            <a:avLst/>
          </a:prstGeom>
          <a:noFill/>
        </p:spPr>
        <p:txBody>
          <a:bodyPr wrap="square" rtlCol="0">
            <a:spAutoFit/>
          </a:bodyPr>
          <a:lstStyle/>
          <a:p>
            <a:r>
              <a:rPr lang="tr-TR" dirty="0"/>
              <a:t> Konu ile ilgili </a:t>
            </a:r>
            <a:r>
              <a:rPr lang="tr-TR" dirty="0" err="1"/>
              <a:t>Schober</a:t>
            </a:r>
            <a:r>
              <a:rPr lang="tr-TR" dirty="0"/>
              <a:t> (2007: 45)’in tespitlerine yer vererek bu konuyu daha da somutlaştırmak mümkün olabilecektir. Beden dili ile ilgili </a:t>
            </a:r>
            <a:r>
              <a:rPr lang="tr-TR" dirty="0" err="1"/>
              <a:t>Schober</a:t>
            </a:r>
            <a:r>
              <a:rPr lang="tr-TR" dirty="0"/>
              <a:t> şu bilgileri sıralamıştır : </a:t>
            </a:r>
          </a:p>
          <a:p>
            <a:pPr marL="342900" indent="-342900">
              <a:buAutoNum type="arabicPeriod"/>
            </a:pPr>
            <a:r>
              <a:rPr lang="tr-TR" dirty="0"/>
              <a:t>Arkaya yaslanıp elleri kenetleme hareketi karşı koymayı anlatır. </a:t>
            </a:r>
          </a:p>
          <a:p>
            <a:pPr marL="342900" indent="-342900">
              <a:buAutoNum type="arabicPeriod"/>
            </a:pPr>
            <a:r>
              <a:rPr lang="tr-TR" dirty="0"/>
              <a:t>Önemli görülen biri karşısında tam olarak koltuğa yaslanılmaz. </a:t>
            </a:r>
          </a:p>
          <a:p>
            <a:pPr marL="342900" indent="-342900">
              <a:buAutoNum type="arabicPeriod"/>
            </a:pPr>
            <a:r>
              <a:rPr lang="tr-TR" dirty="0"/>
              <a:t>Konuşan kişi sözünü bitirdiği zaman başını hafifçe sallayarak karşısındakine bildirir. </a:t>
            </a:r>
          </a:p>
          <a:p>
            <a:pPr marL="342900" indent="-342900">
              <a:buAutoNum type="arabicPeriod"/>
            </a:pPr>
            <a:r>
              <a:rPr lang="tr-TR" dirty="0"/>
              <a:t>Dinleyicinin katılmadığı bir fikir ileri sürüldüğünde duruş değişir ve karşı çıkılmaya hazırlanılır.  </a:t>
            </a:r>
          </a:p>
          <a:p>
            <a:pPr marL="342900" indent="-342900">
              <a:buAutoNum type="arabicPeriod"/>
            </a:pPr>
            <a:r>
              <a:rPr lang="tr-TR" dirty="0"/>
              <a:t>El hareketleri doğru kullanıldığı zaman söylemimizi güçlendirir. </a:t>
            </a:r>
          </a:p>
          <a:p>
            <a:pPr marL="342900" indent="-342900">
              <a:buAutoNum type="arabicPeriod"/>
            </a:pPr>
            <a:r>
              <a:rPr lang="tr-TR" dirty="0"/>
              <a:t>Beden aksi yöne eğimli veya araya bariyer koyulmuşsa -el ve kol kavuşturulmuş ise- bu dışlayan bir duruştur.</a:t>
            </a:r>
          </a:p>
          <a:p>
            <a:pPr marL="342900" indent="-342900">
              <a:buAutoNum type="arabicPeriod"/>
            </a:pPr>
            <a:r>
              <a:rPr lang="tr-TR" dirty="0"/>
              <a:t> Selamlaşma esnasında bilinçli olarak yapılan gülümseme pozitif tavrı gösterir.</a:t>
            </a:r>
          </a:p>
          <a:p>
            <a:r>
              <a:rPr lang="tr-TR" dirty="0"/>
              <a:t>8. Alışveriş esnasında eğer alınmak istenen ürüne karşı ilgi gösteriliyorsa göz bebekleri büyür. </a:t>
            </a:r>
          </a:p>
          <a:p>
            <a:r>
              <a:rPr lang="tr-TR" dirty="0"/>
              <a:t>9. Uzun süre bakan kişilerin kısa süre bakan kişilere oranla daha dominant olduklarını söylemek mümkündür. </a:t>
            </a:r>
          </a:p>
          <a:p>
            <a:r>
              <a:rPr lang="tr-TR" dirty="0"/>
              <a:t>10. Kendisine en çok bakılan kişi en çok itibar sahibidir. </a:t>
            </a:r>
          </a:p>
          <a:p>
            <a:r>
              <a:rPr lang="tr-TR" dirty="0"/>
              <a:t>11. Üç metre sınırına varmadan önce, </a:t>
            </a:r>
          </a:p>
          <a:p>
            <a:r>
              <a:rPr lang="tr-TR" dirty="0"/>
              <a:t>12. İki kişinin bedenlerinin üst bölgeleri birbirine karşı ya da paralel ise… </a:t>
            </a:r>
          </a:p>
          <a:p>
            <a:r>
              <a:rPr lang="tr-TR" dirty="0"/>
              <a:t>13. Davranış ve beden dili araştırmacıları, âşık çiftlerin çok sık bakıştıklarını ve bu bakışların karşısındakini kazanma çabası olduğunu söylüyorlar (</a:t>
            </a:r>
            <a:r>
              <a:rPr lang="tr-TR" dirty="0" err="1"/>
              <a:t>Schober</a:t>
            </a:r>
            <a:r>
              <a:rPr lang="tr-TR" dirty="0"/>
              <a:t>; 2007: 55).</a:t>
            </a:r>
          </a:p>
          <a:p>
            <a:pPr marL="342900" indent="-342900">
              <a:buAutoNum type="arabicPeriod"/>
            </a:pPr>
            <a:endParaRPr lang="tr-TR" dirty="0"/>
          </a:p>
        </p:txBody>
      </p:sp>
    </p:spTree>
    <p:extLst>
      <p:ext uri="{BB962C8B-B14F-4D97-AF65-F5344CB8AC3E}">
        <p14:creationId xmlns:p14="http://schemas.microsoft.com/office/powerpoint/2010/main" xmlns="" val="30849153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t>Sonuç</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etin kutusu 6">
            <a:extLst>
              <a:ext uri="{FF2B5EF4-FFF2-40B4-BE49-F238E27FC236}">
                <a16:creationId xmlns:a16="http://schemas.microsoft.com/office/drawing/2014/main" xmlns="" id="{0AEFB69C-DFEA-DF46-A54C-A2CD49CBF1B2}"/>
              </a:ext>
            </a:extLst>
          </p:cNvPr>
          <p:cNvSpPr txBox="1"/>
          <p:nvPr/>
        </p:nvSpPr>
        <p:spPr>
          <a:xfrm>
            <a:off x="177800" y="1308100"/>
            <a:ext cx="8737601" cy="1338828"/>
          </a:xfrm>
          <a:prstGeom prst="rect">
            <a:avLst/>
          </a:prstGeom>
          <a:noFill/>
        </p:spPr>
        <p:txBody>
          <a:bodyPr wrap="square" rtlCol="0">
            <a:spAutoFit/>
          </a:bodyPr>
          <a:lstStyle/>
          <a:p>
            <a:endParaRPr lang="tr-TR" dirty="0"/>
          </a:p>
          <a:p>
            <a:pPr marL="285750" indent="-285750">
              <a:buFont typeface="Arial" panose="020B0604020202020204" pitchFamily="34" charset="0"/>
              <a:buChar char="•"/>
            </a:pPr>
            <a:r>
              <a:rPr lang="tr-TR" dirty="0"/>
              <a:t> Sözlü ve sözsüz anlatım iletişimin en temel iki kavramıdır. </a:t>
            </a:r>
          </a:p>
          <a:p>
            <a:pPr marL="285750" indent="-285750">
              <a:buFont typeface="Arial" panose="020B0604020202020204" pitchFamily="34" charset="0"/>
              <a:buChar char="•"/>
            </a:pPr>
            <a:r>
              <a:rPr lang="tr-TR" dirty="0"/>
              <a:t>Yaşamımızın merkezinde yer almaktadır. Çünkü insan toplumsal bir varlıktır. </a:t>
            </a:r>
          </a:p>
          <a:p>
            <a:pPr marL="285750" indent="-285750">
              <a:buFont typeface="Arial" panose="020B0604020202020204" pitchFamily="34" charset="0"/>
              <a:buChar char="•"/>
            </a:pPr>
            <a:r>
              <a:rPr lang="tr-TR" dirty="0"/>
              <a:t>Düşüncelerini, duygularını anlatmak, insanın en temel yaşamsal ihtiyaçlarındandır. </a:t>
            </a:r>
          </a:p>
          <a:p>
            <a:pPr marL="285750" indent="-285750">
              <a:buFont typeface="Arial" panose="020B0604020202020204" pitchFamily="34" charset="0"/>
              <a:buChar char="•"/>
            </a:pPr>
            <a:r>
              <a:rPr lang="tr-TR" dirty="0"/>
              <a:t>Kendisini doğru ve etkili ifade edebilen bireyler sosyal ve iş yaşamlarında çok daha başarılı olabileceklerdir. </a:t>
            </a:r>
          </a:p>
          <a:p>
            <a:endParaRPr lang="tr-TR" dirty="0"/>
          </a:p>
        </p:txBody>
      </p:sp>
    </p:spTree>
    <p:extLst>
      <p:ext uri="{BB962C8B-B14F-4D97-AF65-F5344CB8AC3E}">
        <p14:creationId xmlns:p14="http://schemas.microsoft.com/office/powerpoint/2010/main" xmlns="" val="34854053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solidFill>
                  <a:schemeClr val="tx1"/>
                </a:solidFill>
              </a:rPr>
              <a:t>Önerilen Kaynaklar</a:t>
            </a:r>
            <a:endParaRPr lang="en-US" sz="2800" dirty="0">
              <a:solidFill>
                <a:schemeClr val="tx1"/>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1143000" y="1009404"/>
            <a:ext cx="6858000" cy="3816840"/>
          </a:xfrm>
        </p:spPr>
        <p:txBody>
          <a:bodyPr>
            <a:normAutofit fontScale="47500" lnSpcReduction="20000"/>
          </a:bodyPr>
          <a:lstStyle/>
          <a:p>
            <a:pPr algn="just"/>
            <a:r>
              <a:rPr lang="tr-TR" dirty="0">
                <a:hlinkClick r:id="rId3"/>
              </a:rPr>
              <a:t>https://www.ted.com/talks/amy_cuddy_your_body_language_may_shape_who_you_are?language=tr</a:t>
            </a:r>
          </a:p>
          <a:p>
            <a:pPr algn="just"/>
            <a:r>
              <a:rPr lang="tr-TR" dirty="0">
                <a:hlinkClick r:id="rId3"/>
              </a:rPr>
              <a:t>https://www.youtube.com/watch?v=Pa1uwQHegSA&amp;list=PLaKLxbauAT7ErbB4fb4AyA0xuUNsUqH5a </a:t>
            </a:r>
          </a:p>
          <a:p>
            <a:pPr algn="just"/>
            <a:r>
              <a:rPr lang="tr-TR" dirty="0">
                <a:hlinkClick r:id="rId3"/>
              </a:rPr>
              <a:t>Pes ve Tiz ses hakkında: </a:t>
            </a:r>
          </a:p>
          <a:p>
            <a:pPr algn="just"/>
            <a:r>
              <a:rPr lang="tr-TR" dirty="0">
                <a:hlinkClick r:id="rId3"/>
              </a:rPr>
              <a:t>https://www.youtube.com/watch?v=OqAvOLulMMk</a:t>
            </a:r>
            <a:r>
              <a:rPr lang="tr-TR" dirty="0"/>
              <a:t> </a:t>
            </a:r>
          </a:p>
          <a:p>
            <a:pPr algn="just"/>
            <a:r>
              <a:rPr lang="tr-TR" dirty="0">
                <a:hlinkClick r:id="rId4"/>
              </a:rPr>
              <a:t>https://www.youtube.com/watch?v=Eue5khF_gFI</a:t>
            </a:r>
            <a:r>
              <a:rPr lang="tr-TR" dirty="0"/>
              <a:t> </a:t>
            </a:r>
          </a:p>
          <a:p>
            <a:pPr algn="just"/>
            <a:r>
              <a:rPr lang="tr-TR" b="1" dirty="0">
                <a:hlinkClick r:id="rId5"/>
              </a:rPr>
              <a:t>Dilimizi özenli kullanalım: </a:t>
            </a:r>
          </a:p>
          <a:p>
            <a:pPr algn="just"/>
            <a:r>
              <a:rPr lang="tr-TR" dirty="0">
                <a:hlinkClick r:id="rId5"/>
              </a:rPr>
              <a:t>https://www.youtube.com/watch?v=nhumx8Ii5qs&amp;t=136s </a:t>
            </a:r>
          </a:p>
          <a:p>
            <a:pPr algn="just"/>
            <a:r>
              <a:rPr lang="tr-TR" dirty="0">
                <a:hlinkClick r:id="rId5"/>
              </a:rPr>
              <a:t>https://www.youtube.com/watch?v=pQ46I_M5X6I</a:t>
            </a:r>
            <a:r>
              <a:rPr lang="tr-TR" dirty="0"/>
              <a:t> </a:t>
            </a:r>
          </a:p>
          <a:p>
            <a:pPr algn="just"/>
            <a:r>
              <a:rPr lang="tr-TR" dirty="0"/>
              <a:t>Film Önerisi: Ölü Ozanlar Derneği </a:t>
            </a:r>
            <a:r>
              <a:rPr lang="tr-TR" dirty="0">
                <a:hlinkClick r:id="rId6"/>
              </a:rPr>
              <a:t>https://www.youtube.com/watch?v=yeoQHi-vpkY</a:t>
            </a:r>
            <a:r>
              <a:rPr lang="tr-TR" dirty="0"/>
              <a:t> </a:t>
            </a:r>
          </a:p>
          <a:p>
            <a:pPr algn="just"/>
            <a:r>
              <a:rPr lang="tr-TR" dirty="0"/>
              <a:t>Filmi Önerisi: Deli ve Dahi </a:t>
            </a:r>
            <a:r>
              <a:rPr lang="tr-TR" dirty="0">
                <a:hlinkClick r:id="rId7"/>
              </a:rPr>
              <a:t>https://www.youtube.com/watch?v=Su8FzGL3Pq0</a:t>
            </a:r>
            <a:r>
              <a:rPr lang="tr-TR" dirty="0"/>
              <a:t> </a:t>
            </a:r>
          </a:p>
          <a:p>
            <a:pPr algn="just"/>
            <a:r>
              <a:rPr lang="tr-TR" dirty="0"/>
              <a:t>Dizi Önerisi: Yedi Güzel Adam </a:t>
            </a:r>
            <a:r>
              <a:rPr lang="tr-TR" dirty="0">
                <a:hlinkClick r:id="rId8"/>
              </a:rPr>
              <a:t>https://www.youtube.com/watch?v=0hjKGIBzy90</a:t>
            </a:r>
            <a:r>
              <a:rPr lang="tr-TR" dirty="0"/>
              <a:t> </a:t>
            </a:r>
          </a:p>
          <a:p>
            <a:pPr algn="just"/>
            <a:r>
              <a:rPr lang="tr-TR" dirty="0"/>
              <a:t>Benim önerim: Şiir okuyun, Türkü ezberleyin gençler! Sözlü anlatımınız tavan yapacak, bana güvenin;)</a:t>
            </a:r>
          </a:p>
          <a:p>
            <a:pPr algn="just"/>
            <a:endParaRPr lang="tr-TR" dirty="0"/>
          </a:p>
          <a:p>
            <a:pPr algn="just"/>
            <a:r>
              <a:rPr lang="tr-TR" b="1" dirty="0"/>
              <a:t>Kaynakça</a:t>
            </a:r>
          </a:p>
          <a:p>
            <a:pPr algn="just"/>
            <a:r>
              <a:rPr lang="tr-TR" dirty="0"/>
              <a:t>ALTINTAŞ, Ersin ve D. ÇAMUR. (2001). Sözsüz İletişim ve Beden Dili, Ankara: Nobel Yayın.</a:t>
            </a:r>
          </a:p>
          <a:p>
            <a:pPr algn="just"/>
            <a:r>
              <a:rPr lang="tr-TR" dirty="0" err="1"/>
              <a:t>BALTAŞ,Acar</a:t>
            </a:r>
            <a:r>
              <a:rPr lang="tr-TR" dirty="0"/>
              <a:t>(2002):Bedenin Dili, </a:t>
            </a:r>
            <a:r>
              <a:rPr lang="tr-TR" dirty="0" err="1"/>
              <a:t>İstanbul:Remzi</a:t>
            </a:r>
            <a:r>
              <a:rPr lang="tr-TR" dirty="0"/>
              <a:t> Kitapevi.</a:t>
            </a:r>
          </a:p>
          <a:p>
            <a:pPr algn="just"/>
            <a:r>
              <a:rPr lang="tr-TR" dirty="0"/>
              <a:t>DÖKMEN, Üstün (2003). İletişim Çalışmaları ve Empati, </a:t>
            </a:r>
            <a:r>
              <a:rPr lang="tr-TR" dirty="0" err="1"/>
              <a:t>İstanbul:Sistem</a:t>
            </a:r>
            <a:r>
              <a:rPr lang="tr-TR" dirty="0"/>
              <a:t> </a:t>
            </a:r>
            <a:r>
              <a:rPr lang="tr-TR" dirty="0" err="1"/>
              <a:t>Yayıncıl</a:t>
            </a:r>
            <a:endParaRPr lang="tr-TR" dirty="0"/>
          </a:p>
          <a:p>
            <a:pPr algn="just"/>
            <a:r>
              <a:rPr lang="tr-TR" dirty="0"/>
              <a:t>DURMUŞ, Mustafa. (2015). Sözlü Anlatım (Türk Dili ve Edebiyatı Kitabı). Anadolu Üniversitesi Yayınları</a:t>
            </a:r>
          </a:p>
          <a:p>
            <a:pPr algn="just"/>
            <a:r>
              <a:rPr lang="tr-TR" dirty="0"/>
              <a:t>EKMAN, Paul. (2009). Ne Düşündüğünü Biliyorum.(Çev. Esra Karababa).İstanbul Koridor Yayınları.</a:t>
            </a:r>
          </a:p>
        </p:txBody>
      </p:sp>
    </p:spTree>
    <p:extLst>
      <p:ext uri="{BB962C8B-B14F-4D97-AF65-F5344CB8AC3E}">
        <p14:creationId xmlns:p14="http://schemas.microsoft.com/office/powerpoint/2010/main" xmlns="" val="27950191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dirty="0">
                <a:solidFill>
                  <a:schemeClr val="tx1"/>
                </a:solidFill>
              </a:rPr>
              <a:t>Önerilen Kaynaklar</a:t>
            </a:r>
            <a:endParaRPr lang="en-US" sz="2800" dirty="0">
              <a:solidFill>
                <a:schemeClr val="tx1"/>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lt Başlık 9"/>
          <p:cNvSpPr>
            <a:spLocks noGrp="1"/>
          </p:cNvSpPr>
          <p:nvPr>
            <p:ph type="subTitle" idx="1"/>
          </p:nvPr>
        </p:nvSpPr>
        <p:spPr>
          <a:xfrm>
            <a:off x="224287" y="849219"/>
            <a:ext cx="8678173" cy="3826298"/>
          </a:xfrm>
        </p:spPr>
        <p:txBody>
          <a:bodyPr>
            <a:normAutofit lnSpcReduction="10000"/>
          </a:bodyPr>
          <a:lstStyle/>
          <a:p>
            <a:pPr algn="just"/>
            <a:r>
              <a:rPr lang="tr-TR" dirty="0"/>
              <a:t>İZGÖREN, </a:t>
            </a:r>
            <a:r>
              <a:rPr lang="tr-TR" dirty="0" err="1"/>
              <a:t>A.Şerif</a:t>
            </a:r>
            <a:r>
              <a:rPr lang="tr-TR" dirty="0"/>
              <a:t>. (2010). Dikkat, Vücudunuz Konuşuyor!. Ankara : Elma Yayınevi.</a:t>
            </a:r>
          </a:p>
          <a:p>
            <a:pPr algn="just"/>
            <a:r>
              <a:rPr lang="tr-TR" dirty="0"/>
              <a:t>LAYİÇ, Şafak. (2007). Beden Dili. İstanbul : Yakamoz Gelişim Yayınları.</a:t>
            </a:r>
          </a:p>
          <a:p>
            <a:pPr algn="just"/>
            <a:r>
              <a:rPr lang="tr-TR" dirty="0"/>
              <a:t>OSKAY, Ünsal (2001): </a:t>
            </a:r>
            <a:r>
              <a:rPr lang="tr-TR" dirty="0" err="1"/>
              <a:t>ĠletiĢimin</a:t>
            </a:r>
            <a:r>
              <a:rPr lang="tr-TR" dirty="0"/>
              <a:t> </a:t>
            </a:r>
            <a:r>
              <a:rPr lang="tr-TR" dirty="0" err="1"/>
              <a:t>ABC‟si</a:t>
            </a:r>
            <a:r>
              <a:rPr lang="tr-TR" dirty="0"/>
              <a:t>, </a:t>
            </a:r>
            <a:r>
              <a:rPr lang="tr-TR" dirty="0" err="1"/>
              <a:t>Ġstanbul</a:t>
            </a:r>
            <a:r>
              <a:rPr lang="tr-TR" dirty="0"/>
              <a:t> : DER Yayınları</a:t>
            </a:r>
          </a:p>
          <a:p>
            <a:pPr algn="just"/>
            <a:r>
              <a:rPr lang="tr-TR" dirty="0"/>
              <a:t>PEASE, Allan. (1997). Body Language (Bedenin Dili). (Çev. Özben Yeşim), İstanbul: Rota Yayınları.</a:t>
            </a:r>
          </a:p>
          <a:p>
            <a:pPr algn="just"/>
            <a:r>
              <a:rPr lang="tr-TR" dirty="0"/>
              <a:t>SCHOBER, </a:t>
            </a:r>
            <a:r>
              <a:rPr lang="tr-TR" dirty="0" err="1"/>
              <a:t>Otto</a:t>
            </a:r>
            <a:r>
              <a:rPr lang="tr-TR" dirty="0"/>
              <a:t>. (1999). Beden Dili (Davranış Anahtarı). (Çev. Süeda </a:t>
            </a:r>
            <a:r>
              <a:rPr lang="tr-TR" dirty="0" err="1"/>
              <a:t>Özbent</a:t>
            </a:r>
            <a:r>
              <a:rPr lang="tr-TR" dirty="0"/>
              <a:t>), İstanbul: </a:t>
            </a:r>
            <a:r>
              <a:rPr lang="tr-TR" dirty="0" err="1"/>
              <a:t>Arion</a:t>
            </a:r>
            <a:r>
              <a:rPr lang="tr-TR" dirty="0"/>
              <a:t> Yayıncılık.</a:t>
            </a:r>
          </a:p>
          <a:p>
            <a:pPr algn="just"/>
            <a:r>
              <a:rPr lang="tr-TR" dirty="0"/>
              <a:t>SEVER, Sedat. (2004). Türkçe Öğretimi ve Tam Öğrenme. Ankara : Anı Yayıncılık</a:t>
            </a:r>
          </a:p>
          <a:p>
            <a:pPr algn="just"/>
            <a:r>
              <a:rPr lang="tr-TR" dirty="0"/>
              <a:t>TELMAN, Nursel; ÜNSAL, Pınar (2005). İnsan İlişkilerinde iletişim, İstanbul: Epsilon</a:t>
            </a:r>
          </a:p>
          <a:p>
            <a:pPr algn="just"/>
            <a:r>
              <a:rPr lang="tr-TR" dirty="0"/>
              <a:t>TDK. (2005).Türkçe Sözlük. Ankara.</a:t>
            </a:r>
          </a:p>
          <a:p>
            <a:pPr algn="just"/>
            <a:r>
              <a:rPr lang="tr-TR" dirty="0"/>
              <a:t>YALÇIN, Alemdar. (2002). Türkçe Öğretim Yöntemleri Yeni Yaklaşımlar. Ankara: </a:t>
            </a:r>
            <a:r>
              <a:rPr lang="tr-TR" dirty="0" err="1"/>
              <a:t>Akçağ</a:t>
            </a:r>
            <a:r>
              <a:rPr lang="tr-TR" dirty="0"/>
              <a:t> Yayınevi.</a:t>
            </a:r>
          </a:p>
        </p:txBody>
      </p:sp>
    </p:spTree>
    <p:extLst>
      <p:ext uri="{BB962C8B-B14F-4D97-AF65-F5344CB8AC3E}">
        <p14:creationId xmlns:p14="http://schemas.microsoft.com/office/powerpoint/2010/main" xmlns="" val="40277678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4" y="158496"/>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6" name="TextBox 5"/>
          <p:cNvSpPr txBox="1"/>
          <p:nvPr/>
        </p:nvSpPr>
        <p:spPr>
          <a:xfrm>
            <a:off x="259947" y="1066292"/>
            <a:ext cx="8624098" cy="584775"/>
          </a:xfrm>
          <a:prstGeom prst="rect">
            <a:avLst/>
          </a:prstGeom>
          <a:noFill/>
        </p:spPr>
        <p:txBody>
          <a:bodyPr wrap="square" rtlCol="0">
            <a:spAutoFit/>
          </a:bodyPr>
          <a:lstStyle/>
          <a:p>
            <a:pPr algn="ctr"/>
            <a:r>
              <a:rPr lang="en-US" sz="3200" b="1" spc="200" dirty="0"/>
              <a:t>TEŞEKKÜRLER</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96295" y="3447110"/>
            <a:ext cx="8351403" cy="412934"/>
          </a:xfrm>
          <a:prstGeom prst="rect">
            <a:avLst/>
          </a:prstGeom>
          <a:noFill/>
        </p:spPr>
        <p:txBody>
          <a:bodyPr wrap="square" rtlCol="0">
            <a:spAutoFit/>
          </a:bodyPr>
          <a:lstStyle/>
          <a:p>
            <a:pPr algn="ctr">
              <a:lnSpc>
                <a:spcPct val="125000"/>
              </a:lnSpc>
            </a:pPr>
            <a:r>
              <a:rPr lang="en-US" sz="1800" b="1" dirty="0"/>
              <a:t>Dr. </a:t>
            </a:r>
            <a:r>
              <a:rPr lang="tr-TR" sz="1800" b="1" dirty="0"/>
              <a:t>Hüseyin GÖÇMENLER</a:t>
            </a:r>
            <a:endParaRPr lang="en-US" sz="1800" b="1" dirty="0"/>
          </a:p>
        </p:txBody>
      </p:sp>
      <p:sp>
        <p:nvSpPr>
          <p:cNvPr id="11" name="TextBox 10"/>
          <p:cNvSpPr txBox="1"/>
          <p:nvPr/>
        </p:nvSpPr>
        <p:spPr>
          <a:xfrm>
            <a:off x="396296" y="3956837"/>
            <a:ext cx="8351403" cy="412934"/>
          </a:xfrm>
          <a:prstGeom prst="rect">
            <a:avLst/>
          </a:prstGeom>
          <a:noFill/>
        </p:spPr>
        <p:txBody>
          <a:bodyPr wrap="square" rtlCol="0">
            <a:spAutoFit/>
          </a:bodyPr>
          <a:lstStyle/>
          <a:p>
            <a:pPr algn="ctr">
              <a:lnSpc>
                <a:spcPct val="125000"/>
              </a:lnSpc>
            </a:pPr>
            <a:r>
              <a:rPr lang="tr-TR" sz="1800" b="1" dirty="0" err="1"/>
              <a:t>huseyingocmenler</a:t>
            </a:r>
            <a:r>
              <a:rPr lang="en-US" sz="1800" b="1" dirty="0"/>
              <a:t>@hacettepe.edu.tr</a:t>
            </a:r>
          </a:p>
        </p:txBody>
      </p:sp>
      <p:pic>
        <p:nvPicPr>
          <p:cNvPr id="2" name="Resim 1"/>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3940094" y="1731232"/>
            <a:ext cx="1263803" cy="1233132"/>
          </a:xfrm>
          <a:prstGeom prst="rect">
            <a:avLst/>
          </a:prstGeom>
        </p:spPr>
      </p:pic>
    </p:spTree>
    <p:extLst>
      <p:ext uri="{BB962C8B-B14F-4D97-AF65-F5344CB8AC3E}">
        <p14:creationId xmlns:p14="http://schemas.microsoft.com/office/powerpoint/2010/main" xmlns="" val="7573165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6575</TotalTime>
  <Words>2577</Words>
  <Application>Microsoft Office PowerPoint</Application>
  <PresentationFormat>Ekran Gösterisi (16:9)</PresentationFormat>
  <Paragraphs>558</Paragraphs>
  <Slides>50</Slides>
  <Notes>50</Notes>
  <HiddenSlides>0</HiddenSlides>
  <MMClips>0</MMClips>
  <ScaleCrop>false</ScaleCrop>
  <HeadingPairs>
    <vt:vector size="4" baseType="variant">
      <vt:variant>
        <vt:lpstr>Tema</vt:lpstr>
      </vt:variant>
      <vt:variant>
        <vt:i4>1</vt:i4>
      </vt:variant>
      <vt:variant>
        <vt:lpstr>Slayt Başlıkları</vt:lpstr>
      </vt:variant>
      <vt:variant>
        <vt:i4>50</vt:i4>
      </vt:variant>
    </vt:vector>
  </HeadingPairs>
  <TitlesOfParts>
    <vt:vector size="51" baseType="lpstr">
      <vt:lpstr>Office Theme</vt:lpstr>
      <vt:lpstr>Slayt 1</vt:lpstr>
      <vt:lpstr>Slayt 2</vt:lpstr>
      <vt:lpstr>Slayt 3</vt:lpstr>
      <vt:lpstr>Slayt 4</vt:lpstr>
      <vt:lpstr>Slayt 5</vt:lpstr>
      <vt:lpstr>Slayt 6</vt:lpstr>
      <vt:lpstr>Slayt 7</vt:lpstr>
      <vt:lpstr>Slayt 8</vt:lpstr>
      <vt:lpstr>Slayt 9</vt:lpstr>
      <vt:lpstr>Slayt 10</vt:lpstr>
      <vt:lpstr>Slayt 11</vt:lpstr>
      <vt:lpstr>Slayt 12</vt:lpstr>
      <vt:lpstr>Slayt 13</vt:lpstr>
      <vt:lpstr>Slayt 14</vt:lpstr>
      <vt:lpstr>Slayt 15</vt:lpstr>
      <vt:lpstr>Slayt 16</vt:lpstr>
      <vt:lpstr>Slayt 17</vt:lpstr>
      <vt:lpstr>Slayt 18</vt:lpstr>
      <vt:lpstr>Slayt 19</vt:lpstr>
      <vt:lpstr>Slayt 20</vt:lpstr>
      <vt:lpstr>Slayt 21</vt:lpstr>
      <vt:lpstr>Slayt 22</vt:lpstr>
      <vt:lpstr>Slayt 23</vt:lpstr>
      <vt:lpstr>Slayt 24</vt:lpstr>
      <vt:lpstr>Slayt 25</vt:lpstr>
      <vt:lpstr>Slayt 26</vt:lpstr>
      <vt:lpstr>Slayt 27</vt:lpstr>
      <vt:lpstr>Slayt 28</vt:lpstr>
      <vt:lpstr>Slayt 29</vt:lpstr>
      <vt:lpstr>Slayt 30</vt:lpstr>
      <vt:lpstr>Slayt 31</vt:lpstr>
      <vt:lpstr>Slayt 32</vt:lpstr>
      <vt:lpstr>Slayt 33</vt:lpstr>
      <vt:lpstr>Slayt 34</vt:lpstr>
      <vt:lpstr>Slayt 35</vt:lpstr>
      <vt:lpstr>Slayt 36</vt:lpstr>
      <vt:lpstr>Slayt 37</vt:lpstr>
      <vt:lpstr>Slayt 38</vt:lpstr>
      <vt:lpstr>Slayt 39</vt:lpstr>
      <vt:lpstr>Slayt 40</vt:lpstr>
      <vt:lpstr>Slayt 41</vt:lpstr>
      <vt:lpstr>Slayt 42</vt:lpstr>
      <vt:lpstr>Slayt 43</vt:lpstr>
      <vt:lpstr>Slayt 44</vt:lpstr>
      <vt:lpstr>Slayt 45</vt:lpstr>
      <vt:lpstr>Slayt 46</vt:lpstr>
      <vt:lpstr>Slayt 47</vt:lpstr>
      <vt:lpstr>Slayt 48</vt:lpstr>
      <vt:lpstr>Slayt 49</vt:lpstr>
      <vt:lpstr>Slayt 50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serdar</cp:lastModifiedBy>
  <cp:revision>152</cp:revision>
  <dcterms:created xsi:type="dcterms:W3CDTF">2017-06-20T07:26:29Z</dcterms:created>
  <dcterms:modified xsi:type="dcterms:W3CDTF">2023-04-13T09:50:10Z</dcterms:modified>
</cp:coreProperties>
</file>