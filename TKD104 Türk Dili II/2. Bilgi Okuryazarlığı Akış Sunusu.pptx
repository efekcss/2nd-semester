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8"/>
  </p:notesMasterIdLst>
  <p:sldIdLst>
    <p:sldId id="256" r:id="rId2"/>
    <p:sldId id="261" r:id="rId3"/>
    <p:sldId id="263" r:id="rId4"/>
    <p:sldId id="276" r:id="rId5"/>
    <p:sldId id="275" r:id="rId6"/>
    <p:sldId id="266" r:id="rId7"/>
    <p:sldId id="300" r:id="rId8"/>
    <p:sldId id="273" r:id="rId9"/>
    <p:sldId id="272" r:id="rId10"/>
    <p:sldId id="301" r:id="rId11"/>
    <p:sldId id="270" r:id="rId12"/>
    <p:sldId id="299" r:id="rId13"/>
    <p:sldId id="269" r:id="rId14"/>
    <p:sldId id="267" r:id="rId15"/>
    <p:sldId id="268" r:id="rId16"/>
    <p:sldId id="274" r:id="rId17"/>
    <p:sldId id="277" r:id="rId18"/>
    <p:sldId id="278" r:id="rId19"/>
    <p:sldId id="297" r:id="rId20"/>
    <p:sldId id="279" r:id="rId21"/>
    <p:sldId id="281" r:id="rId22"/>
    <p:sldId id="282" r:id="rId23"/>
    <p:sldId id="283" r:id="rId24"/>
    <p:sldId id="284" r:id="rId25"/>
    <p:sldId id="287" r:id="rId26"/>
    <p:sldId id="285" r:id="rId27"/>
    <p:sldId id="286" r:id="rId28"/>
    <p:sldId id="289" r:id="rId29"/>
    <p:sldId id="290" r:id="rId30"/>
    <p:sldId id="291" r:id="rId31"/>
    <p:sldId id="292" r:id="rId32"/>
    <p:sldId id="293" r:id="rId33"/>
    <p:sldId id="294" r:id="rId34"/>
    <p:sldId id="295" r:id="rId35"/>
    <p:sldId id="296" r:id="rId36"/>
    <p:sldId id="265" r:id="rId37"/>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4389"/>
    <a:srgbClr val="FCF5E8"/>
    <a:srgbClr val="FEF3DC"/>
    <a:srgbClr val="F1E6D3"/>
    <a:srgbClr val="771614"/>
    <a:srgbClr val="A92627"/>
    <a:srgbClr val="C02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13"/>
    <p:restoredTop sz="77519" autoAdjust="0"/>
  </p:normalViewPr>
  <p:slideViewPr>
    <p:cSldViewPr snapToGrid="0" snapToObjects="1">
      <p:cViewPr varScale="1">
        <p:scale>
          <a:sx n="117" d="100"/>
          <a:sy n="117" d="100"/>
        </p:scale>
        <p:origin x="1656" y="168"/>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05E906-4CA8-49B4-8F73-42702A2A5793}" type="doc">
      <dgm:prSet loTypeId="urn:microsoft.com/office/officeart/2005/8/layout/hProcess9" loCatId="process" qsTypeId="urn:microsoft.com/office/officeart/2005/8/quickstyle/simple5" qsCatId="simple" csTypeId="urn:microsoft.com/office/officeart/2005/8/colors/accent1_2" csCatId="accent1" phldr="1"/>
      <dgm:spPr/>
      <dgm:t>
        <a:bodyPr/>
        <a:lstStyle/>
        <a:p>
          <a:endParaRPr lang="tr-TR"/>
        </a:p>
      </dgm:t>
    </dgm:pt>
    <dgm:pt modelId="{27D4CFE0-CDCA-458F-8E9B-2BD374111B1F}">
      <dgm:prSet/>
      <dgm:spPr/>
      <dgm:t>
        <a:bodyPr/>
        <a:lstStyle/>
        <a:p>
          <a:pPr rtl="0"/>
          <a:r>
            <a:rPr lang="tr-TR" dirty="0"/>
            <a:t>Bilgi ihtiyacının tanımlanması</a:t>
          </a:r>
        </a:p>
      </dgm:t>
    </dgm:pt>
    <dgm:pt modelId="{F566CD18-ACAB-40BF-B921-581311238293}" type="parTrans" cxnId="{00BE653D-B950-47A5-9860-DF61CAF0D4ED}">
      <dgm:prSet/>
      <dgm:spPr/>
      <dgm:t>
        <a:bodyPr/>
        <a:lstStyle/>
        <a:p>
          <a:endParaRPr lang="tr-TR"/>
        </a:p>
      </dgm:t>
    </dgm:pt>
    <dgm:pt modelId="{BC462936-7C41-46ED-924B-9475C308E401}" type="sibTrans" cxnId="{00BE653D-B950-47A5-9860-DF61CAF0D4ED}">
      <dgm:prSet/>
      <dgm:spPr/>
      <dgm:t>
        <a:bodyPr/>
        <a:lstStyle/>
        <a:p>
          <a:endParaRPr lang="tr-TR"/>
        </a:p>
      </dgm:t>
    </dgm:pt>
    <dgm:pt modelId="{4DA66D4B-EF3C-46C6-8A96-9A3DC4CCEF88}">
      <dgm:prSet/>
      <dgm:spPr/>
      <dgm:t>
        <a:bodyPr/>
        <a:lstStyle/>
        <a:p>
          <a:pPr rtl="0"/>
          <a:r>
            <a:rPr lang="tr-TR"/>
            <a:t>Bilginin aranması</a:t>
          </a:r>
        </a:p>
      </dgm:t>
    </dgm:pt>
    <dgm:pt modelId="{FE681081-A818-4AD6-8780-8EF7E4275193}" type="parTrans" cxnId="{80D8AE61-9D05-4AF1-9848-0B29779BFA46}">
      <dgm:prSet/>
      <dgm:spPr/>
      <dgm:t>
        <a:bodyPr/>
        <a:lstStyle/>
        <a:p>
          <a:endParaRPr lang="tr-TR"/>
        </a:p>
      </dgm:t>
    </dgm:pt>
    <dgm:pt modelId="{E7339002-1E6B-4B61-84DE-831D554A3A45}" type="sibTrans" cxnId="{80D8AE61-9D05-4AF1-9848-0B29779BFA46}">
      <dgm:prSet/>
      <dgm:spPr/>
      <dgm:t>
        <a:bodyPr/>
        <a:lstStyle/>
        <a:p>
          <a:endParaRPr lang="tr-TR"/>
        </a:p>
      </dgm:t>
    </dgm:pt>
    <dgm:pt modelId="{58F07D49-EF23-4DEA-9ECF-BD2F73EA21A6}">
      <dgm:prSet/>
      <dgm:spPr/>
      <dgm:t>
        <a:bodyPr/>
        <a:lstStyle/>
        <a:p>
          <a:pPr rtl="0"/>
          <a:r>
            <a:rPr lang="tr-TR"/>
            <a:t>Bilginin/bilgi kaynaklarının bulunması</a:t>
          </a:r>
        </a:p>
      </dgm:t>
    </dgm:pt>
    <dgm:pt modelId="{A9F34532-66E5-4F25-9CCB-D1C9B8CDC67C}" type="parTrans" cxnId="{C2145516-CC49-4EDE-A2FB-CFA22E16C687}">
      <dgm:prSet/>
      <dgm:spPr/>
      <dgm:t>
        <a:bodyPr/>
        <a:lstStyle/>
        <a:p>
          <a:endParaRPr lang="tr-TR"/>
        </a:p>
      </dgm:t>
    </dgm:pt>
    <dgm:pt modelId="{2B308D7D-A66E-45F4-8ECB-08C80AE090C5}" type="sibTrans" cxnId="{C2145516-CC49-4EDE-A2FB-CFA22E16C687}">
      <dgm:prSet/>
      <dgm:spPr/>
      <dgm:t>
        <a:bodyPr/>
        <a:lstStyle/>
        <a:p>
          <a:endParaRPr lang="tr-TR"/>
        </a:p>
      </dgm:t>
    </dgm:pt>
    <dgm:pt modelId="{E4027DBB-01B0-434A-A25D-F560A17EB290}">
      <dgm:prSet/>
      <dgm:spPr/>
      <dgm:t>
        <a:bodyPr/>
        <a:lstStyle/>
        <a:p>
          <a:pPr rtl="0"/>
          <a:r>
            <a:rPr lang="tr-TR"/>
            <a:t>Bilginin/bilgi kaynaklarının kullanılması</a:t>
          </a:r>
        </a:p>
      </dgm:t>
    </dgm:pt>
    <dgm:pt modelId="{E4C805CD-944B-4D22-A63F-F3857901FF7F}" type="parTrans" cxnId="{F79342CA-B369-4716-81FD-65E9612AC24E}">
      <dgm:prSet/>
      <dgm:spPr/>
      <dgm:t>
        <a:bodyPr/>
        <a:lstStyle/>
        <a:p>
          <a:endParaRPr lang="tr-TR"/>
        </a:p>
      </dgm:t>
    </dgm:pt>
    <dgm:pt modelId="{612F1B76-9566-47E8-B4F7-C02653CAEAC1}" type="sibTrans" cxnId="{F79342CA-B369-4716-81FD-65E9612AC24E}">
      <dgm:prSet/>
      <dgm:spPr/>
      <dgm:t>
        <a:bodyPr/>
        <a:lstStyle/>
        <a:p>
          <a:endParaRPr lang="tr-TR"/>
        </a:p>
      </dgm:t>
    </dgm:pt>
    <dgm:pt modelId="{CC904A3F-F9FB-4414-9A7A-1BDBCBBB8A2B}">
      <dgm:prSet/>
      <dgm:spPr/>
      <dgm:t>
        <a:bodyPr/>
        <a:lstStyle/>
        <a:p>
          <a:pPr rtl="0"/>
          <a:r>
            <a:rPr lang="tr-TR"/>
            <a:t>Bilginin iletimi </a:t>
          </a:r>
        </a:p>
      </dgm:t>
    </dgm:pt>
    <dgm:pt modelId="{0B0D0FBD-A055-4730-98B6-C208FC09898B}" type="parTrans" cxnId="{CCEF270A-67A4-477E-96BA-3D3747B64B3B}">
      <dgm:prSet/>
      <dgm:spPr/>
      <dgm:t>
        <a:bodyPr/>
        <a:lstStyle/>
        <a:p>
          <a:endParaRPr lang="tr-TR"/>
        </a:p>
      </dgm:t>
    </dgm:pt>
    <dgm:pt modelId="{0AEE46F9-70AF-41B8-B4DD-2438518C6C47}" type="sibTrans" cxnId="{CCEF270A-67A4-477E-96BA-3D3747B64B3B}">
      <dgm:prSet/>
      <dgm:spPr/>
      <dgm:t>
        <a:bodyPr/>
        <a:lstStyle/>
        <a:p>
          <a:endParaRPr lang="tr-TR"/>
        </a:p>
      </dgm:t>
    </dgm:pt>
    <dgm:pt modelId="{546B42D8-262A-406D-86FE-205C1F78FC66}">
      <dgm:prSet/>
      <dgm:spPr/>
      <dgm:t>
        <a:bodyPr/>
        <a:lstStyle/>
        <a:p>
          <a:pPr rtl="0"/>
          <a:r>
            <a:rPr lang="tr-TR"/>
            <a:t>Değerlendirme</a:t>
          </a:r>
        </a:p>
      </dgm:t>
    </dgm:pt>
    <dgm:pt modelId="{5848C273-E0D2-4704-84F9-0C83093D7CA2}" type="parTrans" cxnId="{4A2114A8-E549-482F-B5D9-ED4E9909E5D6}">
      <dgm:prSet/>
      <dgm:spPr/>
      <dgm:t>
        <a:bodyPr/>
        <a:lstStyle/>
        <a:p>
          <a:endParaRPr lang="tr-TR"/>
        </a:p>
      </dgm:t>
    </dgm:pt>
    <dgm:pt modelId="{01F11073-C105-4525-8B9D-911D7725C0FF}" type="sibTrans" cxnId="{4A2114A8-E549-482F-B5D9-ED4E9909E5D6}">
      <dgm:prSet/>
      <dgm:spPr/>
      <dgm:t>
        <a:bodyPr/>
        <a:lstStyle/>
        <a:p>
          <a:endParaRPr lang="tr-TR"/>
        </a:p>
      </dgm:t>
    </dgm:pt>
    <dgm:pt modelId="{90969AC4-8626-46D7-A56D-9DEE4B443EAC}" type="pres">
      <dgm:prSet presAssocID="{0005E906-4CA8-49B4-8F73-42702A2A5793}" presName="CompostProcess" presStyleCnt="0">
        <dgm:presLayoutVars>
          <dgm:dir/>
          <dgm:resizeHandles val="exact"/>
        </dgm:presLayoutVars>
      </dgm:prSet>
      <dgm:spPr/>
    </dgm:pt>
    <dgm:pt modelId="{BDD544DD-F549-4854-9F23-D6A1DB12CB46}" type="pres">
      <dgm:prSet presAssocID="{0005E906-4CA8-49B4-8F73-42702A2A5793}" presName="arrow" presStyleLbl="bgShp" presStyleIdx="0" presStyleCnt="1"/>
      <dgm:spPr/>
    </dgm:pt>
    <dgm:pt modelId="{0E60F447-1FEB-4D57-B07B-AC11015738B5}" type="pres">
      <dgm:prSet presAssocID="{0005E906-4CA8-49B4-8F73-42702A2A5793}" presName="linearProcess" presStyleCnt="0"/>
      <dgm:spPr/>
    </dgm:pt>
    <dgm:pt modelId="{676DABA9-54C9-4399-AD03-B835C16F50B3}" type="pres">
      <dgm:prSet presAssocID="{27D4CFE0-CDCA-458F-8E9B-2BD374111B1F}" presName="textNode" presStyleLbl="node1" presStyleIdx="0" presStyleCnt="6">
        <dgm:presLayoutVars>
          <dgm:bulletEnabled val="1"/>
        </dgm:presLayoutVars>
      </dgm:prSet>
      <dgm:spPr/>
    </dgm:pt>
    <dgm:pt modelId="{C1D61EC5-A19B-4218-80D8-390F26B0A39A}" type="pres">
      <dgm:prSet presAssocID="{BC462936-7C41-46ED-924B-9475C308E401}" presName="sibTrans" presStyleCnt="0"/>
      <dgm:spPr/>
    </dgm:pt>
    <dgm:pt modelId="{3637AE02-410F-4DAF-8E00-D5318F5446CB}" type="pres">
      <dgm:prSet presAssocID="{4DA66D4B-EF3C-46C6-8A96-9A3DC4CCEF88}" presName="textNode" presStyleLbl="node1" presStyleIdx="1" presStyleCnt="6">
        <dgm:presLayoutVars>
          <dgm:bulletEnabled val="1"/>
        </dgm:presLayoutVars>
      </dgm:prSet>
      <dgm:spPr/>
    </dgm:pt>
    <dgm:pt modelId="{8543D022-3D19-49CE-AEAE-744F9AD24138}" type="pres">
      <dgm:prSet presAssocID="{E7339002-1E6B-4B61-84DE-831D554A3A45}" presName="sibTrans" presStyleCnt="0"/>
      <dgm:spPr/>
    </dgm:pt>
    <dgm:pt modelId="{F389CBBF-188F-48FF-A508-77929B3845B6}" type="pres">
      <dgm:prSet presAssocID="{58F07D49-EF23-4DEA-9ECF-BD2F73EA21A6}" presName="textNode" presStyleLbl="node1" presStyleIdx="2" presStyleCnt="6">
        <dgm:presLayoutVars>
          <dgm:bulletEnabled val="1"/>
        </dgm:presLayoutVars>
      </dgm:prSet>
      <dgm:spPr/>
    </dgm:pt>
    <dgm:pt modelId="{45970D15-65FC-4871-9AB9-6927CF860400}" type="pres">
      <dgm:prSet presAssocID="{2B308D7D-A66E-45F4-8ECB-08C80AE090C5}" presName="sibTrans" presStyleCnt="0"/>
      <dgm:spPr/>
    </dgm:pt>
    <dgm:pt modelId="{51C8B689-C666-40A2-9406-607D34A958B2}" type="pres">
      <dgm:prSet presAssocID="{E4027DBB-01B0-434A-A25D-F560A17EB290}" presName="textNode" presStyleLbl="node1" presStyleIdx="3" presStyleCnt="6">
        <dgm:presLayoutVars>
          <dgm:bulletEnabled val="1"/>
        </dgm:presLayoutVars>
      </dgm:prSet>
      <dgm:spPr/>
    </dgm:pt>
    <dgm:pt modelId="{EEB3D914-3261-412E-A215-F5B9F67EA500}" type="pres">
      <dgm:prSet presAssocID="{612F1B76-9566-47E8-B4F7-C02653CAEAC1}" presName="sibTrans" presStyleCnt="0"/>
      <dgm:spPr/>
    </dgm:pt>
    <dgm:pt modelId="{2610318A-3656-4F36-8ABA-6A2D069B9569}" type="pres">
      <dgm:prSet presAssocID="{CC904A3F-F9FB-4414-9A7A-1BDBCBBB8A2B}" presName="textNode" presStyleLbl="node1" presStyleIdx="4" presStyleCnt="6">
        <dgm:presLayoutVars>
          <dgm:bulletEnabled val="1"/>
        </dgm:presLayoutVars>
      </dgm:prSet>
      <dgm:spPr/>
    </dgm:pt>
    <dgm:pt modelId="{BACCC3F3-989B-492F-93F0-8BCB68A9C9F7}" type="pres">
      <dgm:prSet presAssocID="{0AEE46F9-70AF-41B8-B4DD-2438518C6C47}" presName="sibTrans" presStyleCnt="0"/>
      <dgm:spPr/>
    </dgm:pt>
    <dgm:pt modelId="{CFF0465E-EC62-447D-BF35-C3DD7C971ED1}" type="pres">
      <dgm:prSet presAssocID="{546B42D8-262A-406D-86FE-205C1F78FC66}" presName="textNode" presStyleLbl="node1" presStyleIdx="5" presStyleCnt="6">
        <dgm:presLayoutVars>
          <dgm:bulletEnabled val="1"/>
        </dgm:presLayoutVars>
      </dgm:prSet>
      <dgm:spPr/>
    </dgm:pt>
  </dgm:ptLst>
  <dgm:cxnLst>
    <dgm:cxn modelId="{CCEF270A-67A4-477E-96BA-3D3747B64B3B}" srcId="{0005E906-4CA8-49B4-8F73-42702A2A5793}" destId="{CC904A3F-F9FB-4414-9A7A-1BDBCBBB8A2B}" srcOrd="4" destOrd="0" parTransId="{0B0D0FBD-A055-4730-98B6-C208FC09898B}" sibTransId="{0AEE46F9-70AF-41B8-B4DD-2438518C6C47}"/>
    <dgm:cxn modelId="{C2145516-CC49-4EDE-A2FB-CFA22E16C687}" srcId="{0005E906-4CA8-49B4-8F73-42702A2A5793}" destId="{58F07D49-EF23-4DEA-9ECF-BD2F73EA21A6}" srcOrd="2" destOrd="0" parTransId="{A9F34532-66E5-4F25-9CCB-D1C9B8CDC67C}" sibTransId="{2B308D7D-A66E-45F4-8ECB-08C80AE090C5}"/>
    <dgm:cxn modelId="{00BE653D-B950-47A5-9860-DF61CAF0D4ED}" srcId="{0005E906-4CA8-49B4-8F73-42702A2A5793}" destId="{27D4CFE0-CDCA-458F-8E9B-2BD374111B1F}" srcOrd="0" destOrd="0" parTransId="{F566CD18-ACAB-40BF-B921-581311238293}" sibTransId="{BC462936-7C41-46ED-924B-9475C308E401}"/>
    <dgm:cxn modelId="{749A534E-2C00-42EB-8354-8E106C1FA4FC}" type="presOf" srcId="{58F07D49-EF23-4DEA-9ECF-BD2F73EA21A6}" destId="{F389CBBF-188F-48FF-A508-77929B3845B6}" srcOrd="0" destOrd="0" presId="urn:microsoft.com/office/officeart/2005/8/layout/hProcess9"/>
    <dgm:cxn modelId="{80D8AE61-9D05-4AF1-9848-0B29779BFA46}" srcId="{0005E906-4CA8-49B4-8F73-42702A2A5793}" destId="{4DA66D4B-EF3C-46C6-8A96-9A3DC4CCEF88}" srcOrd="1" destOrd="0" parTransId="{FE681081-A818-4AD6-8780-8EF7E4275193}" sibTransId="{E7339002-1E6B-4B61-84DE-831D554A3A45}"/>
    <dgm:cxn modelId="{71E46076-F139-476D-975D-D8BE2CF01979}" type="presOf" srcId="{546B42D8-262A-406D-86FE-205C1F78FC66}" destId="{CFF0465E-EC62-447D-BF35-C3DD7C971ED1}" srcOrd="0" destOrd="0" presId="urn:microsoft.com/office/officeart/2005/8/layout/hProcess9"/>
    <dgm:cxn modelId="{CB4FF592-CE7E-4785-BC0E-02440DE0705C}" type="presOf" srcId="{27D4CFE0-CDCA-458F-8E9B-2BD374111B1F}" destId="{676DABA9-54C9-4399-AD03-B835C16F50B3}" srcOrd="0" destOrd="0" presId="urn:microsoft.com/office/officeart/2005/8/layout/hProcess9"/>
    <dgm:cxn modelId="{1657949C-ED92-4A9F-9815-CF0446D0AB9D}" type="presOf" srcId="{4DA66D4B-EF3C-46C6-8A96-9A3DC4CCEF88}" destId="{3637AE02-410F-4DAF-8E00-D5318F5446CB}" srcOrd="0" destOrd="0" presId="urn:microsoft.com/office/officeart/2005/8/layout/hProcess9"/>
    <dgm:cxn modelId="{4A2114A8-E549-482F-B5D9-ED4E9909E5D6}" srcId="{0005E906-4CA8-49B4-8F73-42702A2A5793}" destId="{546B42D8-262A-406D-86FE-205C1F78FC66}" srcOrd="5" destOrd="0" parTransId="{5848C273-E0D2-4704-84F9-0C83093D7CA2}" sibTransId="{01F11073-C105-4525-8B9D-911D7725C0FF}"/>
    <dgm:cxn modelId="{4FF7F4C4-23A6-48F2-8D6A-5333DFC52B45}" type="presOf" srcId="{E4027DBB-01B0-434A-A25D-F560A17EB290}" destId="{51C8B689-C666-40A2-9406-607D34A958B2}" srcOrd="0" destOrd="0" presId="urn:microsoft.com/office/officeart/2005/8/layout/hProcess9"/>
    <dgm:cxn modelId="{F79342CA-B369-4716-81FD-65E9612AC24E}" srcId="{0005E906-4CA8-49B4-8F73-42702A2A5793}" destId="{E4027DBB-01B0-434A-A25D-F560A17EB290}" srcOrd="3" destOrd="0" parTransId="{E4C805CD-944B-4D22-A63F-F3857901FF7F}" sibTransId="{612F1B76-9566-47E8-B4F7-C02653CAEAC1}"/>
    <dgm:cxn modelId="{83F6B5E4-681C-4BBE-AC24-BF7656DE0A2C}" type="presOf" srcId="{0005E906-4CA8-49B4-8F73-42702A2A5793}" destId="{90969AC4-8626-46D7-A56D-9DEE4B443EAC}" srcOrd="0" destOrd="0" presId="urn:microsoft.com/office/officeart/2005/8/layout/hProcess9"/>
    <dgm:cxn modelId="{2DC65EEF-63A2-4EF5-8147-F30970FB1B1B}" type="presOf" srcId="{CC904A3F-F9FB-4414-9A7A-1BDBCBBB8A2B}" destId="{2610318A-3656-4F36-8ABA-6A2D069B9569}" srcOrd="0" destOrd="0" presId="urn:microsoft.com/office/officeart/2005/8/layout/hProcess9"/>
    <dgm:cxn modelId="{DE5E1588-E3B9-44B4-8505-F67CF2C6697B}" type="presParOf" srcId="{90969AC4-8626-46D7-A56D-9DEE4B443EAC}" destId="{BDD544DD-F549-4854-9F23-D6A1DB12CB46}" srcOrd="0" destOrd="0" presId="urn:microsoft.com/office/officeart/2005/8/layout/hProcess9"/>
    <dgm:cxn modelId="{753A4CAE-BC01-4831-B95D-DF9735D2585E}" type="presParOf" srcId="{90969AC4-8626-46D7-A56D-9DEE4B443EAC}" destId="{0E60F447-1FEB-4D57-B07B-AC11015738B5}" srcOrd="1" destOrd="0" presId="urn:microsoft.com/office/officeart/2005/8/layout/hProcess9"/>
    <dgm:cxn modelId="{C240AEE7-C81B-466A-A5E4-DFD9C76C6FA1}" type="presParOf" srcId="{0E60F447-1FEB-4D57-B07B-AC11015738B5}" destId="{676DABA9-54C9-4399-AD03-B835C16F50B3}" srcOrd="0" destOrd="0" presId="urn:microsoft.com/office/officeart/2005/8/layout/hProcess9"/>
    <dgm:cxn modelId="{B0DE49CE-E746-45B7-A417-299003B625D7}" type="presParOf" srcId="{0E60F447-1FEB-4D57-B07B-AC11015738B5}" destId="{C1D61EC5-A19B-4218-80D8-390F26B0A39A}" srcOrd="1" destOrd="0" presId="urn:microsoft.com/office/officeart/2005/8/layout/hProcess9"/>
    <dgm:cxn modelId="{4A9AEDBB-6525-423C-B549-DA72883730AB}" type="presParOf" srcId="{0E60F447-1FEB-4D57-B07B-AC11015738B5}" destId="{3637AE02-410F-4DAF-8E00-D5318F5446CB}" srcOrd="2" destOrd="0" presId="urn:microsoft.com/office/officeart/2005/8/layout/hProcess9"/>
    <dgm:cxn modelId="{EB9E6D87-D244-4906-A24F-024418DADC6D}" type="presParOf" srcId="{0E60F447-1FEB-4D57-B07B-AC11015738B5}" destId="{8543D022-3D19-49CE-AEAE-744F9AD24138}" srcOrd="3" destOrd="0" presId="urn:microsoft.com/office/officeart/2005/8/layout/hProcess9"/>
    <dgm:cxn modelId="{F0B4052C-E226-439A-AE64-E1F3C2F3C9FA}" type="presParOf" srcId="{0E60F447-1FEB-4D57-B07B-AC11015738B5}" destId="{F389CBBF-188F-48FF-A508-77929B3845B6}" srcOrd="4" destOrd="0" presId="urn:microsoft.com/office/officeart/2005/8/layout/hProcess9"/>
    <dgm:cxn modelId="{CAC4F2FA-3108-421E-A4FD-FD545C69B15A}" type="presParOf" srcId="{0E60F447-1FEB-4D57-B07B-AC11015738B5}" destId="{45970D15-65FC-4871-9AB9-6927CF860400}" srcOrd="5" destOrd="0" presId="urn:microsoft.com/office/officeart/2005/8/layout/hProcess9"/>
    <dgm:cxn modelId="{E70AF46F-F62D-492E-A634-078C8B22943E}" type="presParOf" srcId="{0E60F447-1FEB-4D57-B07B-AC11015738B5}" destId="{51C8B689-C666-40A2-9406-607D34A958B2}" srcOrd="6" destOrd="0" presId="urn:microsoft.com/office/officeart/2005/8/layout/hProcess9"/>
    <dgm:cxn modelId="{FF764A75-D188-4DF1-B594-C9495A9559CD}" type="presParOf" srcId="{0E60F447-1FEB-4D57-B07B-AC11015738B5}" destId="{EEB3D914-3261-412E-A215-F5B9F67EA500}" srcOrd="7" destOrd="0" presId="urn:microsoft.com/office/officeart/2005/8/layout/hProcess9"/>
    <dgm:cxn modelId="{4A45ABC9-8CED-4E68-9797-C120FCCE78CB}" type="presParOf" srcId="{0E60F447-1FEB-4D57-B07B-AC11015738B5}" destId="{2610318A-3656-4F36-8ABA-6A2D069B9569}" srcOrd="8" destOrd="0" presId="urn:microsoft.com/office/officeart/2005/8/layout/hProcess9"/>
    <dgm:cxn modelId="{5337323F-B883-4387-8E63-89EEFBB79DEC}" type="presParOf" srcId="{0E60F447-1FEB-4D57-B07B-AC11015738B5}" destId="{BACCC3F3-989B-492F-93F0-8BCB68A9C9F7}" srcOrd="9" destOrd="0" presId="urn:microsoft.com/office/officeart/2005/8/layout/hProcess9"/>
    <dgm:cxn modelId="{43243CE7-A4EE-4EB4-A589-E2ABCEF43FD8}" type="presParOf" srcId="{0E60F447-1FEB-4D57-B07B-AC11015738B5}" destId="{CFF0465E-EC62-447D-BF35-C3DD7C971ED1}" srcOrd="1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894B6D-04C7-4FE6-9646-135B19A67E8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tr-TR"/>
        </a:p>
      </dgm:t>
    </dgm:pt>
    <dgm:pt modelId="{73649815-6589-4AF8-92C7-5E7E47937781}">
      <dgm:prSet/>
      <dgm:spPr/>
      <dgm:t>
        <a:bodyPr/>
        <a:lstStyle/>
        <a:p>
          <a:pPr rtl="0"/>
          <a:r>
            <a:rPr lang="tr-TR" dirty="0"/>
            <a:t>Bilgi üretimindeki artış bilim ve teknoloji alanındaki gelişmeler</a:t>
          </a:r>
        </a:p>
      </dgm:t>
    </dgm:pt>
    <dgm:pt modelId="{C3EC733F-EB28-44E7-B3B5-0E33F8EF1483}" type="parTrans" cxnId="{578692FD-36F0-4D69-BA52-5072EB984168}">
      <dgm:prSet/>
      <dgm:spPr/>
      <dgm:t>
        <a:bodyPr/>
        <a:lstStyle/>
        <a:p>
          <a:endParaRPr lang="tr-TR"/>
        </a:p>
      </dgm:t>
    </dgm:pt>
    <dgm:pt modelId="{443A96F0-A7E5-48D4-8FA5-1DE9EB266BFE}" type="sibTrans" cxnId="{578692FD-36F0-4D69-BA52-5072EB984168}">
      <dgm:prSet/>
      <dgm:spPr/>
      <dgm:t>
        <a:bodyPr/>
        <a:lstStyle/>
        <a:p>
          <a:endParaRPr lang="tr-TR"/>
        </a:p>
      </dgm:t>
    </dgm:pt>
    <dgm:pt modelId="{5BC83137-B361-4591-AE02-C3F0A79B74E8}">
      <dgm:prSet/>
      <dgm:spPr/>
      <dgm:t>
        <a:bodyPr/>
        <a:lstStyle/>
        <a:p>
          <a:pPr rtl="0"/>
          <a:r>
            <a:rPr lang="tr-TR" dirty="0"/>
            <a:t>Gereksinim duyulan insan gücü profilinde değişiklikler</a:t>
          </a:r>
          <a:br>
            <a:rPr lang="tr-TR" dirty="0"/>
          </a:br>
          <a:br>
            <a:rPr lang="tr-TR" dirty="0"/>
          </a:br>
          <a:br>
            <a:rPr lang="tr-TR" dirty="0"/>
          </a:br>
          <a:endParaRPr lang="tr-TR" dirty="0"/>
        </a:p>
      </dgm:t>
    </dgm:pt>
    <dgm:pt modelId="{F0CDFB9B-C455-47B7-9CA6-822FA79457DE}" type="parTrans" cxnId="{DFED9E4F-3F8F-4351-9E58-349BF6CEB66B}">
      <dgm:prSet/>
      <dgm:spPr/>
      <dgm:t>
        <a:bodyPr/>
        <a:lstStyle/>
        <a:p>
          <a:endParaRPr lang="tr-TR"/>
        </a:p>
      </dgm:t>
    </dgm:pt>
    <dgm:pt modelId="{B89C3682-B75F-4B51-85F9-E7ECD1FE8FA4}" type="sibTrans" cxnId="{DFED9E4F-3F8F-4351-9E58-349BF6CEB66B}">
      <dgm:prSet/>
      <dgm:spPr/>
      <dgm:t>
        <a:bodyPr/>
        <a:lstStyle/>
        <a:p>
          <a:endParaRPr lang="tr-TR"/>
        </a:p>
      </dgm:t>
    </dgm:pt>
    <dgm:pt modelId="{5FFE08B1-71A6-43A3-AC8F-FEAEB16F7543}" type="pres">
      <dgm:prSet presAssocID="{F4894B6D-04C7-4FE6-9646-135B19A67E8A}" presName="Name0" presStyleCnt="0">
        <dgm:presLayoutVars>
          <dgm:dir/>
          <dgm:animLvl val="lvl"/>
          <dgm:resizeHandles val="exact"/>
        </dgm:presLayoutVars>
      </dgm:prSet>
      <dgm:spPr/>
    </dgm:pt>
    <dgm:pt modelId="{A29E4CA6-4913-4D15-88FA-77AC625AFA13}" type="pres">
      <dgm:prSet presAssocID="{73649815-6589-4AF8-92C7-5E7E47937781}" presName="parTxOnly" presStyleLbl="node1" presStyleIdx="0" presStyleCnt="2" custLinFactNeighborX="-1673" custLinFactNeighborY="-2961">
        <dgm:presLayoutVars>
          <dgm:chMax val="0"/>
          <dgm:chPref val="0"/>
          <dgm:bulletEnabled val="1"/>
        </dgm:presLayoutVars>
      </dgm:prSet>
      <dgm:spPr/>
    </dgm:pt>
    <dgm:pt modelId="{09023F9D-A114-41ED-B772-E26352232517}" type="pres">
      <dgm:prSet presAssocID="{443A96F0-A7E5-48D4-8FA5-1DE9EB266BFE}" presName="parTxOnlySpace" presStyleCnt="0"/>
      <dgm:spPr/>
    </dgm:pt>
    <dgm:pt modelId="{7CA9209C-4668-4024-BC78-9BB04628BE7F}" type="pres">
      <dgm:prSet presAssocID="{5BC83137-B361-4591-AE02-C3F0A79B74E8}" presName="parTxOnly" presStyleLbl="node1" presStyleIdx="1" presStyleCnt="2">
        <dgm:presLayoutVars>
          <dgm:chMax val="0"/>
          <dgm:chPref val="0"/>
          <dgm:bulletEnabled val="1"/>
        </dgm:presLayoutVars>
      </dgm:prSet>
      <dgm:spPr/>
    </dgm:pt>
  </dgm:ptLst>
  <dgm:cxnLst>
    <dgm:cxn modelId="{D2C72222-6884-4EBA-9120-3634DD724F37}" type="presOf" srcId="{5BC83137-B361-4591-AE02-C3F0A79B74E8}" destId="{7CA9209C-4668-4024-BC78-9BB04628BE7F}" srcOrd="0" destOrd="0" presId="urn:microsoft.com/office/officeart/2005/8/layout/chevron1"/>
    <dgm:cxn modelId="{DFED9E4F-3F8F-4351-9E58-349BF6CEB66B}" srcId="{F4894B6D-04C7-4FE6-9646-135B19A67E8A}" destId="{5BC83137-B361-4591-AE02-C3F0A79B74E8}" srcOrd="1" destOrd="0" parTransId="{F0CDFB9B-C455-47B7-9CA6-822FA79457DE}" sibTransId="{B89C3682-B75F-4B51-85F9-E7ECD1FE8FA4}"/>
    <dgm:cxn modelId="{C54EA6C1-1720-4BBB-854F-239B99AEB119}" type="presOf" srcId="{F4894B6D-04C7-4FE6-9646-135B19A67E8A}" destId="{5FFE08B1-71A6-43A3-AC8F-FEAEB16F7543}" srcOrd="0" destOrd="0" presId="urn:microsoft.com/office/officeart/2005/8/layout/chevron1"/>
    <dgm:cxn modelId="{C5583BDF-073D-4764-AB58-4E2F13908C38}" type="presOf" srcId="{73649815-6589-4AF8-92C7-5E7E47937781}" destId="{A29E4CA6-4913-4D15-88FA-77AC625AFA13}" srcOrd="0" destOrd="0" presId="urn:microsoft.com/office/officeart/2005/8/layout/chevron1"/>
    <dgm:cxn modelId="{578692FD-36F0-4D69-BA52-5072EB984168}" srcId="{F4894B6D-04C7-4FE6-9646-135B19A67E8A}" destId="{73649815-6589-4AF8-92C7-5E7E47937781}" srcOrd="0" destOrd="0" parTransId="{C3EC733F-EB28-44E7-B3B5-0E33F8EF1483}" sibTransId="{443A96F0-A7E5-48D4-8FA5-1DE9EB266BFE}"/>
    <dgm:cxn modelId="{DB7CA82B-5A29-4AD2-977A-B53403F0EE5F}" type="presParOf" srcId="{5FFE08B1-71A6-43A3-AC8F-FEAEB16F7543}" destId="{A29E4CA6-4913-4D15-88FA-77AC625AFA13}" srcOrd="0" destOrd="0" presId="urn:microsoft.com/office/officeart/2005/8/layout/chevron1"/>
    <dgm:cxn modelId="{FE8F3911-D552-4FE3-8E02-7691368FE87E}" type="presParOf" srcId="{5FFE08B1-71A6-43A3-AC8F-FEAEB16F7543}" destId="{09023F9D-A114-41ED-B772-E26352232517}" srcOrd="1" destOrd="0" presId="urn:microsoft.com/office/officeart/2005/8/layout/chevron1"/>
    <dgm:cxn modelId="{AB20433B-2BF0-441B-A571-4E68E63D0A78}" type="presParOf" srcId="{5FFE08B1-71A6-43A3-AC8F-FEAEB16F7543}" destId="{7CA9209C-4668-4024-BC78-9BB04628BE7F}" srcOrd="2"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D544DD-F549-4854-9F23-D6A1DB12CB46}">
      <dsp:nvSpPr>
        <dsp:cNvPr id="0" name=""/>
        <dsp:cNvSpPr/>
      </dsp:nvSpPr>
      <dsp:spPr>
        <a:xfrm>
          <a:off x="685800" y="0"/>
          <a:ext cx="7772401" cy="224676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76DABA9-54C9-4399-AD03-B835C16F50B3}">
      <dsp:nvSpPr>
        <dsp:cNvPr id="0" name=""/>
        <dsp:cNvSpPr/>
      </dsp:nvSpPr>
      <dsp:spPr>
        <a:xfrm>
          <a:off x="2511" y="674030"/>
          <a:ext cx="1462236" cy="89870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tr-TR" sz="1600" kern="1200" dirty="0"/>
            <a:t>Bilgi ihtiyacının tanımlanması</a:t>
          </a:r>
        </a:p>
      </dsp:txBody>
      <dsp:txXfrm>
        <a:off x="46382" y="717901"/>
        <a:ext cx="1374494" cy="810965"/>
      </dsp:txXfrm>
    </dsp:sp>
    <dsp:sp modelId="{3637AE02-410F-4DAF-8E00-D5318F5446CB}">
      <dsp:nvSpPr>
        <dsp:cNvPr id="0" name=""/>
        <dsp:cNvSpPr/>
      </dsp:nvSpPr>
      <dsp:spPr>
        <a:xfrm>
          <a:off x="1537859" y="674030"/>
          <a:ext cx="1462236" cy="89870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tr-TR" sz="1600" kern="1200"/>
            <a:t>Bilginin aranması</a:t>
          </a:r>
        </a:p>
      </dsp:txBody>
      <dsp:txXfrm>
        <a:off x="1581730" y="717901"/>
        <a:ext cx="1374494" cy="810965"/>
      </dsp:txXfrm>
    </dsp:sp>
    <dsp:sp modelId="{F389CBBF-188F-48FF-A508-77929B3845B6}">
      <dsp:nvSpPr>
        <dsp:cNvPr id="0" name=""/>
        <dsp:cNvSpPr/>
      </dsp:nvSpPr>
      <dsp:spPr>
        <a:xfrm>
          <a:off x="3073208" y="674030"/>
          <a:ext cx="1462236" cy="89870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tr-TR" sz="1600" kern="1200"/>
            <a:t>Bilginin/bilgi kaynaklarının bulunması</a:t>
          </a:r>
        </a:p>
      </dsp:txBody>
      <dsp:txXfrm>
        <a:off x="3117079" y="717901"/>
        <a:ext cx="1374494" cy="810965"/>
      </dsp:txXfrm>
    </dsp:sp>
    <dsp:sp modelId="{51C8B689-C666-40A2-9406-607D34A958B2}">
      <dsp:nvSpPr>
        <dsp:cNvPr id="0" name=""/>
        <dsp:cNvSpPr/>
      </dsp:nvSpPr>
      <dsp:spPr>
        <a:xfrm>
          <a:off x="4608556" y="674030"/>
          <a:ext cx="1462236" cy="89870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tr-TR" sz="1600" kern="1200"/>
            <a:t>Bilginin/bilgi kaynaklarının kullanılması</a:t>
          </a:r>
        </a:p>
      </dsp:txBody>
      <dsp:txXfrm>
        <a:off x="4652427" y="717901"/>
        <a:ext cx="1374494" cy="810965"/>
      </dsp:txXfrm>
    </dsp:sp>
    <dsp:sp modelId="{2610318A-3656-4F36-8ABA-6A2D069B9569}">
      <dsp:nvSpPr>
        <dsp:cNvPr id="0" name=""/>
        <dsp:cNvSpPr/>
      </dsp:nvSpPr>
      <dsp:spPr>
        <a:xfrm>
          <a:off x="6143905" y="674030"/>
          <a:ext cx="1462236" cy="89870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tr-TR" sz="1600" kern="1200"/>
            <a:t>Bilginin iletimi </a:t>
          </a:r>
        </a:p>
      </dsp:txBody>
      <dsp:txXfrm>
        <a:off x="6187776" y="717901"/>
        <a:ext cx="1374494" cy="810965"/>
      </dsp:txXfrm>
    </dsp:sp>
    <dsp:sp modelId="{CFF0465E-EC62-447D-BF35-C3DD7C971ED1}">
      <dsp:nvSpPr>
        <dsp:cNvPr id="0" name=""/>
        <dsp:cNvSpPr/>
      </dsp:nvSpPr>
      <dsp:spPr>
        <a:xfrm>
          <a:off x="7679253" y="674030"/>
          <a:ext cx="1462236" cy="89870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tr-TR" sz="1600" kern="1200"/>
            <a:t>Değerlendirme</a:t>
          </a:r>
        </a:p>
      </dsp:txBody>
      <dsp:txXfrm>
        <a:off x="7723124" y="717901"/>
        <a:ext cx="1374494" cy="8109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9E4CA6-4913-4D15-88FA-77AC625AFA13}">
      <dsp:nvSpPr>
        <dsp:cNvPr id="0" name=""/>
        <dsp:cNvSpPr/>
      </dsp:nvSpPr>
      <dsp:spPr>
        <a:xfrm>
          <a:off x="0" y="0"/>
          <a:ext cx="4502514" cy="163121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rtl="0">
            <a:lnSpc>
              <a:spcPct val="90000"/>
            </a:lnSpc>
            <a:spcBef>
              <a:spcPct val="0"/>
            </a:spcBef>
            <a:spcAft>
              <a:spcPct val="35000"/>
            </a:spcAft>
            <a:buNone/>
          </a:pPr>
          <a:r>
            <a:rPr lang="tr-TR" sz="1900" kern="1200" dirty="0"/>
            <a:t>Bilgi üretimindeki artış bilim ve teknoloji alanındaki gelişmeler</a:t>
          </a:r>
        </a:p>
      </dsp:txBody>
      <dsp:txXfrm>
        <a:off x="815608" y="0"/>
        <a:ext cx="2871298" cy="1631216"/>
      </dsp:txXfrm>
    </dsp:sp>
    <dsp:sp modelId="{7CA9209C-4668-4024-BC78-9BB04628BE7F}">
      <dsp:nvSpPr>
        <dsp:cNvPr id="0" name=""/>
        <dsp:cNvSpPr/>
      </dsp:nvSpPr>
      <dsp:spPr>
        <a:xfrm>
          <a:off x="4059795" y="0"/>
          <a:ext cx="4502514" cy="1631216"/>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25337" rIns="25337" bIns="25337" numCol="1" spcCol="1270" anchor="ctr" anchorCtr="0">
          <a:noAutofit/>
        </a:bodyPr>
        <a:lstStyle/>
        <a:p>
          <a:pPr marL="0" lvl="0" indent="0" algn="ctr" defTabSz="844550" rtl="0">
            <a:lnSpc>
              <a:spcPct val="90000"/>
            </a:lnSpc>
            <a:spcBef>
              <a:spcPct val="0"/>
            </a:spcBef>
            <a:spcAft>
              <a:spcPct val="35000"/>
            </a:spcAft>
            <a:buNone/>
          </a:pPr>
          <a:r>
            <a:rPr lang="tr-TR" sz="1900" kern="1200" dirty="0"/>
            <a:t>Gereksinim duyulan insan gücü profilinde değişiklikler</a:t>
          </a:r>
          <a:br>
            <a:rPr lang="tr-TR" sz="1900" kern="1200" dirty="0"/>
          </a:br>
          <a:br>
            <a:rPr lang="tr-TR" sz="1900" kern="1200" dirty="0"/>
          </a:br>
          <a:br>
            <a:rPr lang="tr-TR" sz="1900" kern="1200" dirty="0"/>
          </a:br>
          <a:endParaRPr lang="tr-TR" sz="1900" kern="1200" dirty="0"/>
        </a:p>
      </dsp:txBody>
      <dsp:txXfrm>
        <a:off x="4875403" y="0"/>
        <a:ext cx="2871298" cy="163121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C2D2ED-B8F6-BC4B-8ACF-EBC392201CEB}" type="datetimeFigureOut">
              <a:rPr lang="en-US" smtClean="0"/>
              <a:t>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C9BA9-D2B0-0145-A162-8270735E99CB}" type="slidenum">
              <a:rPr lang="en-US" smtClean="0"/>
              <a:t>‹#›</a:t>
            </a:fld>
            <a:endParaRPr lang="en-US"/>
          </a:p>
        </p:txBody>
      </p:sp>
    </p:spTree>
    <p:extLst>
      <p:ext uri="{BB962C8B-B14F-4D97-AF65-F5344CB8AC3E}">
        <p14:creationId xmlns:p14="http://schemas.microsoft.com/office/powerpoint/2010/main" val="141613303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a:t>
            </a:fld>
            <a:endParaRPr lang="en-US"/>
          </a:p>
        </p:txBody>
      </p:sp>
    </p:spTree>
    <p:extLst>
      <p:ext uri="{BB962C8B-B14F-4D97-AF65-F5344CB8AC3E}">
        <p14:creationId xmlns:p14="http://schemas.microsoft.com/office/powerpoint/2010/main" val="386676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a:t>
            </a:fld>
            <a:endParaRPr lang="en-US"/>
          </a:p>
        </p:txBody>
      </p:sp>
    </p:spTree>
    <p:extLst>
      <p:ext uri="{BB962C8B-B14F-4D97-AF65-F5344CB8AC3E}">
        <p14:creationId xmlns:p14="http://schemas.microsoft.com/office/powerpoint/2010/main" val="1385593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3</a:t>
            </a:fld>
            <a:endParaRPr lang="en-US"/>
          </a:p>
        </p:txBody>
      </p:sp>
    </p:spTree>
    <p:extLst>
      <p:ext uri="{BB962C8B-B14F-4D97-AF65-F5344CB8AC3E}">
        <p14:creationId xmlns:p14="http://schemas.microsoft.com/office/powerpoint/2010/main" val="44218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4</a:t>
            </a:fld>
            <a:endParaRPr lang="en-US"/>
          </a:p>
        </p:txBody>
      </p:sp>
    </p:spTree>
    <p:extLst>
      <p:ext uri="{BB962C8B-B14F-4D97-AF65-F5344CB8AC3E}">
        <p14:creationId xmlns:p14="http://schemas.microsoft.com/office/powerpoint/2010/main" val="234138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5</a:t>
            </a:fld>
            <a:endParaRPr lang="en-US"/>
          </a:p>
        </p:txBody>
      </p:sp>
    </p:spTree>
    <p:extLst>
      <p:ext uri="{BB962C8B-B14F-4D97-AF65-F5344CB8AC3E}">
        <p14:creationId xmlns:p14="http://schemas.microsoft.com/office/powerpoint/2010/main" val="182288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6</a:t>
            </a:fld>
            <a:endParaRPr lang="en-US"/>
          </a:p>
        </p:txBody>
      </p:sp>
    </p:spTree>
    <p:extLst>
      <p:ext uri="{BB962C8B-B14F-4D97-AF65-F5344CB8AC3E}">
        <p14:creationId xmlns:p14="http://schemas.microsoft.com/office/powerpoint/2010/main" val="380543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7</a:t>
            </a:fld>
            <a:endParaRPr lang="en-US"/>
          </a:p>
        </p:txBody>
      </p:sp>
    </p:spTree>
    <p:extLst>
      <p:ext uri="{BB962C8B-B14F-4D97-AF65-F5344CB8AC3E}">
        <p14:creationId xmlns:p14="http://schemas.microsoft.com/office/powerpoint/2010/main" val="74435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8</a:t>
            </a:fld>
            <a:endParaRPr lang="en-US"/>
          </a:p>
        </p:txBody>
      </p:sp>
    </p:spTree>
    <p:extLst>
      <p:ext uri="{BB962C8B-B14F-4D97-AF65-F5344CB8AC3E}">
        <p14:creationId xmlns:p14="http://schemas.microsoft.com/office/powerpoint/2010/main" val="469757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9</a:t>
            </a:fld>
            <a:endParaRPr lang="en-US"/>
          </a:p>
        </p:txBody>
      </p:sp>
    </p:spTree>
    <p:extLst>
      <p:ext uri="{BB962C8B-B14F-4D97-AF65-F5344CB8AC3E}">
        <p14:creationId xmlns:p14="http://schemas.microsoft.com/office/powerpoint/2010/main" val="1026859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10</a:t>
            </a:fld>
            <a:endParaRPr lang="en-US"/>
          </a:p>
        </p:txBody>
      </p:sp>
    </p:spTree>
    <p:extLst>
      <p:ext uri="{BB962C8B-B14F-4D97-AF65-F5344CB8AC3E}">
        <p14:creationId xmlns:p14="http://schemas.microsoft.com/office/powerpoint/2010/main" val="2506178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11</a:t>
            </a:fld>
            <a:endParaRPr lang="en-US"/>
          </a:p>
        </p:txBody>
      </p:sp>
    </p:spTree>
    <p:extLst>
      <p:ext uri="{BB962C8B-B14F-4D97-AF65-F5344CB8AC3E}">
        <p14:creationId xmlns:p14="http://schemas.microsoft.com/office/powerpoint/2010/main" val="1424664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12</a:t>
            </a:fld>
            <a:endParaRPr lang="en-US"/>
          </a:p>
        </p:txBody>
      </p:sp>
    </p:spTree>
    <p:extLst>
      <p:ext uri="{BB962C8B-B14F-4D97-AF65-F5344CB8AC3E}">
        <p14:creationId xmlns:p14="http://schemas.microsoft.com/office/powerpoint/2010/main" val="15777577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13</a:t>
            </a:fld>
            <a:endParaRPr lang="en-US"/>
          </a:p>
        </p:txBody>
      </p:sp>
    </p:spTree>
    <p:extLst>
      <p:ext uri="{BB962C8B-B14F-4D97-AF65-F5344CB8AC3E}">
        <p14:creationId xmlns:p14="http://schemas.microsoft.com/office/powerpoint/2010/main" val="575050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14</a:t>
            </a:fld>
            <a:endParaRPr lang="en-US"/>
          </a:p>
        </p:txBody>
      </p:sp>
    </p:spTree>
    <p:extLst>
      <p:ext uri="{BB962C8B-B14F-4D97-AF65-F5344CB8AC3E}">
        <p14:creationId xmlns:p14="http://schemas.microsoft.com/office/powerpoint/2010/main" val="1951653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15</a:t>
            </a:fld>
            <a:endParaRPr lang="en-US"/>
          </a:p>
        </p:txBody>
      </p:sp>
    </p:spTree>
    <p:extLst>
      <p:ext uri="{BB962C8B-B14F-4D97-AF65-F5344CB8AC3E}">
        <p14:creationId xmlns:p14="http://schemas.microsoft.com/office/powerpoint/2010/main" val="638095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16</a:t>
            </a:fld>
            <a:endParaRPr lang="en-US"/>
          </a:p>
        </p:txBody>
      </p:sp>
    </p:spTree>
    <p:extLst>
      <p:ext uri="{BB962C8B-B14F-4D97-AF65-F5344CB8AC3E}">
        <p14:creationId xmlns:p14="http://schemas.microsoft.com/office/powerpoint/2010/main" val="5195670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17</a:t>
            </a:fld>
            <a:endParaRPr lang="en-US"/>
          </a:p>
        </p:txBody>
      </p:sp>
    </p:spTree>
    <p:extLst>
      <p:ext uri="{BB962C8B-B14F-4D97-AF65-F5344CB8AC3E}">
        <p14:creationId xmlns:p14="http://schemas.microsoft.com/office/powerpoint/2010/main" val="24901219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18</a:t>
            </a:fld>
            <a:endParaRPr lang="en-US"/>
          </a:p>
        </p:txBody>
      </p:sp>
    </p:spTree>
    <p:extLst>
      <p:ext uri="{BB962C8B-B14F-4D97-AF65-F5344CB8AC3E}">
        <p14:creationId xmlns:p14="http://schemas.microsoft.com/office/powerpoint/2010/main" val="3133589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19</a:t>
            </a:fld>
            <a:endParaRPr lang="en-US"/>
          </a:p>
        </p:txBody>
      </p:sp>
    </p:spTree>
    <p:extLst>
      <p:ext uri="{BB962C8B-B14F-4D97-AF65-F5344CB8AC3E}">
        <p14:creationId xmlns:p14="http://schemas.microsoft.com/office/powerpoint/2010/main" val="207225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20</a:t>
            </a:fld>
            <a:endParaRPr lang="en-US"/>
          </a:p>
        </p:txBody>
      </p:sp>
    </p:spTree>
    <p:extLst>
      <p:ext uri="{BB962C8B-B14F-4D97-AF65-F5344CB8AC3E}">
        <p14:creationId xmlns:p14="http://schemas.microsoft.com/office/powerpoint/2010/main" val="1440696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21</a:t>
            </a:fld>
            <a:endParaRPr lang="en-US"/>
          </a:p>
        </p:txBody>
      </p:sp>
    </p:spTree>
    <p:extLst>
      <p:ext uri="{BB962C8B-B14F-4D97-AF65-F5344CB8AC3E}">
        <p14:creationId xmlns:p14="http://schemas.microsoft.com/office/powerpoint/2010/main" val="2286768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22</a:t>
            </a:fld>
            <a:endParaRPr lang="en-US"/>
          </a:p>
        </p:txBody>
      </p:sp>
    </p:spTree>
    <p:extLst>
      <p:ext uri="{BB962C8B-B14F-4D97-AF65-F5344CB8AC3E}">
        <p14:creationId xmlns:p14="http://schemas.microsoft.com/office/powerpoint/2010/main" val="13035073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23</a:t>
            </a:fld>
            <a:endParaRPr lang="en-US"/>
          </a:p>
        </p:txBody>
      </p:sp>
    </p:spTree>
    <p:extLst>
      <p:ext uri="{BB962C8B-B14F-4D97-AF65-F5344CB8AC3E}">
        <p14:creationId xmlns:p14="http://schemas.microsoft.com/office/powerpoint/2010/main" val="11759719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24</a:t>
            </a:fld>
            <a:endParaRPr lang="en-US"/>
          </a:p>
        </p:txBody>
      </p:sp>
    </p:spTree>
    <p:extLst>
      <p:ext uri="{BB962C8B-B14F-4D97-AF65-F5344CB8AC3E}">
        <p14:creationId xmlns:p14="http://schemas.microsoft.com/office/powerpoint/2010/main" val="205764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25</a:t>
            </a:fld>
            <a:endParaRPr lang="en-US"/>
          </a:p>
        </p:txBody>
      </p:sp>
    </p:spTree>
    <p:extLst>
      <p:ext uri="{BB962C8B-B14F-4D97-AF65-F5344CB8AC3E}">
        <p14:creationId xmlns:p14="http://schemas.microsoft.com/office/powerpoint/2010/main" val="4239390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26</a:t>
            </a:fld>
            <a:endParaRPr lang="en-US"/>
          </a:p>
        </p:txBody>
      </p:sp>
    </p:spTree>
    <p:extLst>
      <p:ext uri="{BB962C8B-B14F-4D97-AF65-F5344CB8AC3E}">
        <p14:creationId xmlns:p14="http://schemas.microsoft.com/office/powerpoint/2010/main" val="976600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27</a:t>
            </a:fld>
            <a:endParaRPr lang="en-US"/>
          </a:p>
        </p:txBody>
      </p:sp>
    </p:spTree>
    <p:extLst>
      <p:ext uri="{BB962C8B-B14F-4D97-AF65-F5344CB8AC3E}">
        <p14:creationId xmlns:p14="http://schemas.microsoft.com/office/powerpoint/2010/main" val="41338510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28</a:t>
            </a:fld>
            <a:endParaRPr lang="en-US"/>
          </a:p>
        </p:txBody>
      </p:sp>
    </p:spTree>
    <p:extLst>
      <p:ext uri="{BB962C8B-B14F-4D97-AF65-F5344CB8AC3E}">
        <p14:creationId xmlns:p14="http://schemas.microsoft.com/office/powerpoint/2010/main" val="3850028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29</a:t>
            </a:fld>
            <a:endParaRPr lang="en-US"/>
          </a:p>
        </p:txBody>
      </p:sp>
    </p:spTree>
    <p:extLst>
      <p:ext uri="{BB962C8B-B14F-4D97-AF65-F5344CB8AC3E}">
        <p14:creationId xmlns:p14="http://schemas.microsoft.com/office/powerpoint/2010/main" val="2430988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30</a:t>
            </a:fld>
            <a:endParaRPr lang="en-US"/>
          </a:p>
        </p:txBody>
      </p:sp>
    </p:spTree>
    <p:extLst>
      <p:ext uri="{BB962C8B-B14F-4D97-AF65-F5344CB8AC3E}">
        <p14:creationId xmlns:p14="http://schemas.microsoft.com/office/powerpoint/2010/main" val="12165796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31</a:t>
            </a:fld>
            <a:endParaRPr lang="en-US"/>
          </a:p>
        </p:txBody>
      </p:sp>
    </p:spTree>
    <p:extLst>
      <p:ext uri="{BB962C8B-B14F-4D97-AF65-F5344CB8AC3E}">
        <p14:creationId xmlns:p14="http://schemas.microsoft.com/office/powerpoint/2010/main" val="4776384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32</a:t>
            </a:fld>
            <a:endParaRPr lang="en-US"/>
          </a:p>
        </p:txBody>
      </p:sp>
    </p:spTree>
    <p:extLst>
      <p:ext uri="{BB962C8B-B14F-4D97-AF65-F5344CB8AC3E}">
        <p14:creationId xmlns:p14="http://schemas.microsoft.com/office/powerpoint/2010/main" val="24659381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33</a:t>
            </a:fld>
            <a:endParaRPr lang="en-US"/>
          </a:p>
        </p:txBody>
      </p:sp>
    </p:spTree>
    <p:extLst>
      <p:ext uri="{BB962C8B-B14F-4D97-AF65-F5344CB8AC3E}">
        <p14:creationId xmlns:p14="http://schemas.microsoft.com/office/powerpoint/2010/main" val="34095943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34</a:t>
            </a:fld>
            <a:endParaRPr lang="en-US"/>
          </a:p>
        </p:txBody>
      </p:sp>
    </p:spTree>
    <p:extLst>
      <p:ext uri="{BB962C8B-B14F-4D97-AF65-F5344CB8AC3E}">
        <p14:creationId xmlns:p14="http://schemas.microsoft.com/office/powerpoint/2010/main" val="34684493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35</a:t>
            </a:fld>
            <a:endParaRPr lang="en-US"/>
          </a:p>
        </p:txBody>
      </p:sp>
    </p:spTree>
    <p:extLst>
      <p:ext uri="{BB962C8B-B14F-4D97-AF65-F5344CB8AC3E}">
        <p14:creationId xmlns:p14="http://schemas.microsoft.com/office/powerpoint/2010/main" val="40325935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0C9BA9-D2B0-0145-A162-8270735E99CB}" type="slidenum">
              <a:rPr lang="en-US" smtClean="0"/>
              <a:t>36</a:t>
            </a:fld>
            <a:endParaRPr lang="en-US"/>
          </a:p>
        </p:txBody>
      </p:sp>
    </p:spTree>
    <p:extLst>
      <p:ext uri="{BB962C8B-B14F-4D97-AF65-F5344CB8AC3E}">
        <p14:creationId xmlns:p14="http://schemas.microsoft.com/office/powerpoint/2010/main" val="83663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tr-TR"/>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tr-TR"/>
              <a:t>Click to edit Master subtitle style</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t>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687413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Content Placeholder 2"/>
          <p:cNvSpPr>
            <a:spLocks noGrp="1"/>
          </p:cNvSpPr>
          <p:nvPr>
            <p:ph idx="1"/>
          </p:nvPr>
        </p:nvSpPr>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t>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2040157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tr-TR"/>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tr-TR"/>
              <a:t>Click to edit Master text styles</a:t>
            </a:r>
          </a:p>
        </p:txBody>
      </p:sp>
      <p:sp>
        <p:nvSpPr>
          <p:cNvPr id="4" name="Date Placeholder 3"/>
          <p:cNvSpPr>
            <a:spLocks noGrp="1"/>
          </p:cNvSpPr>
          <p:nvPr>
            <p:ph type="dt" sz="half" idx="10"/>
          </p:nvPr>
        </p:nvSpPr>
        <p:spPr/>
        <p:txBody>
          <a:bodyPr/>
          <a:lstStyle/>
          <a:p>
            <a:fld id="{2F2647A6-9F3D-EE46-8AEB-C71002B716D5}" type="datetimeFigureOut">
              <a:rPr lang="en-US" smtClean="0"/>
              <a:t>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5102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5" name="Date Placeholder 4"/>
          <p:cNvSpPr>
            <a:spLocks noGrp="1"/>
          </p:cNvSpPr>
          <p:nvPr>
            <p:ph type="dt" sz="half" idx="10"/>
          </p:nvPr>
        </p:nvSpPr>
        <p:spPr/>
        <p:txBody>
          <a:bodyPr/>
          <a:lstStyle/>
          <a:p>
            <a:fld id="{2F2647A6-9F3D-EE46-8AEB-C71002B716D5}" type="datetimeFigureOut">
              <a:rPr lang="en-US" smtClean="0"/>
              <a:t>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67570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tr-TR"/>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7" name="Date Placeholder 6"/>
          <p:cNvSpPr>
            <a:spLocks noGrp="1"/>
          </p:cNvSpPr>
          <p:nvPr>
            <p:ph type="dt" sz="half" idx="10"/>
          </p:nvPr>
        </p:nvSpPr>
        <p:spPr/>
        <p:txBody>
          <a:bodyPr/>
          <a:lstStyle/>
          <a:p>
            <a:fld id="{2F2647A6-9F3D-EE46-8AEB-C71002B716D5}" type="datetimeFigureOut">
              <a:rPr lang="en-US" smtClean="0"/>
              <a:t>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649030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Date Placeholder 2"/>
          <p:cNvSpPr>
            <a:spLocks noGrp="1"/>
          </p:cNvSpPr>
          <p:nvPr>
            <p:ph type="dt" sz="half" idx="10"/>
          </p:nvPr>
        </p:nvSpPr>
        <p:spPr/>
        <p:txBody>
          <a:bodyPr/>
          <a:lstStyle/>
          <a:p>
            <a:fld id="{2F2647A6-9F3D-EE46-8AEB-C71002B716D5}" type="datetimeFigureOut">
              <a:rPr lang="en-US" smtClean="0"/>
              <a:t>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119448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2647A6-9F3D-EE46-8AEB-C71002B716D5}" type="datetimeFigureOut">
              <a:rPr lang="en-US" smtClean="0"/>
              <a:t>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1113810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tr-TR"/>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Click to edit Master text styles</a:t>
            </a:r>
          </a:p>
        </p:txBody>
      </p:sp>
      <p:sp>
        <p:nvSpPr>
          <p:cNvPr id="5" name="Date Placeholder 4"/>
          <p:cNvSpPr>
            <a:spLocks noGrp="1"/>
          </p:cNvSpPr>
          <p:nvPr>
            <p:ph type="dt" sz="half" idx="10"/>
          </p:nvPr>
        </p:nvSpPr>
        <p:spPr/>
        <p:txBody>
          <a:bodyPr/>
          <a:lstStyle/>
          <a:p>
            <a:fld id="{2F2647A6-9F3D-EE46-8AEB-C71002B716D5}" type="datetimeFigureOut">
              <a:rPr lang="en-US" smtClean="0"/>
              <a:t>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196576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tr-TR"/>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tr-TR"/>
              <a:t>Drag picture to placeholder or click icon to add</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Click to edit Master text styles</a:t>
            </a:r>
          </a:p>
        </p:txBody>
      </p:sp>
      <p:sp>
        <p:nvSpPr>
          <p:cNvPr id="5" name="Date Placeholder 4"/>
          <p:cNvSpPr>
            <a:spLocks noGrp="1"/>
          </p:cNvSpPr>
          <p:nvPr>
            <p:ph type="dt" sz="half" idx="10"/>
          </p:nvPr>
        </p:nvSpPr>
        <p:spPr/>
        <p:txBody>
          <a:bodyPr/>
          <a:lstStyle/>
          <a:p>
            <a:fld id="{2F2647A6-9F3D-EE46-8AEB-C71002B716D5}" type="datetimeFigureOut">
              <a:rPr lang="en-US" smtClean="0"/>
              <a:t>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1028983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t>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431690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tr-TR"/>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10"/>
          </p:nvPr>
        </p:nvSpPr>
        <p:spPr/>
        <p:txBody>
          <a:bodyPr/>
          <a:lstStyle/>
          <a:p>
            <a:fld id="{2F2647A6-9F3D-EE46-8AEB-C71002B716D5}" type="datetimeFigureOut">
              <a:rPr lang="en-US" smtClean="0"/>
              <a:t>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6039A9-CEB1-C24A-97C1-01A3CAF8F6EB}" type="slidenum">
              <a:rPr lang="en-US" smtClean="0"/>
              <a:t>‹#›</a:t>
            </a:fld>
            <a:endParaRPr lang="en-US"/>
          </a:p>
        </p:txBody>
      </p:sp>
    </p:spTree>
    <p:extLst>
      <p:ext uri="{BB962C8B-B14F-4D97-AF65-F5344CB8AC3E}">
        <p14:creationId xmlns:p14="http://schemas.microsoft.com/office/powerpoint/2010/main" val="1217431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tr-TR"/>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F2647A6-9F3D-EE46-8AEB-C71002B716D5}" type="datetimeFigureOut">
              <a:rPr lang="en-US" smtClean="0"/>
              <a:t>1/20/22</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B6039A9-CEB1-C24A-97C1-01A3CAF8F6EB}" type="slidenum">
              <a:rPr lang="en-US" smtClean="0"/>
              <a:t>‹#›</a:t>
            </a:fld>
            <a:endParaRPr lang="en-US"/>
          </a:p>
        </p:txBody>
      </p:sp>
    </p:spTree>
    <p:extLst>
      <p:ext uri="{BB962C8B-B14F-4D97-AF65-F5344CB8AC3E}">
        <p14:creationId xmlns:p14="http://schemas.microsoft.com/office/powerpoint/2010/main" val="12794336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hyperlink" Target="https://teyit.org/files/yanlis-bilgi-psikolojisi-first-draft.pdf" TargetMode="External"/><Relationship Id="rId3" Type="http://schemas.openxmlformats.org/officeDocument/2006/relationships/hyperlink" Target="https://www.youtube.com/watch?v=e9MvJA_0mFg" TargetMode="External"/><Relationship Id="rId7" Type="http://schemas.openxmlformats.org/officeDocument/2006/relationships/hyperlink" Target="https://teyit.org/files/dezenformasyon-el-kitabi.pdf"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hyperlink" Target="https://teyit.org/files/yanli%C5%9F-bilgileri-%C3%A7%C3%BCr%C3%BCtme-el-kitabi-2020.pdf" TargetMode="External"/><Relationship Id="rId5" Type="http://schemas.openxmlformats.org/officeDocument/2006/relationships/hyperlink" Target="https://www.youtube.com/watch?v=hGyMZ6qOBHI" TargetMode="External"/><Relationship Id="rId4" Type="http://schemas.openxmlformats.org/officeDocument/2006/relationships/hyperlink" Target="https://www.youtube.com/watch?v=Ge4dh4lUtpA"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60767"/>
            <a:ext cx="9994605" cy="5143500"/>
          </a:xfrm>
          <a:prstGeom prst="rect">
            <a:avLst/>
          </a:prstGeom>
        </p:spPr>
      </p:pic>
      <p:sp>
        <p:nvSpPr>
          <p:cNvPr id="5" name="TextBox 4"/>
          <p:cNvSpPr txBox="1"/>
          <p:nvPr/>
        </p:nvSpPr>
        <p:spPr>
          <a:xfrm>
            <a:off x="5411426" y="747867"/>
            <a:ext cx="3411397" cy="361637"/>
          </a:xfrm>
          <a:prstGeom prst="rect">
            <a:avLst/>
          </a:prstGeom>
          <a:noFill/>
        </p:spPr>
        <p:txBody>
          <a:bodyPr wrap="square" rtlCol="0">
            <a:spAutoFit/>
          </a:bodyPr>
          <a:lstStyle/>
          <a:p>
            <a:pPr>
              <a:lnSpc>
                <a:spcPct val="125000"/>
              </a:lnSpc>
            </a:pPr>
            <a:r>
              <a:rPr lang="tr-TR" sz="1400" b="1" dirty="0">
                <a:solidFill>
                  <a:srgbClr val="154389"/>
                </a:solidFill>
              </a:rPr>
              <a:t>TKD 104</a:t>
            </a:r>
            <a:endParaRPr lang="en-US" sz="1400" b="1" dirty="0">
              <a:solidFill>
                <a:srgbClr val="154389"/>
              </a:solidFill>
            </a:endParaRPr>
          </a:p>
        </p:txBody>
      </p:sp>
      <p:sp>
        <p:nvSpPr>
          <p:cNvPr id="6" name="TextBox 5"/>
          <p:cNvSpPr txBox="1"/>
          <p:nvPr/>
        </p:nvSpPr>
        <p:spPr>
          <a:xfrm>
            <a:off x="5411426" y="1027951"/>
            <a:ext cx="3458254" cy="361637"/>
          </a:xfrm>
          <a:prstGeom prst="rect">
            <a:avLst/>
          </a:prstGeom>
          <a:noFill/>
        </p:spPr>
        <p:txBody>
          <a:bodyPr wrap="square" rtlCol="0">
            <a:spAutoFit/>
          </a:bodyPr>
          <a:lstStyle/>
          <a:p>
            <a:pPr>
              <a:lnSpc>
                <a:spcPct val="125000"/>
              </a:lnSpc>
            </a:pPr>
            <a:r>
              <a:rPr lang="tr-TR" sz="1400" b="1" dirty="0"/>
              <a:t>TÜRK DİLİ II</a:t>
            </a:r>
            <a:endParaRPr lang="en-US" sz="1400" b="1" dirty="0"/>
          </a:p>
        </p:txBody>
      </p:sp>
      <p:sp>
        <p:nvSpPr>
          <p:cNvPr id="7" name="TextBox 6"/>
          <p:cNvSpPr txBox="1"/>
          <p:nvPr/>
        </p:nvSpPr>
        <p:spPr>
          <a:xfrm>
            <a:off x="5411426" y="2426050"/>
            <a:ext cx="3458254" cy="412934"/>
          </a:xfrm>
          <a:prstGeom prst="rect">
            <a:avLst/>
          </a:prstGeom>
          <a:noFill/>
        </p:spPr>
        <p:txBody>
          <a:bodyPr wrap="square" rtlCol="0">
            <a:spAutoFit/>
          </a:bodyPr>
          <a:lstStyle/>
          <a:p>
            <a:pPr>
              <a:lnSpc>
                <a:spcPct val="125000"/>
              </a:lnSpc>
            </a:pPr>
            <a:r>
              <a:rPr lang="tr-TR" sz="1800" b="1" dirty="0">
                <a:solidFill>
                  <a:srgbClr val="FF0000"/>
                </a:solidFill>
              </a:rPr>
              <a:t>BİLGİ OKURYAZARLIĞI</a:t>
            </a:r>
            <a:endParaRPr lang="en-US" sz="1800" b="1" dirty="0">
              <a:solidFill>
                <a:srgbClr val="FF0000"/>
              </a:solidFill>
            </a:endParaRPr>
          </a:p>
        </p:txBody>
      </p:sp>
      <p:sp>
        <p:nvSpPr>
          <p:cNvPr id="8" name="TextBox 7"/>
          <p:cNvSpPr txBox="1"/>
          <p:nvPr/>
        </p:nvSpPr>
        <p:spPr>
          <a:xfrm>
            <a:off x="4631032" y="3037515"/>
            <a:ext cx="5363571" cy="1169551"/>
          </a:xfrm>
          <a:prstGeom prst="rect">
            <a:avLst/>
          </a:prstGeom>
          <a:noFill/>
        </p:spPr>
        <p:txBody>
          <a:bodyPr wrap="square" rtlCol="0">
            <a:spAutoFit/>
          </a:bodyPr>
          <a:lstStyle/>
          <a:p>
            <a:pPr>
              <a:lnSpc>
                <a:spcPct val="125000"/>
              </a:lnSpc>
            </a:pPr>
            <a:r>
              <a:rPr lang="tr-TR" sz="1400" b="1" dirty="0">
                <a:solidFill>
                  <a:srgbClr val="FF0000"/>
                </a:solidFill>
              </a:rPr>
              <a:t>	Sunumun esas alındığı kaynak: Prof. Dr. S. Serap </a:t>
            </a:r>
            <a:r>
              <a:rPr lang="tr-TR" sz="1400" b="1" dirty="0" err="1">
                <a:solidFill>
                  <a:srgbClr val="FF0000"/>
                </a:solidFill>
              </a:rPr>
              <a:t>Kurbanoğlu</a:t>
            </a:r>
            <a:r>
              <a:rPr lang="tr-TR" sz="1400" b="1" dirty="0">
                <a:solidFill>
                  <a:srgbClr val="FF0000"/>
                </a:solidFill>
              </a:rPr>
              <a:t>,</a:t>
            </a:r>
          </a:p>
          <a:p>
            <a:pPr>
              <a:lnSpc>
                <a:spcPct val="125000"/>
              </a:lnSpc>
            </a:pPr>
            <a:r>
              <a:rPr lang="tr-TR" sz="1400" b="1" dirty="0">
                <a:solidFill>
                  <a:srgbClr val="FF0000"/>
                </a:solidFill>
              </a:rPr>
              <a:t>	«Bilgi Okuryazarlığı»</a:t>
            </a:r>
          </a:p>
          <a:p>
            <a:pPr>
              <a:lnSpc>
                <a:spcPct val="125000"/>
              </a:lnSpc>
            </a:pPr>
            <a:r>
              <a:rPr lang="tr-TR" sz="1400" b="1" dirty="0">
                <a:solidFill>
                  <a:srgbClr val="FF0000"/>
                </a:solidFill>
              </a:rPr>
              <a:t>	Sunumu hazırlayan: Dr. Canan Öktemgil Turgut</a:t>
            </a:r>
          </a:p>
          <a:p>
            <a:pPr>
              <a:lnSpc>
                <a:spcPct val="125000"/>
              </a:lnSpc>
            </a:pPr>
            <a:r>
              <a:rPr lang="tr-TR" sz="1400" b="1" dirty="0">
                <a:solidFill>
                  <a:srgbClr val="FF0000"/>
                </a:solidFill>
              </a:rPr>
              <a:t>	Sunan: Dr. Hüseyin Göçmenler</a:t>
            </a:r>
            <a:endParaRPr lang="en-US" sz="1400" b="1" dirty="0">
              <a:solidFill>
                <a:srgbClr val="FF0000"/>
              </a:solidFill>
            </a:endParaRPr>
          </a:p>
        </p:txBody>
      </p:sp>
    </p:spTree>
    <p:extLst>
      <p:ext uri="{BB962C8B-B14F-4D97-AF65-F5344CB8AC3E}">
        <p14:creationId xmlns:p14="http://schemas.microsoft.com/office/powerpoint/2010/main" val="326801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158496"/>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6" name="TextBox 5"/>
          <p:cNvSpPr txBox="1"/>
          <p:nvPr/>
        </p:nvSpPr>
        <p:spPr>
          <a:xfrm>
            <a:off x="259949" y="272892"/>
            <a:ext cx="8624098" cy="523220"/>
          </a:xfrm>
          <a:prstGeom prst="rect">
            <a:avLst/>
          </a:prstGeom>
          <a:noFill/>
        </p:spPr>
        <p:txBody>
          <a:bodyPr wrap="square" rtlCol="0">
            <a:spAutoFit/>
          </a:bodyPr>
          <a:lstStyle/>
          <a:p>
            <a:r>
              <a:rPr lang="en-US" sz="2800" b="1" spc="200" dirty="0" err="1">
                <a:solidFill>
                  <a:srgbClr val="FCF5E8"/>
                </a:solidFill>
              </a:rPr>
              <a:t>Neler</a:t>
            </a:r>
            <a:r>
              <a:rPr lang="en-US" sz="2800" b="1" spc="200" dirty="0">
                <a:solidFill>
                  <a:srgbClr val="FCF5E8"/>
                </a:solidFill>
              </a:rPr>
              <a:t> </a:t>
            </a:r>
            <a:r>
              <a:rPr lang="en-US" sz="2800" b="1" spc="200" dirty="0" err="1">
                <a:solidFill>
                  <a:srgbClr val="FCF5E8"/>
                </a:solidFill>
              </a:rPr>
              <a:t>öğrenece</a:t>
            </a:r>
            <a:r>
              <a:rPr lang="tr-TR" sz="2800" b="1" spc="200" dirty="0" err="1">
                <a:solidFill>
                  <a:srgbClr val="FCF5E8"/>
                </a:solidFill>
              </a:rPr>
              <a:t>ksin</a:t>
            </a:r>
            <a:r>
              <a:rPr lang="en-US" sz="2800" b="1" spc="200" dirty="0" err="1">
                <a:solidFill>
                  <a:srgbClr val="FCF5E8"/>
                </a:solidFill>
              </a:rPr>
              <a:t>iz</a:t>
            </a:r>
            <a:r>
              <a:rPr lang="en-US" sz="2800" b="1" spc="200" dirty="0">
                <a:solidFill>
                  <a:srgbClr val="FCF5E8"/>
                </a:solidFill>
              </a:rPr>
              <a:t>?</a:t>
            </a:r>
          </a:p>
        </p:txBody>
      </p:sp>
      <p:sp>
        <p:nvSpPr>
          <p:cNvPr id="7" name="TextBox 6"/>
          <p:cNvSpPr txBox="1"/>
          <p:nvPr/>
        </p:nvSpPr>
        <p:spPr>
          <a:xfrm>
            <a:off x="396297" y="1007450"/>
            <a:ext cx="8351403" cy="3939540"/>
          </a:xfrm>
          <a:prstGeom prst="rect">
            <a:avLst/>
          </a:prstGeom>
          <a:noFill/>
        </p:spPr>
        <p:txBody>
          <a:bodyPr wrap="square" rtlCol="0">
            <a:spAutoFit/>
          </a:bodyPr>
          <a:lstStyle/>
          <a:p>
            <a:r>
              <a:rPr lang="tr-TR" sz="2000" dirty="0"/>
              <a:t>Bu ünite sonunda;</a:t>
            </a:r>
          </a:p>
          <a:p>
            <a:endParaRPr lang="tr-TR" sz="2000" dirty="0"/>
          </a:p>
          <a:p>
            <a:pPr marL="342900" lvl="0" indent="-342900">
              <a:lnSpc>
                <a:spcPct val="150000"/>
              </a:lnSpc>
              <a:buFont typeface="Arial" panose="020B0604020202020204" pitchFamily="34" charset="0"/>
              <a:buChar char="•"/>
            </a:pPr>
            <a:r>
              <a:rPr lang="tr-TR" sz="2000" dirty="0"/>
              <a:t>Bilgi okuryazarlığı kavramını tanımlayabileceksiniz.</a:t>
            </a:r>
          </a:p>
          <a:p>
            <a:pPr marL="342900" lvl="0" indent="-342900">
              <a:lnSpc>
                <a:spcPct val="150000"/>
              </a:lnSpc>
              <a:buFont typeface="Arial" panose="020B0604020202020204" pitchFamily="34" charset="0"/>
              <a:buChar char="•"/>
            </a:pPr>
            <a:r>
              <a:rPr lang="tr-TR" sz="2000" dirty="0"/>
              <a:t>Bilgi problemi çözme aşamalarını açıklayabileceksiniz.</a:t>
            </a:r>
          </a:p>
          <a:p>
            <a:pPr marL="342900" lvl="0" indent="-342900">
              <a:lnSpc>
                <a:spcPct val="150000"/>
              </a:lnSpc>
              <a:buFont typeface="Arial" panose="020B0604020202020204" pitchFamily="34" charset="0"/>
              <a:buChar char="•"/>
            </a:pPr>
            <a:r>
              <a:rPr lang="tr-TR" sz="2000" dirty="0"/>
              <a:t>Bilgi okuryazarlığı ile görsel okuryazarlık, bilgisayar okuryazarlığı, medya okuryazarlığı arasındaki ilişkiyi açıklayabileceksiniz.</a:t>
            </a:r>
          </a:p>
          <a:p>
            <a:pPr marL="342900" lvl="0" indent="-342900">
              <a:lnSpc>
                <a:spcPct val="150000"/>
              </a:lnSpc>
              <a:buFont typeface="Arial" panose="020B0604020202020204" pitchFamily="34" charset="0"/>
              <a:buChar char="•"/>
            </a:pPr>
            <a:r>
              <a:rPr lang="tr-TR" sz="2000" dirty="0"/>
              <a:t>Bilgi okuryazarlığı ile yaşam boyu öğrenme arasındaki ilişkiyi açıklayabileceksiniz.</a:t>
            </a:r>
          </a:p>
          <a:p>
            <a:pPr marL="342900" lvl="0" indent="-342900">
              <a:lnSpc>
                <a:spcPct val="150000"/>
              </a:lnSpc>
              <a:buFont typeface="Arial" panose="020B0604020202020204" pitchFamily="34" charset="0"/>
              <a:buChar char="•"/>
            </a:pPr>
            <a:r>
              <a:rPr lang="tr-TR" sz="2000" dirty="0"/>
              <a:t>Bilgi okuryazarlığının önemini açıklayabileceksiniz.</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45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solidFill>
                  <a:schemeClr val="bg1"/>
                </a:solidFill>
              </a:rPr>
              <a:t>Anahtar kavramlar</a:t>
            </a:r>
            <a:endParaRPr lang="en-US" sz="2800" b="1" dirty="0">
              <a:solidFill>
                <a:schemeClr val="bg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701040" y="1700957"/>
            <a:ext cx="4572000" cy="2351285"/>
          </a:xfrm>
          <a:prstGeom prst="rect">
            <a:avLst/>
          </a:prstGeom>
        </p:spPr>
        <p:txBody>
          <a:bodyPr>
            <a:spAutoFit/>
          </a:bodyPr>
          <a:lstStyle/>
          <a:p>
            <a:pPr marL="342900" lvl="0" indent="-342900">
              <a:lnSpc>
                <a:spcPct val="150000"/>
              </a:lnSpc>
              <a:spcAft>
                <a:spcPts val="0"/>
              </a:spcAft>
              <a:buFont typeface="Times New Roman" panose="02020603050405020304" pitchFamily="18" charset="0"/>
              <a:buChar char="•"/>
            </a:pPr>
            <a:r>
              <a:rPr lang="tr-TR" sz="2000" dirty="0">
                <a:latin typeface="Calibri" panose="020F0502020204030204" pitchFamily="34" charset="0"/>
                <a:ea typeface="Times New Roman" panose="02020603050405020304" pitchFamily="18" charset="0"/>
              </a:rPr>
              <a:t>Bilgi okuryazarlığı</a:t>
            </a:r>
            <a:endParaRPr lang="tr-TR" sz="2000" dirty="0">
              <a:latin typeface="Times New Roman" panose="02020603050405020304" pitchFamily="18" charset="0"/>
              <a:ea typeface="Times New Roman" panose="02020603050405020304" pitchFamily="18" charset="0"/>
            </a:endParaRPr>
          </a:p>
          <a:p>
            <a:pPr marL="342900" lvl="0" indent="-342900">
              <a:lnSpc>
                <a:spcPct val="150000"/>
              </a:lnSpc>
              <a:spcAft>
                <a:spcPts val="0"/>
              </a:spcAft>
              <a:buFont typeface="Times New Roman" panose="02020603050405020304" pitchFamily="18" charset="0"/>
              <a:buChar char="•"/>
            </a:pPr>
            <a:r>
              <a:rPr lang="tr-TR" sz="2000" dirty="0">
                <a:latin typeface="Calibri" panose="020F0502020204030204" pitchFamily="34" charset="0"/>
                <a:ea typeface="Times New Roman" panose="02020603050405020304" pitchFamily="18" charset="0"/>
              </a:rPr>
              <a:t>Görsel okuryazarlık</a:t>
            </a:r>
            <a:endParaRPr lang="tr-TR" sz="2000" dirty="0">
              <a:latin typeface="Times New Roman" panose="02020603050405020304" pitchFamily="18" charset="0"/>
              <a:ea typeface="Times New Roman" panose="02020603050405020304" pitchFamily="18" charset="0"/>
            </a:endParaRPr>
          </a:p>
          <a:p>
            <a:pPr marL="342900" lvl="0" indent="-342900">
              <a:lnSpc>
                <a:spcPct val="150000"/>
              </a:lnSpc>
              <a:spcAft>
                <a:spcPts val="0"/>
              </a:spcAft>
              <a:buFont typeface="Times New Roman" panose="02020603050405020304" pitchFamily="18" charset="0"/>
              <a:buChar char="•"/>
            </a:pPr>
            <a:r>
              <a:rPr lang="tr-TR" sz="2000" dirty="0">
                <a:latin typeface="Calibri" panose="020F0502020204030204" pitchFamily="34" charset="0"/>
                <a:ea typeface="Times New Roman" panose="02020603050405020304" pitchFamily="18" charset="0"/>
              </a:rPr>
              <a:t>Bilgisayar okuryazarlığı </a:t>
            </a:r>
            <a:endParaRPr lang="tr-TR" sz="2000" dirty="0">
              <a:latin typeface="Times New Roman" panose="02020603050405020304" pitchFamily="18" charset="0"/>
              <a:ea typeface="Times New Roman" panose="02020603050405020304" pitchFamily="18" charset="0"/>
            </a:endParaRPr>
          </a:p>
          <a:p>
            <a:pPr marL="342900" lvl="0" indent="-342900">
              <a:lnSpc>
                <a:spcPct val="150000"/>
              </a:lnSpc>
              <a:spcAft>
                <a:spcPts val="0"/>
              </a:spcAft>
              <a:buFont typeface="Times New Roman" panose="02020603050405020304" pitchFamily="18" charset="0"/>
              <a:buChar char="•"/>
            </a:pPr>
            <a:r>
              <a:rPr lang="tr-TR" sz="2000" dirty="0">
                <a:latin typeface="Calibri" panose="020F0502020204030204" pitchFamily="34" charset="0"/>
                <a:ea typeface="Times New Roman" panose="02020603050405020304" pitchFamily="18" charset="0"/>
              </a:rPr>
              <a:t>Medya okuryazarlığı</a:t>
            </a:r>
            <a:endParaRPr lang="tr-TR" sz="2000" dirty="0">
              <a:latin typeface="Times New Roman" panose="02020603050405020304" pitchFamily="18" charset="0"/>
              <a:ea typeface="Times New Roman" panose="02020603050405020304" pitchFamily="18" charset="0"/>
            </a:endParaRPr>
          </a:p>
          <a:p>
            <a:pPr marL="342900" lvl="0" indent="-342900">
              <a:lnSpc>
                <a:spcPct val="150000"/>
              </a:lnSpc>
              <a:spcAft>
                <a:spcPts val="0"/>
              </a:spcAft>
              <a:buFont typeface="Times New Roman" panose="02020603050405020304" pitchFamily="18" charset="0"/>
              <a:buChar char="•"/>
            </a:pPr>
            <a:r>
              <a:rPr lang="tr-TR" sz="2000" dirty="0">
                <a:latin typeface="Calibri" panose="020F0502020204030204" pitchFamily="34" charset="0"/>
                <a:ea typeface="Times New Roman" panose="02020603050405020304" pitchFamily="18" charset="0"/>
              </a:rPr>
              <a:t>Yaşam boyu öğrenme</a:t>
            </a:r>
            <a:endParaRPr lang="tr-TR"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75911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solidFill>
                  <a:schemeClr val="bg1"/>
                </a:solidFill>
              </a:rPr>
              <a:t>Giriş sorusu</a:t>
            </a:r>
            <a:endParaRPr lang="en-US" sz="2800" b="1" dirty="0">
              <a:solidFill>
                <a:schemeClr val="bg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966656" y="2036275"/>
            <a:ext cx="5106591" cy="400110"/>
          </a:xfrm>
          <a:prstGeom prst="rect">
            <a:avLst/>
          </a:prstGeom>
        </p:spPr>
        <p:txBody>
          <a:bodyPr wrap="none">
            <a:spAutoFit/>
          </a:bodyPr>
          <a:lstStyle/>
          <a:p>
            <a:pPr lvl="0">
              <a:spcAft>
                <a:spcPts val="0"/>
              </a:spcAft>
            </a:pPr>
            <a:r>
              <a:rPr lang="tr-TR" sz="2000" dirty="0">
                <a:latin typeface="Calibri" panose="020F0502020204030204" pitchFamily="34" charset="0"/>
                <a:ea typeface="Times New Roman" panose="02020603050405020304" pitchFamily="18" charset="0"/>
              </a:rPr>
              <a:t>Bilgi okuryazarlığı kavramı size ne ifade ediyor? </a:t>
            </a:r>
            <a:endParaRPr lang="tr-TR"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3886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solidFill>
                  <a:schemeClr val="bg1"/>
                </a:solidFill>
              </a:rPr>
              <a:t>Giriş</a:t>
            </a:r>
            <a:endParaRPr lang="en-US" sz="2800" b="1" dirty="0">
              <a:solidFill>
                <a:schemeClr val="bg1"/>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121920" y="1075013"/>
            <a:ext cx="9022080" cy="3785652"/>
          </a:xfrm>
          <a:prstGeom prst="rect">
            <a:avLst/>
          </a:prstGeom>
        </p:spPr>
        <p:txBody>
          <a:bodyPr wrap="square">
            <a:spAutoFit/>
          </a:bodyPr>
          <a:lstStyle/>
          <a:p>
            <a:pPr marL="342900" indent="-342900" algn="just">
              <a:spcAft>
                <a:spcPts val="0"/>
              </a:spcAft>
              <a:buFont typeface="Arial" panose="020B0604020202020204" pitchFamily="34" charset="0"/>
              <a:buChar char="•"/>
            </a:pPr>
            <a:r>
              <a:rPr lang="tr-TR" sz="2000" dirty="0">
                <a:latin typeface="Calibri" panose="020F0502020204030204" pitchFamily="34" charset="0"/>
                <a:ea typeface="Times New Roman" panose="02020603050405020304" pitchFamily="18" charset="0"/>
              </a:rPr>
              <a:t>Okuryazar, sadece okuyup yazabilen değil, aynı zamanda okuduğunu anlayabilen, yorumlayabilen ve gerektiğinde uygulayabilen kimse (</a:t>
            </a:r>
            <a:r>
              <a:rPr lang="tr-TR" sz="2000" dirty="0" err="1">
                <a:latin typeface="Calibri" panose="020F0502020204030204" pitchFamily="34" charset="0"/>
                <a:ea typeface="Times New Roman" panose="02020603050405020304" pitchFamily="18" charset="0"/>
              </a:rPr>
              <a:t>Houff</a:t>
            </a:r>
            <a:r>
              <a:rPr lang="tr-TR" sz="2000" dirty="0">
                <a:latin typeface="Calibri" panose="020F0502020204030204" pitchFamily="34" charset="0"/>
                <a:ea typeface="Times New Roman" panose="02020603050405020304" pitchFamily="18" charset="0"/>
              </a:rPr>
              <a:t>, 2002). </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Günümüzdeki yeni okuryazarlık kavramları: bilgisayar okuryazarlığı, çevre okuryazarlığı, siyaset okuryazarlığı, tüketici 	okuryazarlığı … (</a:t>
            </a:r>
            <a:r>
              <a:rPr lang="tr-TR" sz="2000" dirty="0" err="1"/>
              <a:t>Snavely</a:t>
            </a:r>
            <a:r>
              <a:rPr lang="tr-TR" sz="2000" dirty="0"/>
              <a:t> ve Cooper, 1997, s. 12).</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Okuryazarlık, ilgili alanda temel düzeyde gerekli bilgi ve becerilere sahip olmaktır. </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Bilgi okuryazarlığı kavramı tüm diğer okuryazarlık türlerini etkileyen, diğer okuryazarlıkların gelişmesine katkıda bulunan bir özelliğe sahip.</a:t>
            </a:r>
            <a:r>
              <a:rPr lang="tr-TR" b="1" dirty="0"/>
              <a:t> </a:t>
            </a:r>
            <a:endParaRPr lang="tr-TR" dirty="0"/>
          </a:p>
          <a:p>
            <a:pPr algn="just">
              <a:spcAft>
                <a:spcPts val="0"/>
              </a:spcAft>
            </a:pPr>
            <a:endParaRPr lang="tr-TR"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68647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tr-TR" sz="2800" b="1" dirty="0"/>
              <a:t>1. Bilgi okuryazarlığı kavramı</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0" y="856184"/>
            <a:ext cx="9011918" cy="3477875"/>
          </a:xfrm>
          <a:prstGeom prst="rect">
            <a:avLst/>
          </a:prstGeom>
        </p:spPr>
        <p:txBody>
          <a:bodyPr wrap="square">
            <a:spAutoFit/>
          </a:bodyPr>
          <a:lstStyle/>
          <a:p>
            <a:r>
              <a:rPr lang="tr-TR" sz="2000" b="1" dirty="0"/>
              <a:t>Bilgi okuryazarlığının tanımları</a:t>
            </a:r>
          </a:p>
          <a:p>
            <a:pPr marL="457200" indent="-457200">
              <a:buFont typeface="+mj-lt"/>
              <a:buAutoNum type="arabicPeriod"/>
            </a:pPr>
            <a:r>
              <a:rPr lang="tr-TR" sz="2000" dirty="0"/>
              <a:t>Bilgi okuryazarlığı kavramının ne olduğunu açıklayan tanımlar</a:t>
            </a:r>
          </a:p>
          <a:p>
            <a:pPr marL="457200" indent="-457200">
              <a:buFont typeface="+mj-lt"/>
              <a:buAutoNum type="arabicPeriod"/>
            </a:pPr>
            <a:r>
              <a:rPr lang="tr-TR" sz="2000" dirty="0"/>
              <a:t>Bilgi okuryazarı bireylerin özelliklerini açıklayan tanımlar</a:t>
            </a:r>
          </a:p>
          <a:p>
            <a:pPr marL="457200" indent="-457200">
              <a:buFont typeface="+mj-lt"/>
              <a:buAutoNum type="arabicPeriod"/>
            </a:pPr>
            <a:endParaRPr lang="tr-TR" sz="2000" dirty="0"/>
          </a:p>
          <a:p>
            <a:pPr marL="342900" indent="-342900">
              <a:buFont typeface="Wingdings" panose="05000000000000000000" pitchFamily="2" charset="2"/>
              <a:buChar char="§"/>
            </a:pPr>
            <a:r>
              <a:rPr lang="tr-TR" sz="2000" dirty="0"/>
              <a:t>Kavramın isim babası Paul </a:t>
            </a:r>
            <a:r>
              <a:rPr lang="tr-TR" sz="2000" dirty="0" err="1"/>
              <a:t>Zurkowski</a:t>
            </a:r>
            <a:r>
              <a:rPr lang="tr-TR" sz="2000" dirty="0"/>
              <a:t> (1974): Bilgi okuryazarı, bilgi kaynaklarını kullanma becerilerine sahip ve bu becerileri problem çözme amacıyla kullanan kişi.</a:t>
            </a:r>
          </a:p>
          <a:p>
            <a:pPr marL="342900" indent="-342900">
              <a:buFont typeface="Wingdings" panose="05000000000000000000" pitchFamily="2" charset="2"/>
              <a:buChar char="§"/>
            </a:pPr>
            <a:r>
              <a:rPr lang="tr-TR" sz="2000" dirty="0" err="1"/>
              <a:t>Owens</a:t>
            </a:r>
            <a:r>
              <a:rPr lang="tr-TR" sz="2000" dirty="0"/>
              <a:t> (1976):  Bilgi okuryazarlığı kavramını demokrasi ile ilişkilendirdi.</a:t>
            </a:r>
          </a:p>
          <a:p>
            <a:endParaRPr lang="tr-TR" sz="2000" dirty="0"/>
          </a:p>
          <a:p>
            <a:endParaRPr lang="tr-TR" sz="2000" dirty="0"/>
          </a:p>
          <a:p>
            <a:endParaRPr lang="tr-TR" sz="2000" dirty="0"/>
          </a:p>
        </p:txBody>
      </p:sp>
    </p:spTree>
    <p:extLst>
      <p:ext uri="{BB962C8B-B14F-4D97-AF65-F5344CB8AC3E}">
        <p14:creationId xmlns:p14="http://schemas.microsoft.com/office/powerpoint/2010/main" val="1400927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tr-TR" sz="2800" b="1" dirty="0"/>
              <a:t>1. Bilgi okuryazarlığı kavramı</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0" y="856184"/>
            <a:ext cx="9011918" cy="3170099"/>
          </a:xfrm>
          <a:prstGeom prst="rect">
            <a:avLst/>
          </a:prstGeom>
        </p:spPr>
        <p:txBody>
          <a:bodyPr wrap="square">
            <a:spAutoFit/>
          </a:bodyPr>
          <a:lstStyle/>
          <a:p>
            <a:pPr marL="342900" indent="-342900">
              <a:buFont typeface="Wingdings" panose="05000000000000000000" pitchFamily="2" charset="2"/>
              <a:buChar char="§"/>
            </a:pPr>
            <a:r>
              <a:rPr lang="tr-TR" sz="2000" dirty="0"/>
              <a:t>Amerikan Kütüphane Derneği (1989): Bilgi okuryazarı olmak, bilgiye ihtiyaç duyulduğunda bunu fark etmek, ihtiyaç duyulan bilgiyi bulmak, elde edilen bilgiyi değerlendirmek ve etkin olarak kullanmaktır.</a:t>
            </a:r>
          </a:p>
          <a:p>
            <a:pPr marL="342900" indent="-342900">
              <a:buFont typeface="Wingdings" panose="05000000000000000000" pitchFamily="2" charset="2"/>
              <a:buChar char="§"/>
            </a:pPr>
            <a:endParaRPr lang="tr-TR" sz="2000" dirty="0"/>
          </a:p>
          <a:p>
            <a:pPr marL="342900" indent="-342900">
              <a:buFont typeface="Wingdings" panose="05000000000000000000" pitchFamily="2" charset="2"/>
              <a:buChar char="§"/>
            </a:pPr>
            <a:r>
              <a:rPr lang="tr-TR" sz="2000" dirty="0"/>
              <a:t>Derneğin yeni tanımına göre (2000)  kavram, bilgi problemlerini çözme becerisidir ve  yaşam boyu öğrenme ile ilişkilidir.</a:t>
            </a:r>
          </a:p>
          <a:p>
            <a:endParaRPr lang="tr-TR" sz="2000" dirty="0"/>
          </a:p>
          <a:p>
            <a:endParaRPr lang="tr-TR" sz="2000" dirty="0"/>
          </a:p>
          <a:p>
            <a:endParaRPr lang="tr-TR" sz="2000" dirty="0"/>
          </a:p>
          <a:p>
            <a:endParaRPr lang="tr-TR" sz="2000" dirty="0"/>
          </a:p>
        </p:txBody>
      </p:sp>
    </p:spTree>
    <p:extLst>
      <p:ext uri="{BB962C8B-B14F-4D97-AF65-F5344CB8AC3E}">
        <p14:creationId xmlns:p14="http://schemas.microsoft.com/office/powerpoint/2010/main" val="1360107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tr-TR" sz="2800" b="1" dirty="0"/>
              <a:t>1. Bilgi okuryazarlığı kavramı</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0" y="849219"/>
            <a:ext cx="8940800" cy="4301177"/>
          </a:xfrm>
          <a:prstGeom prst="rect">
            <a:avLst/>
          </a:prstGeom>
        </p:spPr>
        <p:txBody>
          <a:bodyPr wrap="square">
            <a:spAutoFit/>
          </a:bodyPr>
          <a:lstStyle/>
          <a:p>
            <a:r>
              <a:rPr lang="tr-TR" sz="2000" dirty="0" err="1"/>
              <a:t>Doyle</a:t>
            </a:r>
            <a:r>
              <a:rPr lang="tr-TR" sz="2000" dirty="0"/>
              <a:t> ise bilgi okuryazarı olan bireyin özelliklerini listelemiştir (1992):</a:t>
            </a:r>
          </a:p>
          <a:p>
            <a:endParaRPr lang="tr-TR" sz="2000" dirty="0"/>
          </a:p>
          <a:p>
            <a:r>
              <a:rPr lang="tr-TR" sz="2000" b="1" dirty="0"/>
              <a:t>Bilgi okuryazarı birey :</a:t>
            </a:r>
          </a:p>
          <a:p>
            <a:pPr marL="342900" indent="-342900">
              <a:buFont typeface="Arial" panose="020B0604020202020204" pitchFamily="34" charset="0"/>
              <a:buChar char="•"/>
            </a:pPr>
            <a:r>
              <a:rPr lang="tr-TR" sz="2000" dirty="0"/>
              <a:t>Doğru ve yeterli bilginin mantıklı karar almadaki yerini bilir, </a:t>
            </a:r>
          </a:p>
          <a:p>
            <a:pPr marL="342900" indent="-342900">
              <a:buFont typeface="Arial" panose="020B0604020202020204" pitchFamily="34" charset="0"/>
              <a:buChar char="•"/>
            </a:pPr>
            <a:r>
              <a:rPr lang="tr-TR" sz="2000" dirty="0"/>
              <a:t>Bilgi gereksinimini fark eder, </a:t>
            </a:r>
          </a:p>
          <a:p>
            <a:pPr marL="342900" indent="-342900">
              <a:buFont typeface="Arial" panose="020B0604020202020204" pitchFamily="34" charset="0"/>
              <a:buChar char="•"/>
            </a:pPr>
            <a:r>
              <a:rPr lang="tr-TR" sz="2000" dirty="0"/>
              <a:t>Bilgi gereksinimine dayalı sorular formüle eder, </a:t>
            </a:r>
          </a:p>
          <a:p>
            <a:pPr marL="342900" indent="-342900">
              <a:buFont typeface="Arial" panose="020B0604020202020204" pitchFamily="34" charset="0"/>
              <a:buChar char="•"/>
            </a:pPr>
            <a:r>
              <a:rPr lang="tr-TR" sz="2000" dirty="0"/>
              <a:t>Olası bilgi kaynaklarını belirler, başarılı araştırma stratejileri geliştirir, </a:t>
            </a:r>
          </a:p>
          <a:p>
            <a:pPr marL="342900" indent="-342900">
              <a:buFont typeface="Arial" panose="020B0604020202020204" pitchFamily="34" charset="0"/>
              <a:buChar char="•"/>
            </a:pPr>
            <a:r>
              <a:rPr lang="tr-TR" sz="2000" dirty="0"/>
              <a:t>Bilgi kaynaklarına erişir, </a:t>
            </a:r>
          </a:p>
          <a:p>
            <a:pPr marL="342900" indent="-342900">
              <a:buFont typeface="Arial" panose="020B0604020202020204" pitchFamily="34" charset="0"/>
              <a:buChar char="•"/>
            </a:pPr>
            <a:r>
              <a:rPr lang="tr-TR" sz="2000" dirty="0"/>
              <a:t>Bilgiyi değerlendirir,</a:t>
            </a:r>
          </a:p>
          <a:p>
            <a:pPr marL="342900" indent="-342900">
              <a:buFont typeface="Arial" panose="020B0604020202020204" pitchFamily="34" charset="0"/>
              <a:buChar char="•"/>
            </a:pPr>
            <a:r>
              <a:rPr lang="tr-TR" sz="2000" dirty="0"/>
              <a:t>Bilgiyi düzenler, </a:t>
            </a:r>
          </a:p>
          <a:p>
            <a:pPr marL="342900" indent="-342900">
              <a:buFont typeface="Arial" panose="020B0604020202020204" pitchFamily="34" charset="0"/>
              <a:buChar char="•"/>
            </a:pPr>
            <a:r>
              <a:rPr lang="tr-TR" sz="2000" dirty="0"/>
              <a:t>Yeni bilgiyi mevcut bilgisiyle bütünleştirir, </a:t>
            </a:r>
          </a:p>
          <a:p>
            <a:pPr marL="342900" indent="-342900">
              <a:buFont typeface="Arial" panose="020B0604020202020204" pitchFamily="34" charset="0"/>
              <a:buChar char="•"/>
            </a:pPr>
            <a:r>
              <a:rPr lang="tr-TR" sz="2000" dirty="0"/>
              <a:t>Bilgiyi eleştirel düşünme ve problem çözmede kullanır (</a:t>
            </a:r>
            <a:r>
              <a:rPr lang="tr-TR" sz="2000" dirty="0" err="1"/>
              <a:t>Doyle</a:t>
            </a:r>
            <a:r>
              <a:rPr lang="tr-TR" sz="2000" dirty="0"/>
              <a:t>, 1992, s. 8; 1994, s. 3; </a:t>
            </a:r>
            <a:r>
              <a:rPr lang="tr-TR" sz="2000" dirty="0" err="1"/>
              <a:t>Kurbanoğlu</a:t>
            </a:r>
            <a:r>
              <a:rPr lang="tr-TR" sz="2000" dirty="0"/>
              <a:t>, 2010, s. 726)</a:t>
            </a:r>
          </a:p>
          <a:p>
            <a:endParaRPr lang="tr-TR" dirty="0"/>
          </a:p>
        </p:txBody>
      </p:sp>
    </p:spTree>
    <p:extLst>
      <p:ext uri="{BB962C8B-B14F-4D97-AF65-F5344CB8AC3E}">
        <p14:creationId xmlns:p14="http://schemas.microsoft.com/office/powerpoint/2010/main" val="641321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0" y="934720"/>
            <a:ext cx="9143998" cy="3477875"/>
          </a:xfrm>
          <a:prstGeom prst="rect">
            <a:avLst/>
          </a:prstGeom>
        </p:spPr>
        <p:txBody>
          <a:bodyPr wrap="square">
            <a:spAutoFit/>
          </a:bodyPr>
          <a:lstStyle/>
          <a:p>
            <a:pPr marL="342900" indent="-342900">
              <a:buFont typeface="Arial" panose="020B0604020202020204" pitchFamily="34" charset="0"/>
              <a:buChar char="•"/>
            </a:pPr>
            <a:r>
              <a:rPr lang="tr-TR" sz="2000" dirty="0"/>
              <a:t>Bilgi okuryazarlığı tanımlarının kapsamının giderek genişlediği görülür.</a:t>
            </a:r>
          </a:p>
          <a:p>
            <a:pPr marL="342900" indent="-342900">
              <a:buFont typeface="Arial" panose="020B0604020202020204" pitchFamily="34" charset="0"/>
              <a:buChar char="•"/>
            </a:pPr>
            <a:r>
              <a:rPr lang="tr-TR" sz="2000" dirty="0"/>
              <a:t>Bilgi okuryazarlığı çeşitli okuryazarlık becerilerinin birleşimidir:</a:t>
            </a:r>
          </a:p>
          <a:p>
            <a:endParaRPr lang="tr-TR" sz="2000" dirty="0"/>
          </a:p>
          <a:p>
            <a:pPr marL="800100" lvl="1" indent="-457200">
              <a:buFont typeface="+mj-lt"/>
              <a:buAutoNum type="arabicPeriod"/>
            </a:pPr>
            <a:r>
              <a:rPr lang="tr-TR" sz="2000" b="1" dirty="0"/>
              <a:t>Bilgi becerileri,</a:t>
            </a:r>
            <a:r>
              <a:rPr lang="tr-TR" sz="2000" dirty="0"/>
              <a:t> </a:t>
            </a:r>
          </a:p>
          <a:p>
            <a:pPr marL="800100" lvl="1" indent="-457200">
              <a:buFont typeface="+mj-lt"/>
              <a:buAutoNum type="arabicPeriod"/>
            </a:pPr>
            <a:r>
              <a:rPr lang="tr-TR" sz="2000" b="1" dirty="0"/>
              <a:t>Üst düzey</a:t>
            </a:r>
            <a:r>
              <a:rPr lang="tr-TR" sz="2000" dirty="0"/>
              <a:t> </a:t>
            </a:r>
            <a:r>
              <a:rPr lang="tr-TR" sz="2000" b="1" dirty="0"/>
              <a:t>düşünme becerileri,</a:t>
            </a:r>
            <a:endParaRPr lang="tr-TR" sz="2000" dirty="0"/>
          </a:p>
          <a:p>
            <a:pPr marL="800100" lvl="1" indent="-457200">
              <a:buFont typeface="+mj-lt"/>
              <a:buAutoNum type="arabicPeriod"/>
            </a:pPr>
            <a:r>
              <a:rPr lang="tr-TR" sz="2000" b="1" dirty="0"/>
              <a:t>Bireysel beceriler</a:t>
            </a:r>
            <a:r>
              <a:rPr lang="tr-TR" sz="2000" dirty="0"/>
              <a:t> (</a:t>
            </a:r>
            <a:r>
              <a:rPr lang="tr-TR" sz="2000" dirty="0" err="1"/>
              <a:t>Kurbanoğlu</a:t>
            </a:r>
            <a:r>
              <a:rPr lang="tr-TR" sz="2000" dirty="0"/>
              <a:t>, 2010).</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Bilgi okuryazarlığı, ayrıca, demokrasi, fırsat eşitliği, sosyal kabul gibi toplumsal konularla, verimlilik gibi ekonomik konularla, intihal gibi etik konularla, telif hakkı gibi yasal konularla da yakından ilişkilidir (</a:t>
            </a:r>
            <a:r>
              <a:rPr lang="tr-TR" sz="2000" dirty="0" err="1"/>
              <a:t>Kurbanoğlu</a:t>
            </a:r>
            <a:r>
              <a:rPr lang="tr-TR" sz="2000" dirty="0"/>
              <a:t>, 2010).</a:t>
            </a:r>
          </a:p>
          <a:p>
            <a:endParaRPr lang="tr-TR" sz="2000" dirty="0"/>
          </a:p>
        </p:txBody>
      </p:sp>
      <p:sp>
        <p:nvSpPr>
          <p:cNvPr id="6" name="Rectangle 8"/>
          <p:cNvSpPr/>
          <p:nvPr/>
        </p:nvSpPr>
        <p:spPr>
          <a:xfrm>
            <a:off x="-4" y="201512"/>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tr-TR" sz="2800" b="1" dirty="0"/>
              <a:t>1. Bilgi okuryazarlığı kavramı</a:t>
            </a:r>
            <a:endParaRPr lang="tr-TR" sz="2800" dirty="0"/>
          </a:p>
        </p:txBody>
      </p:sp>
    </p:spTree>
    <p:extLst>
      <p:ext uri="{BB962C8B-B14F-4D97-AF65-F5344CB8AC3E}">
        <p14:creationId xmlns:p14="http://schemas.microsoft.com/office/powerpoint/2010/main" val="589095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0" y="934720"/>
            <a:ext cx="9143998" cy="2554545"/>
          </a:xfrm>
          <a:prstGeom prst="rect">
            <a:avLst/>
          </a:prstGeom>
        </p:spPr>
        <p:txBody>
          <a:bodyPr wrap="square">
            <a:spAutoFit/>
          </a:bodyPr>
          <a:lstStyle/>
          <a:p>
            <a:r>
              <a:rPr lang="tr-TR" sz="2000" dirty="0"/>
              <a:t>Çoktan seçmeli soru:</a:t>
            </a:r>
          </a:p>
          <a:p>
            <a:r>
              <a:rPr lang="tr-TR" sz="2000" dirty="0"/>
              <a:t>Aşağıdakilerden hangisi bilgi okuryazarlığını demokrasi ile ilişkilendirmiştir?</a:t>
            </a:r>
          </a:p>
          <a:p>
            <a:r>
              <a:rPr lang="tr-TR" sz="2000" dirty="0"/>
              <a:t>A. </a:t>
            </a:r>
            <a:r>
              <a:rPr lang="tr-TR" sz="2000" dirty="0" err="1"/>
              <a:t>Zurkovski</a:t>
            </a:r>
            <a:endParaRPr lang="tr-TR" sz="2000" dirty="0"/>
          </a:p>
          <a:p>
            <a:r>
              <a:rPr lang="tr-TR" sz="2000" dirty="0"/>
              <a:t>B. </a:t>
            </a:r>
            <a:r>
              <a:rPr lang="tr-TR" sz="2000" dirty="0" err="1"/>
              <a:t>Kurbanoğlu</a:t>
            </a:r>
            <a:endParaRPr lang="tr-TR" sz="2000" dirty="0"/>
          </a:p>
          <a:p>
            <a:r>
              <a:rPr lang="tr-TR" sz="2000" dirty="0"/>
              <a:t>C. </a:t>
            </a:r>
            <a:r>
              <a:rPr lang="tr-TR" sz="2000" dirty="0" err="1"/>
              <a:t>Owens</a:t>
            </a:r>
            <a:endParaRPr lang="tr-TR" sz="2000" dirty="0"/>
          </a:p>
          <a:p>
            <a:r>
              <a:rPr lang="tr-TR" sz="2000" dirty="0"/>
              <a:t>D. </a:t>
            </a:r>
            <a:r>
              <a:rPr lang="tr-TR" sz="2000" dirty="0" err="1"/>
              <a:t>Eisenberg</a:t>
            </a:r>
            <a:endParaRPr lang="tr-TR" sz="2000" dirty="0"/>
          </a:p>
          <a:p>
            <a:r>
              <a:rPr lang="tr-TR" sz="2000" dirty="0"/>
              <a:t>F. </a:t>
            </a:r>
            <a:r>
              <a:rPr lang="tr-TR" sz="2000" dirty="0" err="1"/>
              <a:t>Doyle</a:t>
            </a:r>
            <a:endParaRPr lang="tr-TR" sz="2000" dirty="0"/>
          </a:p>
          <a:p>
            <a:r>
              <a:rPr lang="tr-TR" sz="2000" dirty="0"/>
              <a:t>Doğru cevap C</a:t>
            </a:r>
          </a:p>
        </p:txBody>
      </p:sp>
    </p:spTree>
    <p:extLst>
      <p:ext uri="{BB962C8B-B14F-4D97-AF65-F5344CB8AC3E}">
        <p14:creationId xmlns:p14="http://schemas.microsoft.com/office/powerpoint/2010/main" val="1259057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2. Bilgi problemi çözme aşamaları</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kdörtgen 3"/>
          <p:cNvSpPr/>
          <p:nvPr/>
        </p:nvSpPr>
        <p:spPr>
          <a:xfrm>
            <a:off x="-2" y="1330961"/>
            <a:ext cx="9144002" cy="1015663"/>
          </a:xfrm>
          <a:prstGeom prst="rect">
            <a:avLst/>
          </a:prstGeom>
        </p:spPr>
        <p:txBody>
          <a:bodyPr wrap="square">
            <a:spAutoFit/>
          </a:bodyPr>
          <a:lstStyle/>
          <a:p>
            <a:r>
              <a:rPr lang="tr-TR" sz="2000" dirty="0"/>
              <a:t>Bilgi problemi çözme aşamalarını şöyle özetlemek mümkündür (</a:t>
            </a:r>
            <a:r>
              <a:rPr lang="tr-TR" sz="2000" dirty="0" err="1"/>
              <a:t>Spitzer</a:t>
            </a:r>
            <a:r>
              <a:rPr lang="tr-TR" sz="2000" dirty="0"/>
              <a:t>, </a:t>
            </a:r>
            <a:r>
              <a:rPr lang="tr-TR" sz="2000" dirty="0" err="1"/>
              <a:t>Eisenberg</a:t>
            </a:r>
            <a:r>
              <a:rPr lang="tr-TR" sz="2000" dirty="0"/>
              <a:t> ve </a:t>
            </a:r>
            <a:r>
              <a:rPr lang="tr-TR" sz="2000" dirty="0" err="1"/>
              <a:t>Lowe</a:t>
            </a:r>
            <a:r>
              <a:rPr lang="tr-TR" sz="2000" dirty="0"/>
              <a:t>, 1998, s. 155; </a:t>
            </a:r>
            <a:r>
              <a:rPr lang="tr-TR" sz="2000" dirty="0" err="1"/>
              <a:t>Iannuzzi</a:t>
            </a:r>
            <a:r>
              <a:rPr lang="tr-TR" sz="2000" dirty="0"/>
              <a:t>, </a:t>
            </a:r>
            <a:r>
              <a:rPr lang="tr-TR" sz="2000" dirty="0" err="1"/>
              <a:t>Mangrum</a:t>
            </a:r>
            <a:r>
              <a:rPr lang="tr-TR" sz="2000" dirty="0"/>
              <a:t> II ve </a:t>
            </a:r>
            <a:r>
              <a:rPr lang="tr-TR" sz="2000" dirty="0" err="1"/>
              <a:t>Strichart</a:t>
            </a:r>
            <a:r>
              <a:rPr lang="tr-TR" sz="2000" dirty="0"/>
              <a:t>, 1999, </a:t>
            </a:r>
            <a:r>
              <a:rPr lang="tr-TR" sz="2000" dirty="0" err="1"/>
              <a:t>ss</a:t>
            </a:r>
            <a:r>
              <a:rPr lang="tr-TR" sz="2000" dirty="0"/>
              <a:t>. 193-196; ALA, 2000): </a:t>
            </a:r>
          </a:p>
          <a:p>
            <a:endParaRPr lang="tr-TR" sz="2000" dirty="0"/>
          </a:p>
        </p:txBody>
      </p:sp>
    </p:spTree>
    <p:extLst>
      <p:ext uri="{BB962C8B-B14F-4D97-AF65-F5344CB8AC3E}">
        <p14:creationId xmlns:p14="http://schemas.microsoft.com/office/powerpoint/2010/main" val="2046755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2. Bilgi problemi çözme aşamaları</a:t>
            </a:r>
            <a:endParaRPr lang="en-US" sz="2800"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Diyagram 1"/>
          <p:cNvGraphicFramePr/>
          <p:nvPr>
            <p:extLst>
              <p:ext uri="{D42A27DB-BD31-4B8C-83A1-F6EECF244321}">
                <p14:modId xmlns:p14="http://schemas.microsoft.com/office/powerpoint/2010/main" val="687863351"/>
              </p:ext>
            </p:extLst>
          </p:nvPr>
        </p:nvGraphicFramePr>
        <p:xfrm>
          <a:off x="-2" y="1330961"/>
          <a:ext cx="9144002" cy="2246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7517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a:t>3. İlgili diğer kavramlar</a:t>
            </a:r>
            <a:endParaRPr lang="en-US" sz="280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0" y="1087120"/>
            <a:ext cx="9032240" cy="1015663"/>
          </a:xfrm>
          <a:prstGeom prst="rect">
            <a:avLst/>
          </a:prstGeom>
        </p:spPr>
        <p:txBody>
          <a:bodyPr wrap="square">
            <a:spAutoFit/>
          </a:bodyPr>
          <a:lstStyle/>
          <a:p>
            <a:r>
              <a:rPr lang="tr-TR" sz="2000" dirty="0"/>
              <a:t>Farklı ortamlarda ve farklı formatlarda kayıtlı olan bilginin kullanımı temel okuryazarlık becerilerinin ötesinde </a:t>
            </a:r>
            <a:r>
              <a:rPr lang="tr-TR" sz="2000" b="1" dirty="0"/>
              <a:t>görsel okuryazarlık, bilgisayar okuryazarlığı ve medya okuryazarlığı</a:t>
            </a:r>
            <a:r>
              <a:rPr lang="tr-TR" sz="2000" dirty="0"/>
              <a:t> gibi başka başka okuryazarlık becerileri de gerektirmektedir.</a:t>
            </a:r>
          </a:p>
        </p:txBody>
      </p:sp>
    </p:spTree>
    <p:extLst>
      <p:ext uri="{BB962C8B-B14F-4D97-AF65-F5344CB8AC3E}">
        <p14:creationId xmlns:p14="http://schemas.microsoft.com/office/powerpoint/2010/main" val="2130907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tr-TR" sz="2800" b="1" dirty="0"/>
              <a:t>3.1. Görsel okuryazarlık </a:t>
            </a:r>
            <a:endParaRPr lang="tr-TR" sz="2800" dirty="0"/>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ş Grafiği Grafik Yukarı Ok Yansıma Ve Gölge Beyaz Arka Plan Üzerinde Izole  Yükselen Kırmızı Stok Vektör Sanatı &amp;amp; Büyümek&amp;#39;nin Daha Fazla Görseli -  iSt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9039" y="920655"/>
            <a:ext cx="1438273" cy="1438273"/>
          </a:xfrm>
          <a:prstGeom prst="rect">
            <a:avLst/>
          </a:prstGeom>
          <a:noFill/>
          <a:extLst>
            <a:ext uri="{909E8E84-426E-40DD-AFC4-6F175D3DCCD1}">
              <a14:hiddenFill xmlns:a14="http://schemas.microsoft.com/office/drawing/2010/main">
                <a:solidFill>
                  <a:srgbClr val="FFFFFF"/>
                </a:solidFill>
              </a14:hiddenFill>
            </a:ext>
          </a:extLst>
        </p:spPr>
      </p:pic>
      <p:sp>
        <p:nvSpPr>
          <p:cNvPr id="2" name="Dikdörtgen 1"/>
          <p:cNvSpPr/>
          <p:nvPr/>
        </p:nvSpPr>
        <p:spPr>
          <a:xfrm>
            <a:off x="0" y="995680"/>
            <a:ext cx="6858000" cy="3170099"/>
          </a:xfrm>
          <a:prstGeom prst="rect">
            <a:avLst/>
          </a:prstGeom>
        </p:spPr>
        <p:txBody>
          <a:bodyPr wrap="square">
            <a:spAutoFit/>
          </a:bodyPr>
          <a:lstStyle/>
          <a:p>
            <a:pPr marL="342900" indent="-342900">
              <a:buFont typeface="Arial" panose="020B0604020202020204" pitchFamily="34" charset="0"/>
              <a:buChar char="•"/>
            </a:pPr>
            <a:r>
              <a:rPr lang="tr-TR" sz="2000" dirty="0"/>
              <a:t>Grafik, tablo, şekil ve şema formatında veya sembollerle sunulmuş görsel bilgiden anlam çıkarma ve yorumlama becerisi.</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Bireyin görsel unsurlarla düşünme, öğrenme ve kendini ifade etme becerilerini de içerir (</a:t>
            </a:r>
            <a:r>
              <a:rPr lang="tr-TR" sz="2000" dirty="0" err="1"/>
              <a:t>Braden</a:t>
            </a:r>
            <a:r>
              <a:rPr lang="tr-TR" sz="2000" dirty="0"/>
              <a:t> ve </a:t>
            </a:r>
            <a:r>
              <a:rPr lang="tr-TR" sz="2000" dirty="0" err="1"/>
              <a:t>Hortin</a:t>
            </a:r>
            <a:r>
              <a:rPr lang="tr-TR" sz="2000" dirty="0"/>
              <a:t>, 1982; </a:t>
            </a:r>
            <a:r>
              <a:rPr lang="tr-TR" sz="2000" dirty="0" err="1"/>
              <a:t>Randhawa</a:t>
            </a:r>
            <a:r>
              <a:rPr lang="tr-TR" sz="2000" dirty="0"/>
              <a:t>, 1978). </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Fikirleri görsel semboller kullanarak ifade etme (</a:t>
            </a:r>
            <a:r>
              <a:rPr lang="tr-TR" sz="2000" dirty="0" err="1"/>
              <a:t>Moore</a:t>
            </a:r>
            <a:r>
              <a:rPr lang="tr-TR" sz="2000" dirty="0"/>
              <a:t> ve </a:t>
            </a:r>
            <a:r>
              <a:rPr lang="tr-TR" sz="2000" dirty="0" err="1"/>
              <a:t>Dwyer</a:t>
            </a:r>
            <a:r>
              <a:rPr lang="tr-TR" sz="2000" dirty="0"/>
              <a:t>, 1994). </a:t>
            </a:r>
          </a:p>
        </p:txBody>
      </p:sp>
      <p:pic>
        <p:nvPicPr>
          <p:cNvPr id="1032" name="Picture 8" descr="Dairesel grafik - Vikiped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4097" y="2693591"/>
            <a:ext cx="1593215" cy="1718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271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tr-TR" sz="2800" b="1" dirty="0"/>
              <a:t>3.2. Bilgisayar okuryazarlığı </a:t>
            </a:r>
            <a:endParaRPr lang="tr-TR" sz="2800" dirty="0"/>
          </a:p>
          <a:p>
            <a:r>
              <a:rPr lang="tr-TR" sz="2800" dirty="0"/>
              <a:t> </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4" y="849219"/>
            <a:ext cx="8869680" cy="3477875"/>
          </a:xfrm>
          <a:prstGeom prst="rect">
            <a:avLst/>
          </a:prstGeom>
        </p:spPr>
        <p:txBody>
          <a:bodyPr wrap="square">
            <a:spAutoFit/>
          </a:bodyPr>
          <a:lstStyle/>
          <a:p>
            <a:pPr marL="342900" indent="-342900">
              <a:buFont typeface="Arial" panose="020B0604020202020204" pitchFamily="34" charset="0"/>
              <a:buChar char="•"/>
            </a:pPr>
            <a:r>
              <a:rPr lang="tr-TR" sz="2000" dirty="0"/>
              <a:t>Bilgisayar okuryazarlığı, geniş bir uzmanlık bilgisi olmaksızın, bilgisayarları ve bilgisayar yazılımlarını kullanma becerisidir (</a:t>
            </a:r>
            <a:r>
              <a:rPr lang="tr-TR" sz="2000" dirty="0" err="1"/>
              <a:t>Zhang</a:t>
            </a:r>
            <a:r>
              <a:rPr lang="tr-TR" sz="2000" dirty="0"/>
              <a:t> 2001).</a:t>
            </a:r>
          </a:p>
          <a:p>
            <a:r>
              <a:rPr lang="tr-TR" sz="2000" dirty="0"/>
              <a:t> </a:t>
            </a:r>
          </a:p>
          <a:p>
            <a:pPr marL="342900" indent="-342900">
              <a:buFont typeface="Arial" panose="020B0604020202020204" pitchFamily="34" charset="0"/>
              <a:buChar char="•"/>
            </a:pPr>
            <a:r>
              <a:rPr lang="tr-TR" sz="2000" dirty="0"/>
              <a:t>Bilgisayar okuryazarlığı becerileri, bilgisayarın açılması ile kapanması arasındaki süreçte sıradan bir kullanıcı tarafından bilgisayarda yapılabilenleri içermektedir (Akkoyunlu 1996; </a:t>
            </a:r>
            <a:r>
              <a:rPr lang="tr-TR" sz="2000" dirty="0" err="1"/>
              <a:t>Eisenberg</a:t>
            </a:r>
            <a:r>
              <a:rPr lang="tr-TR" sz="2000" dirty="0"/>
              <a:t> ve Johnson, 1996; </a:t>
            </a:r>
            <a:r>
              <a:rPr lang="tr-TR" sz="2000" dirty="0" err="1"/>
              <a:t>Bawden</a:t>
            </a:r>
            <a:r>
              <a:rPr lang="tr-TR" sz="2000" dirty="0"/>
              <a:t>, 2001; </a:t>
            </a:r>
            <a:r>
              <a:rPr lang="tr-TR" sz="2000" dirty="0" err="1"/>
              <a:t>Spitzer</a:t>
            </a:r>
            <a:r>
              <a:rPr lang="tr-TR" sz="2000" dirty="0"/>
              <a:t>, </a:t>
            </a:r>
            <a:r>
              <a:rPr lang="tr-TR" sz="2000" dirty="0" err="1"/>
              <a:t>Eisenberg</a:t>
            </a:r>
            <a:r>
              <a:rPr lang="tr-TR" sz="2000" dirty="0"/>
              <a:t> ve </a:t>
            </a:r>
            <a:r>
              <a:rPr lang="tr-TR" sz="2000" dirty="0" err="1"/>
              <a:t>Lowe</a:t>
            </a:r>
            <a:r>
              <a:rPr lang="tr-TR" sz="2000" dirty="0"/>
              <a:t>, 1998).</a:t>
            </a:r>
          </a:p>
          <a:p>
            <a:endParaRPr lang="tr-TR" sz="2000" dirty="0"/>
          </a:p>
          <a:p>
            <a:pPr marL="342900" indent="-342900">
              <a:buFont typeface="Arial" panose="020B0604020202020204" pitchFamily="34" charset="0"/>
              <a:buChar char="•"/>
            </a:pPr>
            <a:r>
              <a:rPr lang="tr-TR" sz="2000" dirty="0"/>
              <a:t>Bireylerin bilgisayar okuryazarlığı beceri düzeyleri farklılık gösterir. </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endParaRPr lang="tr-TR" sz="2000" dirty="0"/>
          </a:p>
        </p:txBody>
      </p:sp>
      <p:pic>
        <p:nvPicPr>
          <p:cNvPr id="10" name="Picture 2" descr="Modern Bilgisayar Çizgi Film Stok Vektör Sanatı &amp;amp; Bilgisayar&amp;#39;nin Daha Fazla  Görseli - iSto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8405" y="3497807"/>
            <a:ext cx="1428433" cy="1428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8955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3.3. Medya okuryazarlığı </a:t>
            </a:r>
            <a:br>
              <a:rPr lang="tr-TR" sz="1400" b="1" dirty="0"/>
            </a:br>
            <a:endParaRPr lang="en-US"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182880" y="995680"/>
            <a:ext cx="9042400" cy="1015663"/>
          </a:xfrm>
          <a:prstGeom prst="rect">
            <a:avLst/>
          </a:prstGeom>
        </p:spPr>
        <p:txBody>
          <a:bodyPr wrap="square">
            <a:spAutoFit/>
          </a:bodyPr>
          <a:lstStyle/>
          <a:p>
            <a:pPr marL="342900" indent="-342900">
              <a:buFont typeface="Arial" panose="020B0604020202020204" pitchFamily="34" charset="0"/>
              <a:buChar char="•"/>
            </a:pPr>
            <a:endParaRPr lang="tr-TR" sz="2000" dirty="0"/>
          </a:p>
          <a:p>
            <a:endParaRPr lang="tr-TR" sz="2000" dirty="0"/>
          </a:p>
          <a:p>
            <a:endParaRPr lang="tr-TR" sz="2000" dirty="0"/>
          </a:p>
        </p:txBody>
      </p:sp>
      <p:sp>
        <p:nvSpPr>
          <p:cNvPr id="5" name="Resim Yer Tutucusu 4"/>
          <p:cNvSpPr>
            <a:spLocks noGrp="1"/>
          </p:cNvSpPr>
          <p:nvPr>
            <p:ph type="pic" idx="1"/>
          </p:nvPr>
        </p:nvSpPr>
        <p:spPr>
          <a:xfrm>
            <a:off x="6985763" y="2876331"/>
            <a:ext cx="2039366" cy="3236496"/>
          </a:xfrm>
        </p:spPr>
      </p:sp>
      <p:sp>
        <p:nvSpPr>
          <p:cNvPr id="6" name="Metin Yer Tutucusu 5"/>
          <p:cNvSpPr>
            <a:spLocks noGrp="1"/>
          </p:cNvSpPr>
          <p:nvPr>
            <p:ph type="body" sz="half" idx="2"/>
          </p:nvPr>
        </p:nvSpPr>
        <p:spPr>
          <a:xfrm>
            <a:off x="16237" y="1027405"/>
            <a:ext cx="7355839" cy="3368383"/>
          </a:xfrm>
        </p:spPr>
        <p:txBody>
          <a:bodyPr>
            <a:noAutofit/>
          </a:bodyPr>
          <a:lstStyle/>
          <a:p>
            <a:pPr marL="342900" indent="-342900">
              <a:buFont typeface="Arial" panose="020B0604020202020204" pitchFamily="34" charset="0"/>
              <a:buChar char="•"/>
            </a:pPr>
            <a:r>
              <a:rPr lang="tr-TR" sz="2000" dirty="0"/>
              <a:t>Medya okuryazarlığı televizyon, radyo, gazete ve Internet gibi medya kanallarından elde edilen bilgiyi eleştirel olarak değerlendirebilme becerisidir (</a:t>
            </a:r>
            <a:r>
              <a:rPr lang="tr-TR" sz="2000" dirty="0" err="1"/>
              <a:t>Bawden</a:t>
            </a:r>
            <a:r>
              <a:rPr lang="tr-TR" sz="2000" dirty="0"/>
              <a:t>, 2001, s. 225). </a:t>
            </a:r>
          </a:p>
          <a:p>
            <a:pPr marL="342900" indent="-342900">
              <a:buFont typeface="Arial" panose="020B0604020202020204" pitchFamily="34" charset="0"/>
              <a:buChar char="•"/>
            </a:pPr>
            <a:r>
              <a:rPr lang="tr-TR" sz="2000" dirty="0"/>
              <a:t>Medya mesajlarına erişebilme ve bu mesajları değerlendirebilme ile ilgili bilgi ve becerilerin yanı sıra kendi medya mesajlarını üretebilme becerisini de içerir.</a:t>
            </a:r>
          </a:p>
          <a:p>
            <a:pPr marL="342900" indent="-342900">
              <a:buFont typeface="Arial" panose="020B0604020202020204" pitchFamily="34" charset="0"/>
              <a:buChar char="•"/>
            </a:pPr>
            <a:r>
              <a:rPr lang="tr-TR" sz="2000" dirty="0"/>
              <a:t>Medya ve medya kanalıyla erişilen mesajlar hem toplum  bireylerini bilgilendirir hem de onların değer yargılarını, kararlarını, düşüncelerini, inançları ve eylemlerini etkileyebilir (Önal, 2007, s. 337). </a:t>
            </a:r>
          </a:p>
          <a:p>
            <a:endParaRPr lang="tr-TR" sz="2000" dirty="0"/>
          </a:p>
        </p:txBody>
      </p:sp>
      <p:pic>
        <p:nvPicPr>
          <p:cNvPr id="5136" name="Picture 16" descr="İletişim Araçları - HAYAT BİLGİS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5763" y="2889700"/>
            <a:ext cx="1604879" cy="1604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716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3.3. Medya okuryazarlığı </a:t>
            </a:r>
            <a:br>
              <a:rPr lang="tr-TR" sz="1400" b="1" dirty="0"/>
            </a:br>
            <a:endParaRPr lang="en-US"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ikdörtgen 3"/>
          <p:cNvSpPr/>
          <p:nvPr/>
        </p:nvSpPr>
        <p:spPr>
          <a:xfrm>
            <a:off x="-40640" y="849219"/>
            <a:ext cx="9184638" cy="4739759"/>
          </a:xfrm>
          <a:prstGeom prst="rect">
            <a:avLst/>
          </a:prstGeom>
        </p:spPr>
        <p:txBody>
          <a:bodyPr wrap="square">
            <a:spAutoFit/>
          </a:bodyPr>
          <a:lstStyle/>
          <a:p>
            <a:r>
              <a:rPr lang="tr-TR" sz="2000" dirty="0"/>
              <a:t>Medya okuryazarlığı kavramı, bilgi okuryazarlığı kavramı ile karıştırılmakta.</a:t>
            </a:r>
          </a:p>
          <a:p>
            <a:endParaRPr lang="tr-TR" sz="2000" dirty="0"/>
          </a:p>
          <a:p>
            <a:r>
              <a:rPr lang="tr-TR" sz="2000" b="1" dirty="0"/>
              <a:t>Şekil 1:</a:t>
            </a:r>
            <a:r>
              <a:rPr lang="tr-TR" sz="2000" dirty="0"/>
              <a:t> Farklı Görüşler: Bilgi Okuryazarlığı (BO) ve Medya Okuryazarlığı (MO) İlişkisi</a:t>
            </a:r>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r>
              <a:rPr lang="tr-TR" dirty="0"/>
              <a:t>							</a:t>
            </a:r>
            <a:r>
              <a:rPr lang="tr-TR" sz="2000" dirty="0"/>
              <a:t>(</a:t>
            </a:r>
            <a:r>
              <a:rPr lang="tr-TR" sz="2000" dirty="0" err="1"/>
              <a:t>Grizzle</a:t>
            </a:r>
            <a:r>
              <a:rPr lang="tr-TR" sz="2000" dirty="0"/>
              <a:t> ve </a:t>
            </a:r>
            <a:r>
              <a:rPr lang="tr-TR" sz="2000" dirty="0" err="1"/>
              <a:t>Torras-Calvo</a:t>
            </a:r>
            <a:r>
              <a:rPr lang="tr-TR" sz="2000" dirty="0"/>
              <a:t>, 2013, </a:t>
            </a:r>
            <a:r>
              <a:rPr lang="tr-TR" sz="2000" dirty="0" err="1"/>
              <a:t>ss</a:t>
            </a:r>
            <a:r>
              <a:rPr lang="tr-TR" sz="2000" dirty="0"/>
              <a:t>. 51-53). </a:t>
            </a:r>
          </a:p>
          <a:p>
            <a:r>
              <a:rPr lang="tr-TR" sz="2000" dirty="0"/>
              <a:t>Unesco’nun önerisi: Medya ve Bilgi Okuryazarlığı (MBO – MIL: Media </a:t>
            </a:r>
            <a:r>
              <a:rPr lang="tr-TR" sz="2000" dirty="0" err="1"/>
              <a:t>and</a:t>
            </a:r>
            <a:r>
              <a:rPr lang="tr-TR" sz="2000" dirty="0"/>
              <a:t> Information </a:t>
            </a:r>
            <a:r>
              <a:rPr lang="tr-TR" sz="2000" dirty="0" err="1"/>
              <a:t>Literacy</a:t>
            </a:r>
            <a:r>
              <a:rPr lang="tr-TR" sz="2000" dirty="0"/>
              <a:t>)</a:t>
            </a:r>
          </a:p>
          <a:p>
            <a:endParaRPr lang="tr-TR" sz="2000" dirty="0"/>
          </a:p>
          <a:p>
            <a:endParaRPr lang="tr-TR" dirty="0"/>
          </a:p>
        </p:txBody>
      </p:sp>
      <p:graphicFrame>
        <p:nvGraphicFramePr>
          <p:cNvPr id="18" name="Nesne 17"/>
          <p:cNvGraphicFramePr>
            <a:graphicFrameLocks noChangeAspect="1"/>
          </p:cNvGraphicFramePr>
          <p:nvPr>
            <p:extLst>
              <p:ext uri="{D42A27DB-BD31-4B8C-83A1-F6EECF244321}">
                <p14:modId xmlns:p14="http://schemas.microsoft.com/office/powerpoint/2010/main" val="2674232704"/>
              </p:ext>
            </p:extLst>
          </p:nvPr>
        </p:nvGraphicFramePr>
        <p:xfrm>
          <a:off x="974725" y="1931455"/>
          <a:ext cx="5746750" cy="2241375"/>
        </p:xfrm>
        <a:graphic>
          <a:graphicData uri="http://schemas.openxmlformats.org/presentationml/2006/ole">
            <mc:AlternateContent xmlns:mc="http://schemas.openxmlformats.org/markup-compatibility/2006">
              <mc:Choice xmlns:v="urn:schemas-microsoft-com:vml" Requires="v">
                <p:oleObj spid="_x0000_s2101" name="Belge" r:id="rId4" imgW="5746651" imgH="2217171" progId="Word.Document.12">
                  <p:embed/>
                </p:oleObj>
              </mc:Choice>
              <mc:Fallback>
                <p:oleObj name="Belge" r:id="rId4" imgW="5746651" imgH="2217171" progId="Word.Document.12">
                  <p:embed/>
                  <p:pic>
                    <p:nvPicPr>
                      <p:cNvPr id="7" name="Nesne 6"/>
                      <p:cNvPicPr/>
                      <p:nvPr/>
                    </p:nvPicPr>
                    <p:blipFill>
                      <a:blip r:embed="rId5"/>
                      <a:stretch>
                        <a:fillRect/>
                      </a:stretch>
                    </p:blipFill>
                    <p:spPr>
                      <a:xfrm>
                        <a:off x="974725" y="1931455"/>
                        <a:ext cx="5746750" cy="2241375"/>
                      </a:xfrm>
                      <a:prstGeom prst="rect">
                        <a:avLst/>
                      </a:prstGeom>
                    </p:spPr>
                  </p:pic>
                </p:oleObj>
              </mc:Fallback>
            </mc:AlternateContent>
          </a:graphicData>
        </a:graphic>
      </p:graphicFrame>
    </p:spTree>
    <p:extLst>
      <p:ext uri="{BB962C8B-B14F-4D97-AF65-F5344CB8AC3E}">
        <p14:creationId xmlns:p14="http://schemas.microsoft.com/office/powerpoint/2010/main" val="2280713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br>
              <a:rPr lang="tr-TR" sz="2800" b="1" dirty="0"/>
            </a:b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8"/>
          <p:cNvSpPr/>
          <p:nvPr/>
        </p:nvSpPr>
        <p:spPr>
          <a:xfrm>
            <a:off x="0" y="150218"/>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3.4. Yaşam Boyu Öğrenme</a:t>
            </a:r>
            <a:br>
              <a:rPr lang="tr-TR" sz="1400" b="1" dirty="0"/>
            </a:br>
            <a:endParaRPr lang="en-US" b="1" dirty="0">
              <a:solidFill>
                <a:srgbClr val="771614"/>
              </a:solidFill>
            </a:endParaRPr>
          </a:p>
        </p:txBody>
      </p:sp>
      <p:sp>
        <p:nvSpPr>
          <p:cNvPr id="2" name="Dikdörtgen 1"/>
          <p:cNvSpPr/>
          <p:nvPr/>
        </p:nvSpPr>
        <p:spPr>
          <a:xfrm>
            <a:off x="0" y="990894"/>
            <a:ext cx="8771860" cy="3170099"/>
          </a:xfrm>
          <a:prstGeom prst="rect">
            <a:avLst/>
          </a:prstGeom>
        </p:spPr>
        <p:txBody>
          <a:bodyPr wrap="square">
            <a:spAutoFit/>
          </a:bodyPr>
          <a:lstStyle/>
          <a:p>
            <a:pPr marL="342900" indent="-342900">
              <a:buFont typeface="Arial" panose="020B0604020202020204" pitchFamily="34" charset="0"/>
              <a:buChar char="•"/>
            </a:pPr>
            <a:r>
              <a:rPr lang="tr-TR" sz="2000" dirty="0"/>
              <a:t>Günümüzde değişime ayak uydurabilen, gelişmeleri takip edebilen, buna göre bilgi ve becerilerini yenileyebilen bireylere gereksinim duyulmakta.</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Yaşam boyu öğrenme bilgi, beceri ve yeterliliklerin geliştirilmesi amacıyla yürütülen ve süreklilik gösteren her türlü öğrenme eylemidir (</a:t>
            </a:r>
            <a:r>
              <a:rPr lang="tr-TR" sz="2000" dirty="0" err="1"/>
              <a:t>Commision</a:t>
            </a:r>
            <a:r>
              <a:rPr lang="tr-TR" sz="2000" dirty="0"/>
              <a:t> of </a:t>
            </a:r>
            <a:r>
              <a:rPr lang="tr-TR" sz="2000" dirty="0" err="1"/>
              <a:t>The</a:t>
            </a:r>
            <a:r>
              <a:rPr lang="tr-TR" sz="2000" dirty="0"/>
              <a:t> </a:t>
            </a:r>
            <a:r>
              <a:rPr lang="tr-TR" sz="2000" dirty="0" err="1"/>
              <a:t>European</a:t>
            </a:r>
            <a:r>
              <a:rPr lang="tr-TR" sz="2000" dirty="0"/>
              <a:t> </a:t>
            </a:r>
            <a:r>
              <a:rPr lang="tr-TR" sz="2000" dirty="0" err="1"/>
              <a:t>Communities</a:t>
            </a:r>
            <a:r>
              <a:rPr lang="tr-TR" sz="2000" dirty="0"/>
              <a:t>, 2000). </a:t>
            </a:r>
          </a:p>
          <a:p>
            <a:endParaRPr lang="tr-TR" sz="2000" dirty="0"/>
          </a:p>
          <a:p>
            <a:pPr marL="342900" indent="-342900">
              <a:buFont typeface="Arial" panose="020B0604020202020204" pitchFamily="34" charset="0"/>
              <a:buChar char="•"/>
            </a:pPr>
            <a:r>
              <a:rPr lang="tr-TR" sz="2000" dirty="0"/>
              <a:t>Temel amacı nitelikli iş gücü yetiştirmek, kişisel gelişmeyi sağlamak (</a:t>
            </a:r>
            <a:r>
              <a:rPr lang="tr-TR" sz="2000" dirty="0" err="1"/>
              <a:t>Chapman</a:t>
            </a:r>
            <a:r>
              <a:rPr lang="tr-TR" sz="2000" dirty="0"/>
              <a:t> ve </a:t>
            </a:r>
            <a:r>
              <a:rPr lang="tr-TR" sz="2000" dirty="0" err="1"/>
              <a:t>Aspin</a:t>
            </a:r>
            <a:r>
              <a:rPr lang="tr-TR" sz="2000" dirty="0"/>
              <a:t>, 1997), rekabet gücünü artırıp iş bulmayı kolaylaştırmak, sosyal dışlanmayla mücadele etmek, fırsat eşitliği ve sosyal bütünleşme sağlamaktır.</a:t>
            </a:r>
          </a:p>
        </p:txBody>
      </p:sp>
    </p:spTree>
    <p:extLst>
      <p:ext uri="{BB962C8B-B14F-4D97-AF65-F5344CB8AC3E}">
        <p14:creationId xmlns:p14="http://schemas.microsoft.com/office/powerpoint/2010/main" val="36746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br>
              <a:rPr lang="tr-TR" sz="2800" b="1" dirty="0"/>
            </a:b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8"/>
          <p:cNvSpPr/>
          <p:nvPr/>
        </p:nvSpPr>
        <p:spPr>
          <a:xfrm>
            <a:off x="0" y="150218"/>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3.4. Yaşam Boyu Öğrenme</a:t>
            </a:r>
            <a:br>
              <a:rPr lang="tr-TR" sz="1400" b="1" dirty="0"/>
            </a:br>
            <a:endParaRPr lang="en-US" b="1" dirty="0">
              <a:solidFill>
                <a:srgbClr val="771614"/>
              </a:solidFill>
            </a:endParaRPr>
          </a:p>
        </p:txBody>
      </p:sp>
      <p:sp>
        <p:nvSpPr>
          <p:cNvPr id="2" name="Dikdörtgen 1"/>
          <p:cNvSpPr/>
          <p:nvPr/>
        </p:nvSpPr>
        <p:spPr>
          <a:xfrm>
            <a:off x="0" y="990894"/>
            <a:ext cx="8771860" cy="4093428"/>
          </a:xfrm>
          <a:prstGeom prst="rect">
            <a:avLst/>
          </a:prstGeom>
        </p:spPr>
        <p:txBody>
          <a:bodyPr wrap="square">
            <a:spAutoFit/>
          </a:bodyPr>
          <a:lstStyle/>
          <a:p>
            <a:pPr marL="342900" indent="-342900">
              <a:buFont typeface="Arial" panose="020B0604020202020204" pitchFamily="34" charset="0"/>
              <a:buChar char="•"/>
            </a:pPr>
            <a:r>
              <a:rPr lang="tr-TR" sz="2000" dirty="0"/>
              <a:t>Bilgi okuryazarlığı, yaşam boyu öğrenme amacını gerçekleştirmek için kullanılacak bir araçtır (</a:t>
            </a:r>
            <a:r>
              <a:rPr lang="tr-TR" sz="2000" dirty="0" err="1"/>
              <a:t>Breivik</a:t>
            </a:r>
            <a:r>
              <a:rPr lang="tr-TR" sz="2000" dirty="0"/>
              <a:t>, 2000). </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Bilgi okuryazarlığı, bireylere kendi kendini yönlendirme ve öğrenme eylemini kontrol etme olanağı sağlamak yoluyla yaşam boyu öğrenmeye temel teşkil eder (</a:t>
            </a:r>
            <a:r>
              <a:rPr lang="tr-TR" sz="2000" dirty="0" err="1"/>
              <a:t>Abid</a:t>
            </a:r>
            <a:r>
              <a:rPr lang="tr-TR" sz="2000" dirty="0"/>
              <a:t>, 2004). </a:t>
            </a:r>
          </a:p>
          <a:p>
            <a:pPr marL="342900" indent="-342900">
              <a:buFont typeface="Arial" panose="020B0604020202020204" pitchFamily="34" charset="0"/>
              <a:buChar char="•"/>
            </a:pPr>
            <a:r>
              <a:rPr lang="tr-TR" sz="2000" dirty="0"/>
              <a:t>Öğrenmeyi öğrenmek, yaşam boyu öğrenmenin (</a:t>
            </a:r>
            <a:r>
              <a:rPr lang="tr-TR" sz="2000" dirty="0" err="1"/>
              <a:t>Doyle</a:t>
            </a:r>
            <a:r>
              <a:rPr lang="tr-TR" sz="2000" dirty="0"/>
              <a:t>, 1994), bilgi okuryazarlığı da kendi kendine öğrenmenin temel taşıdır (Library </a:t>
            </a:r>
            <a:r>
              <a:rPr lang="tr-TR" sz="2000" dirty="0" err="1"/>
              <a:t>Association</a:t>
            </a:r>
            <a:r>
              <a:rPr lang="tr-TR" sz="2000" dirty="0"/>
              <a:t>, 2001).</a:t>
            </a:r>
          </a:p>
          <a:p>
            <a:endParaRPr lang="tr-TR" sz="2000" dirty="0"/>
          </a:p>
          <a:p>
            <a:pPr marL="342900" indent="-342900">
              <a:buFont typeface="Arial" panose="020B0604020202020204" pitchFamily="34" charset="0"/>
              <a:buChar char="•"/>
            </a:pPr>
            <a:r>
              <a:rPr lang="tr-TR" sz="2000" dirty="0"/>
              <a:t> Bilgiye ulaşmayı, bilgiyi düzenlemeyi ve bilgiyi kullanmayı bilen bireyler kendi kendine öğrenme yoluyla bilgi düzeylerini artırma ve yaşam boyu öğrenmeyi gerçekleştirme potansiyeline sahiptir (</a:t>
            </a:r>
            <a:r>
              <a:rPr lang="tr-TR" sz="2000" dirty="0" err="1"/>
              <a:t>Breivik</a:t>
            </a:r>
            <a:r>
              <a:rPr lang="tr-TR" sz="2000" dirty="0"/>
              <a:t>, 2000). </a:t>
            </a:r>
          </a:p>
          <a:p>
            <a:pPr marL="342900" indent="-342900">
              <a:buFont typeface="Arial" panose="020B0604020202020204" pitchFamily="34" charset="0"/>
              <a:buChar char="•"/>
            </a:pPr>
            <a:endParaRPr lang="tr-TR" sz="2000" dirty="0"/>
          </a:p>
        </p:txBody>
      </p:sp>
    </p:spTree>
    <p:extLst>
      <p:ext uri="{BB962C8B-B14F-4D97-AF65-F5344CB8AC3E}">
        <p14:creationId xmlns:p14="http://schemas.microsoft.com/office/powerpoint/2010/main" val="1836931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3.4. Yaşam Boyu Öğrenme</a:t>
            </a:r>
            <a:br>
              <a:rPr lang="tr-TR" sz="1400" b="1" dirty="0"/>
            </a:br>
            <a:endParaRPr lang="en-US"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2"/>
          <p:cNvSpPr>
            <a:spLocks noChangeArrowheads="1"/>
          </p:cNvSpPr>
          <p:nvPr/>
        </p:nvSpPr>
        <p:spPr bwMode="auto">
          <a:xfrm>
            <a:off x="1148080" y="581319"/>
            <a:ext cx="1541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tr-TR"/>
          </a:p>
        </p:txBody>
      </p:sp>
      <p:pic>
        <p:nvPicPr>
          <p:cNvPr id="614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2617" y="1431513"/>
            <a:ext cx="5774055" cy="335343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1148080" y="838465"/>
            <a:ext cx="15411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300" algn="l"/>
                <a:tab pos="4143375"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114300" algn="l"/>
                <a:tab pos="4143375"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114300" algn="l"/>
                <a:tab pos="4143375"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114300" algn="l"/>
                <a:tab pos="4143375"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114300" algn="l"/>
                <a:tab pos="4143375"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114300" algn="l"/>
                <a:tab pos="4143375"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114300" algn="l"/>
                <a:tab pos="4143375"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114300" algn="l"/>
                <a:tab pos="4143375"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114300" algn="l"/>
                <a:tab pos="4143375"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114300" algn="l"/>
                <a:tab pos="4143375" algn="l"/>
              </a:tabLst>
            </a:pPr>
            <a:r>
              <a:rPr kumimoji="0" lang="tr-TR" altLang="tr-TR"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Şekil 2: Bilgi Okuryazarlığı ve Yaşam Boyu Öğrenme</a:t>
            </a:r>
            <a:r>
              <a:rPr kumimoji="0" lang="tr-TR" altLang="tr-TR"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tr-TR" altLang="tr-TR"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158009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Diyagram 15"/>
          <p:cNvGraphicFramePr/>
          <p:nvPr>
            <p:extLst>
              <p:ext uri="{D42A27DB-BD31-4B8C-83A1-F6EECF244321}">
                <p14:modId xmlns:p14="http://schemas.microsoft.com/office/powerpoint/2010/main" val="3326015893"/>
              </p:ext>
            </p:extLst>
          </p:nvPr>
        </p:nvGraphicFramePr>
        <p:xfrm>
          <a:off x="0" y="988828"/>
          <a:ext cx="8569842" cy="16312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Dikdörtgen 18"/>
          <p:cNvSpPr/>
          <p:nvPr/>
        </p:nvSpPr>
        <p:spPr>
          <a:xfrm>
            <a:off x="829208" y="3190275"/>
            <a:ext cx="7485579" cy="707886"/>
          </a:xfrm>
          <a:prstGeom prst="rect">
            <a:avLst/>
          </a:prstGeom>
        </p:spPr>
        <p:txBody>
          <a:bodyPr wrap="square">
            <a:spAutoFit/>
          </a:bodyPr>
          <a:lstStyle/>
          <a:p>
            <a:r>
              <a:rPr lang="tr-TR" sz="2000" dirty="0"/>
              <a:t>Toplum bireylerine kazandırılması gereken temel yeterliliklerin (</a:t>
            </a:r>
            <a:r>
              <a:rPr lang="tr-TR" sz="2000" b="1" dirty="0"/>
              <a:t>anahtar yeterlikler</a:t>
            </a:r>
            <a:r>
              <a:rPr lang="tr-TR" sz="2000" dirty="0"/>
              <a:t>) saptanması</a:t>
            </a:r>
          </a:p>
        </p:txBody>
      </p:sp>
    </p:spTree>
    <p:extLst>
      <p:ext uri="{BB962C8B-B14F-4D97-AF65-F5344CB8AC3E}">
        <p14:creationId xmlns:p14="http://schemas.microsoft.com/office/powerpoint/2010/main" val="3176684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85060" y="925033"/>
            <a:ext cx="9058938" cy="2246769"/>
          </a:xfrm>
          <a:prstGeom prst="rect">
            <a:avLst/>
          </a:prstGeom>
        </p:spPr>
        <p:txBody>
          <a:bodyPr wrap="square">
            <a:spAutoFit/>
          </a:bodyPr>
          <a:lstStyle/>
          <a:p>
            <a:r>
              <a:rPr lang="tr-TR" sz="2000" dirty="0"/>
              <a:t>Anahtar yeterliklerin saptanması hangi açılardan önemli?</a:t>
            </a:r>
          </a:p>
          <a:p>
            <a:endParaRPr lang="tr-TR" sz="2000" dirty="0"/>
          </a:p>
          <a:p>
            <a:pPr marL="457200" indent="-457200">
              <a:buAutoNum type="arabicPeriod"/>
            </a:pPr>
            <a:r>
              <a:rPr lang="tr-TR" sz="2000" dirty="0"/>
              <a:t>Bireylerin yaşam koşullarına ne kadar iyi hazırlanmış olduklarını değerlendirmek,</a:t>
            </a:r>
          </a:p>
          <a:p>
            <a:pPr marL="457200" indent="-457200">
              <a:buAutoNum type="arabicPeriod"/>
            </a:pPr>
            <a:r>
              <a:rPr lang="tr-TR" sz="2000" dirty="0"/>
              <a:t>Politika ve strateji geliştirmek, </a:t>
            </a:r>
          </a:p>
          <a:p>
            <a:pPr marL="457200" indent="-457200">
              <a:buAutoNum type="arabicPeriod"/>
            </a:pPr>
            <a:r>
              <a:rPr lang="tr-TR" sz="2000" dirty="0"/>
              <a:t>Eğitimin hedeflerini (öğrenme çıktılarını) belirlemek, </a:t>
            </a:r>
          </a:p>
          <a:p>
            <a:pPr marL="457200" indent="-457200">
              <a:buAutoNum type="arabicPeriod"/>
            </a:pPr>
            <a:r>
              <a:rPr lang="tr-TR" sz="2000" dirty="0"/>
              <a:t>Sürdürülebilir gelişme, </a:t>
            </a:r>
          </a:p>
          <a:p>
            <a:pPr marL="457200" indent="-457200">
              <a:buAutoNum type="arabicPeriod"/>
            </a:pPr>
            <a:r>
              <a:rPr lang="tr-TR" sz="2000" dirty="0"/>
              <a:t>Sosyal eşitliğin ve sosyal uyumun sağlanması. </a:t>
            </a:r>
          </a:p>
        </p:txBody>
      </p:sp>
    </p:spTree>
    <p:extLst>
      <p:ext uri="{BB962C8B-B14F-4D97-AF65-F5344CB8AC3E}">
        <p14:creationId xmlns:p14="http://schemas.microsoft.com/office/powerpoint/2010/main" val="584463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5" y="849219"/>
            <a:ext cx="9005781" cy="4401205"/>
          </a:xfrm>
          <a:prstGeom prst="rect">
            <a:avLst/>
          </a:prstGeom>
        </p:spPr>
        <p:txBody>
          <a:bodyPr wrap="square">
            <a:spAutoFit/>
          </a:bodyPr>
          <a:lstStyle/>
          <a:p>
            <a:pPr marL="342900" indent="-342900">
              <a:buFont typeface="Arial" panose="020B0604020202020204" pitchFamily="34" charset="0"/>
              <a:buChar char="•"/>
            </a:pPr>
            <a:r>
              <a:rPr lang="tr-TR" sz="2000" dirty="0" err="1"/>
              <a:t>DeSeCo</a:t>
            </a:r>
            <a:r>
              <a:rPr lang="tr-TR" sz="2000" dirty="0"/>
              <a:t> (Definition </a:t>
            </a:r>
            <a:r>
              <a:rPr lang="tr-TR" sz="2000" dirty="0" err="1"/>
              <a:t>and</a:t>
            </a:r>
            <a:r>
              <a:rPr lang="tr-TR" sz="2000" dirty="0"/>
              <a:t> </a:t>
            </a:r>
            <a:r>
              <a:rPr lang="tr-TR" sz="2000" dirty="0" err="1"/>
              <a:t>Selection</a:t>
            </a:r>
            <a:r>
              <a:rPr lang="tr-TR" sz="2000" dirty="0"/>
              <a:t> of </a:t>
            </a:r>
            <a:r>
              <a:rPr lang="tr-TR" sz="2000" dirty="0" err="1"/>
              <a:t>Competence</a:t>
            </a:r>
            <a:r>
              <a:rPr lang="tr-TR" sz="2000" dirty="0"/>
              <a:t> = Yeterliklerin Tanımlanması ve Seçimi)  çalışması</a:t>
            </a:r>
          </a:p>
          <a:p>
            <a:r>
              <a:rPr lang="tr-TR" sz="2000" dirty="0"/>
              <a:t>Bu çalışma PISA kısa adıyla bilinen Uluslararası Öğrenci Değerlendirme Programına temel teşkil eder ve OECD tarafından yürütülür. </a:t>
            </a:r>
          </a:p>
          <a:p>
            <a:endParaRPr lang="tr-TR" sz="2000" b="1" u="sng" dirty="0"/>
          </a:p>
          <a:p>
            <a:r>
              <a:rPr lang="tr-TR" sz="2000" b="1" u="sng" dirty="0"/>
              <a:t>Üç temel yeterlilik</a:t>
            </a:r>
          </a:p>
          <a:p>
            <a:pPr marL="342900" indent="-342900">
              <a:buFont typeface="Arial" panose="020B0604020202020204" pitchFamily="34" charset="0"/>
              <a:buChar char="•"/>
            </a:pPr>
            <a:r>
              <a:rPr lang="tr-TR" sz="2000" dirty="0"/>
              <a:t>Araçları etkin kullanmak </a:t>
            </a:r>
          </a:p>
          <a:p>
            <a:pPr marL="342900" indent="-342900">
              <a:buFont typeface="Arial" panose="020B0604020202020204" pitchFamily="34" charset="0"/>
              <a:buChar char="•"/>
            </a:pPr>
            <a:r>
              <a:rPr lang="tr-TR" sz="2000" dirty="0"/>
              <a:t>Heterojen gruplarla etkileşim kurmak</a:t>
            </a:r>
          </a:p>
          <a:p>
            <a:pPr marL="342900" indent="-342900">
              <a:buFont typeface="Arial" panose="020B0604020202020204" pitchFamily="34" charset="0"/>
              <a:buChar char="•"/>
            </a:pPr>
            <a:r>
              <a:rPr lang="tr-TR" sz="2000" dirty="0"/>
              <a:t>Özerk hareket etmek</a:t>
            </a:r>
          </a:p>
          <a:p>
            <a:r>
              <a:rPr lang="tr-TR" sz="2000" b="1" dirty="0"/>
              <a:t>Araçları etkin kullanmak: </a:t>
            </a:r>
            <a:r>
              <a:rPr lang="tr-TR" sz="2000" dirty="0"/>
              <a:t>Bu kapsamdaki yeterlilikler dili, sembolleri ve metinleri etkin kullanmak, bilgiyi etkin kullanmak  ve teknolojiyi etkin kullanmaktır (</a:t>
            </a:r>
            <a:r>
              <a:rPr lang="tr-TR" sz="2000" dirty="0" err="1"/>
              <a:t>Rychen</a:t>
            </a:r>
            <a:r>
              <a:rPr lang="tr-TR" sz="2000" dirty="0"/>
              <a:t> ve </a:t>
            </a:r>
            <a:r>
              <a:rPr lang="tr-TR" sz="2000" dirty="0" err="1"/>
              <a:t>Salganik</a:t>
            </a:r>
            <a:r>
              <a:rPr lang="tr-TR" sz="2000" dirty="0"/>
              <a:t>, 2001; 2003).</a:t>
            </a:r>
          </a:p>
          <a:p>
            <a:pPr lvl="6"/>
            <a:endParaRPr lang="tr-TR" sz="2000" dirty="0"/>
          </a:p>
          <a:p>
            <a:endParaRPr lang="tr-TR" sz="2000" dirty="0"/>
          </a:p>
        </p:txBody>
      </p:sp>
    </p:spTree>
    <p:extLst>
      <p:ext uri="{BB962C8B-B14F-4D97-AF65-F5344CB8AC3E}">
        <p14:creationId xmlns:p14="http://schemas.microsoft.com/office/powerpoint/2010/main" val="836990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TÜSİAD Türk Sanayicileri ve İşadamları Derneği Vector Logo #tüsiad #logo  #vectorlogo | Allianz logo, Vector logo, Log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5" name="AutoShape 4" descr="TÜSİAD Türk Sanayicileri ve İşadamları Derneği Vector Logo #tüsiad #logo  #vectorlogo | Allianz logo, Vector logo, Logo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grpSp>
        <p:nvGrpSpPr>
          <p:cNvPr id="6" name="Grup 5"/>
          <p:cNvGrpSpPr/>
          <p:nvPr/>
        </p:nvGrpSpPr>
        <p:grpSpPr>
          <a:xfrm>
            <a:off x="138223" y="849218"/>
            <a:ext cx="8888819" cy="3477875"/>
            <a:chOff x="138223" y="849218"/>
            <a:chExt cx="8888819" cy="3477875"/>
          </a:xfrm>
        </p:grpSpPr>
        <p:pic>
          <p:nvPicPr>
            <p:cNvPr id="7178" name="Picture 10" descr="İşte TÜSİAD&amp;#39;ın yeni logosu - Son Dakika Ekonomi Haberleri | NTV Hab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9759" y="1823636"/>
              <a:ext cx="4014451" cy="1668972"/>
            </a:xfrm>
            <a:prstGeom prst="rect">
              <a:avLst/>
            </a:prstGeom>
            <a:noFill/>
            <a:extLst>
              <a:ext uri="{909E8E84-426E-40DD-AFC4-6F175D3DCCD1}">
                <a14:hiddenFill xmlns:a14="http://schemas.microsoft.com/office/drawing/2010/main">
                  <a:solidFill>
                    <a:srgbClr val="FFFFFF"/>
                  </a:solidFill>
                </a14:hiddenFill>
              </a:ext>
            </a:extLst>
          </p:spPr>
        </p:pic>
        <p:sp>
          <p:nvSpPr>
            <p:cNvPr id="2" name="Dikdörtgen 1"/>
            <p:cNvSpPr/>
            <p:nvPr/>
          </p:nvSpPr>
          <p:spPr>
            <a:xfrm>
              <a:off x="138223" y="849218"/>
              <a:ext cx="8888819" cy="3477875"/>
            </a:xfrm>
            <a:prstGeom prst="rect">
              <a:avLst/>
            </a:prstGeom>
          </p:spPr>
          <p:txBody>
            <a:bodyPr wrap="square">
              <a:spAutoFit/>
            </a:bodyPr>
            <a:lstStyle/>
            <a:p>
              <a:r>
                <a:rPr lang="tr-TR" sz="2000" dirty="0"/>
                <a:t>TÜSİAD (1999) tarafından hazırlanan bir rapora göre çağımız bireylerinde bulunması gereken temel beceriler:</a:t>
              </a:r>
            </a:p>
            <a:p>
              <a:pPr marL="342900" indent="-342900">
                <a:buFont typeface="Arial" panose="020B0604020202020204" pitchFamily="34" charset="0"/>
                <a:buChar char="•"/>
              </a:pPr>
              <a:r>
                <a:rPr lang="tr-TR" sz="2000" dirty="0"/>
                <a:t>İletişim, </a:t>
              </a:r>
            </a:p>
            <a:p>
              <a:pPr marL="342900" indent="-342900">
                <a:buFont typeface="Arial" panose="020B0604020202020204" pitchFamily="34" charset="0"/>
                <a:buChar char="•"/>
              </a:pPr>
              <a:r>
                <a:rPr lang="tr-TR" sz="2000" dirty="0"/>
                <a:t>Uyum sağlama,</a:t>
              </a:r>
            </a:p>
            <a:p>
              <a:pPr marL="342900" indent="-342900">
                <a:buFont typeface="Arial" panose="020B0604020202020204" pitchFamily="34" charset="0"/>
                <a:buChar char="•"/>
              </a:pPr>
              <a:r>
                <a:rPr lang="tr-TR" sz="2000" dirty="0"/>
                <a:t>Karar verme, </a:t>
              </a:r>
            </a:p>
            <a:p>
              <a:pPr marL="342900" indent="-342900">
                <a:buFont typeface="Arial" panose="020B0604020202020204" pitchFamily="34" charset="0"/>
                <a:buChar char="•"/>
              </a:pPr>
              <a:r>
                <a:rPr lang="tr-TR" sz="2000" dirty="0"/>
                <a:t>Sorumluluk alma, </a:t>
              </a:r>
            </a:p>
            <a:p>
              <a:pPr marL="342900" indent="-342900">
                <a:buFont typeface="Arial" panose="020B0604020202020204" pitchFamily="34" charset="0"/>
                <a:buChar char="•"/>
              </a:pPr>
              <a:r>
                <a:rPr lang="tr-TR" sz="2000" dirty="0"/>
                <a:t>Yaratıcılık, </a:t>
              </a:r>
            </a:p>
            <a:p>
              <a:pPr marL="342900" indent="-342900">
                <a:buFont typeface="Arial" panose="020B0604020202020204" pitchFamily="34" charset="0"/>
                <a:buChar char="•"/>
              </a:pPr>
              <a:r>
                <a:rPr lang="tr-TR" sz="2000" dirty="0"/>
                <a:t>İşbirliği, </a:t>
              </a:r>
            </a:p>
            <a:p>
              <a:pPr marL="342900" indent="-342900">
                <a:buFont typeface="Arial" panose="020B0604020202020204" pitchFamily="34" charset="0"/>
                <a:buChar char="•"/>
              </a:pPr>
              <a:r>
                <a:rPr lang="tr-TR" sz="2000" dirty="0"/>
                <a:t>Problem çözme,</a:t>
              </a:r>
            </a:p>
            <a:p>
              <a:pPr marL="342900" indent="-342900">
                <a:buFont typeface="Arial" panose="020B0604020202020204" pitchFamily="34" charset="0"/>
                <a:buChar char="•"/>
              </a:pPr>
              <a:r>
                <a:rPr lang="tr-TR" sz="2000" b="1" dirty="0"/>
                <a:t>Kendini geliştirme</a:t>
              </a:r>
              <a:r>
                <a:rPr lang="tr-TR" sz="2000" dirty="0"/>
                <a:t>,</a:t>
              </a:r>
            </a:p>
            <a:p>
              <a:pPr marL="342900" indent="-342900">
                <a:buFont typeface="Arial" panose="020B0604020202020204" pitchFamily="34" charset="0"/>
                <a:buChar char="•"/>
              </a:pPr>
              <a:r>
                <a:rPr lang="tr-TR" sz="2000" b="1" dirty="0"/>
                <a:t>Doğru bilgiye ulaşma.</a:t>
              </a:r>
              <a:endParaRPr lang="tr-TR" sz="2000" dirty="0"/>
            </a:p>
          </p:txBody>
        </p:sp>
      </p:grpSp>
    </p:spTree>
    <p:extLst>
      <p:ext uri="{BB962C8B-B14F-4D97-AF65-F5344CB8AC3E}">
        <p14:creationId xmlns:p14="http://schemas.microsoft.com/office/powerpoint/2010/main" val="3821424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142240" y="967465"/>
            <a:ext cx="9083040" cy="2862322"/>
          </a:xfrm>
          <a:prstGeom prst="rect">
            <a:avLst/>
          </a:prstGeom>
        </p:spPr>
        <p:txBody>
          <a:bodyPr wrap="square">
            <a:spAutoFit/>
          </a:bodyPr>
          <a:lstStyle/>
          <a:p>
            <a:r>
              <a:rPr lang="tr-TR" sz="2000" dirty="0"/>
              <a:t>ABD Çalışma Bakanlığı tarafından yürütülen bir çalışmada (SCANS, 1991, s. vii) 21. yüzyıl için gerekli istihdam edilebilirlik becerileri:</a:t>
            </a:r>
          </a:p>
          <a:p>
            <a:r>
              <a:rPr lang="tr-TR" sz="2000" dirty="0"/>
              <a:t> </a:t>
            </a:r>
          </a:p>
          <a:p>
            <a:pPr marL="342900" lvl="0" indent="-342900">
              <a:buFont typeface="Arial" panose="020B0604020202020204" pitchFamily="34" charset="0"/>
              <a:buChar char="•"/>
            </a:pPr>
            <a:r>
              <a:rPr lang="tr-TR" sz="2000" dirty="0"/>
              <a:t>Kaynak kullanımı </a:t>
            </a:r>
          </a:p>
          <a:p>
            <a:pPr marL="342900" lvl="0" indent="-342900">
              <a:buFont typeface="Arial" panose="020B0604020202020204" pitchFamily="34" charset="0"/>
              <a:buChar char="•"/>
            </a:pPr>
            <a:r>
              <a:rPr lang="tr-TR" sz="2000" dirty="0"/>
              <a:t>Kişilerarası ilişkiler </a:t>
            </a:r>
          </a:p>
          <a:p>
            <a:pPr marL="342900" lvl="0" indent="-342900">
              <a:buFont typeface="Arial" panose="020B0604020202020204" pitchFamily="34" charset="0"/>
              <a:buChar char="•"/>
            </a:pPr>
            <a:r>
              <a:rPr lang="tr-TR" sz="2000" b="1" dirty="0"/>
              <a:t>Bilgi kullanımı (bilgiye ulaşma, bilgiyi değerlendirme, düzenleme, yorumlama ve iletme).</a:t>
            </a:r>
            <a:endParaRPr lang="tr-TR" sz="2000" dirty="0"/>
          </a:p>
          <a:p>
            <a:pPr marL="342900" lvl="0" indent="-342900">
              <a:buFont typeface="Arial" panose="020B0604020202020204" pitchFamily="34" charset="0"/>
              <a:buChar char="•"/>
            </a:pPr>
            <a:r>
              <a:rPr lang="tr-TR" sz="2000" dirty="0"/>
              <a:t>Teknoloji  kullanımı </a:t>
            </a:r>
          </a:p>
          <a:p>
            <a:pPr marL="342900" lvl="0" indent="-342900">
              <a:buFont typeface="Arial" panose="020B0604020202020204" pitchFamily="34" charset="0"/>
              <a:buChar char="•"/>
            </a:pPr>
            <a:r>
              <a:rPr lang="tr-TR" sz="2000" dirty="0"/>
              <a:t>Sistem analizi</a:t>
            </a:r>
          </a:p>
        </p:txBody>
      </p:sp>
      <p:pic>
        <p:nvPicPr>
          <p:cNvPr id="4" name="Resim 3"/>
          <p:cNvPicPr>
            <a:picLocks noChangeAspect="1"/>
          </p:cNvPicPr>
          <p:nvPr/>
        </p:nvPicPr>
        <p:blipFill>
          <a:blip r:embed="rId3"/>
          <a:stretch>
            <a:fillRect/>
          </a:stretch>
        </p:blipFill>
        <p:spPr>
          <a:xfrm>
            <a:off x="6422065" y="2827968"/>
            <a:ext cx="2622940" cy="1973353"/>
          </a:xfrm>
          <a:prstGeom prst="rect">
            <a:avLst/>
          </a:prstGeom>
        </p:spPr>
      </p:pic>
    </p:spTree>
    <p:extLst>
      <p:ext uri="{BB962C8B-B14F-4D97-AF65-F5344CB8AC3E}">
        <p14:creationId xmlns:p14="http://schemas.microsoft.com/office/powerpoint/2010/main" val="2121190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Vektörel Çizim | Mezuniyet, Kep Atma Töreni Vektörel Görselleri | Fitas  finalista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2" name="Dikdörtgen 1"/>
          <p:cNvSpPr/>
          <p:nvPr/>
        </p:nvSpPr>
        <p:spPr>
          <a:xfrm>
            <a:off x="0" y="802035"/>
            <a:ext cx="9144000" cy="3785652"/>
          </a:xfrm>
          <a:prstGeom prst="rect">
            <a:avLst/>
          </a:prstGeom>
        </p:spPr>
        <p:txBody>
          <a:bodyPr wrap="square">
            <a:spAutoFit/>
          </a:bodyPr>
          <a:lstStyle/>
          <a:p>
            <a:r>
              <a:rPr lang="tr-TR" sz="2000" dirty="0"/>
              <a:t>Bir başka çalışmada üniversiteden mezun olan her öğrencinin sahip olması gereken nitelikler:</a:t>
            </a:r>
          </a:p>
          <a:p>
            <a:pPr marL="342900" indent="-342900">
              <a:buFont typeface="Arial" panose="020B0604020202020204" pitchFamily="34" charset="0"/>
              <a:buChar char="•"/>
            </a:pPr>
            <a:r>
              <a:rPr lang="tr-TR" sz="2000" dirty="0"/>
              <a:t>Problem çözme, </a:t>
            </a:r>
          </a:p>
          <a:p>
            <a:pPr marL="342900" indent="-342900">
              <a:buFont typeface="Arial" panose="020B0604020202020204" pitchFamily="34" charset="0"/>
              <a:buChar char="•"/>
            </a:pPr>
            <a:r>
              <a:rPr lang="tr-TR" sz="2000" dirty="0"/>
              <a:t>Teknoloji kullanımı, </a:t>
            </a:r>
          </a:p>
          <a:p>
            <a:pPr marL="342900" indent="-342900">
              <a:buFont typeface="Arial" panose="020B0604020202020204" pitchFamily="34" charset="0"/>
              <a:buChar char="•"/>
            </a:pPr>
            <a:r>
              <a:rPr lang="tr-TR" sz="2000" dirty="0"/>
              <a:t>Ekip çalışması, </a:t>
            </a:r>
          </a:p>
          <a:p>
            <a:pPr marL="342900" indent="-342900">
              <a:buFont typeface="Arial" panose="020B0604020202020204" pitchFamily="34" charset="0"/>
              <a:buChar char="•"/>
            </a:pPr>
            <a:r>
              <a:rPr lang="tr-TR" sz="2000" dirty="0"/>
              <a:t>İletişim, </a:t>
            </a:r>
          </a:p>
          <a:p>
            <a:pPr marL="342900" indent="-342900">
              <a:buFont typeface="Arial" panose="020B0604020202020204" pitchFamily="34" charset="0"/>
              <a:buChar char="•"/>
            </a:pPr>
            <a:r>
              <a:rPr lang="tr-TR" sz="2000" dirty="0"/>
              <a:t>Uygulama ile teoriyi ilişkilendirme</a:t>
            </a:r>
          </a:p>
          <a:p>
            <a:pPr marL="342900" indent="-342900">
              <a:buFont typeface="Arial" panose="020B0604020202020204" pitchFamily="34" charset="0"/>
              <a:buChar char="•"/>
            </a:pPr>
            <a:r>
              <a:rPr lang="tr-TR" sz="2000" b="1" dirty="0"/>
              <a:t>Bilgi okuryazarlığı</a:t>
            </a:r>
            <a:r>
              <a:rPr lang="tr-TR" sz="2000" dirty="0"/>
              <a:t> (</a:t>
            </a:r>
            <a:r>
              <a:rPr lang="tr-TR" sz="2000" dirty="0" err="1"/>
              <a:t>Orr</a:t>
            </a:r>
            <a:r>
              <a:rPr lang="tr-TR" sz="2000" dirty="0"/>
              <a:t>, </a:t>
            </a:r>
            <a:r>
              <a:rPr lang="tr-TR" sz="2000" dirty="0" err="1"/>
              <a:t>Appleton</a:t>
            </a:r>
            <a:r>
              <a:rPr lang="tr-TR" sz="2000" dirty="0"/>
              <a:t> ve </a:t>
            </a:r>
            <a:r>
              <a:rPr lang="tr-TR" sz="2000" dirty="0" err="1"/>
              <a:t>Wallin</a:t>
            </a:r>
            <a:r>
              <a:rPr lang="tr-TR" sz="2000" dirty="0"/>
              <a:t>, 2001).</a:t>
            </a:r>
          </a:p>
          <a:p>
            <a:r>
              <a:rPr lang="tr-TR" sz="2000" dirty="0"/>
              <a:t> </a:t>
            </a:r>
          </a:p>
          <a:p>
            <a:r>
              <a:rPr lang="tr-TR" sz="2000" dirty="0"/>
              <a:t>Avrupa Komisyonu (EC, 2006) tarafından belirlenen anahtar beceriler içinde ana dilde ve yabancı dilde iletişim, teknoloji yeterlikleri, girişimcilik yanında </a:t>
            </a:r>
            <a:r>
              <a:rPr lang="tr-TR" sz="2000" b="1" dirty="0"/>
              <a:t>öğrenmeyi öğrenme </a:t>
            </a:r>
            <a:r>
              <a:rPr lang="tr-TR" sz="2000" dirty="0"/>
              <a:t>de yer almaktadır.</a:t>
            </a:r>
          </a:p>
        </p:txBody>
      </p:sp>
      <p:pic>
        <p:nvPicPr>
          <p:cNvPr id="5" name="Resim 4"/>
          <p:cNvPicPr>
            <a:picLocks noChangeAspect="1"/>
          </p:cNvPicPr>
          <p:nvPr/>
        </p:nvPicPr>
        <p:blipFill>
          <a:blip r:embed="rId3"/>
          <a:stretch>
            <a:fillRect/>
          </a:stretch>
        </p:blipFill>
        <p:spPr>
          <a:xfrm>
            <a:off x="6281479" y="1490916"/>
            <a:ext cx="2438400" cy="1876425"/>
          </a:xfrm>
          <a:prstGeom prst="rect">
            <a:avLst/>
          </a:prstGeom>
        </p:spPr>
      </p:pic>
    </p:spTree>
    <p:extLst>
      <p:ext uri="{BB962C8B-B14F-4D97-AF65-F5344CB8AC3E}">
        <p14:creationId xmlns:p14="http://schemas.microsoft.com/office/powerpoint/2010/main" val="2691640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284480" y="849219"/>
            <a:ext cx="8859518" cy="4401205"/>
          </a:xfrm>
          <a:prstGeom prst="rect">
            <a:avLst/>
          </a:prstGeom>
        </p:spPr>
        <p:txBody>
          <a:bodyPr wrap="square">
            <a:spAutoFit/>
          </a:bodyPr>
          <a:lstStyle/>
          <a:p>
            <a:r>
              <a:rPr lang="tr-TR" sz="2000" dirty="0"/>
              <a:t>ISTE: (International </a:t>
            </a:r>
            <a:r>
              <a:rPr lang="tr-TR" sz="2000" dirty="0" err="1"/>
              <a:t>Society</a:t>
            </a:r>
            <a:r>
              <a:rPr lang="tr-TR" sz="2000" dirty="0"/>
              <a:t> </a:t>
            </a:r>
            <a:r>
              <a:rPr lang="tr-TR" sz="2000" dirty="0" err="1"/>
              <a:t>for</a:t>
            </a:r>
            <a:r>
              <a:rPr lang="tr-TR" sz="2000" dirty="0"/>
              <a:t> </a:t>
            </a:r>
            <a:r>
              <a:rPr lang="tr-TR" sz="2000" dirty="0" err="1"/>
              <a:t>Technology</a:t>
            </a:r>
            <a:r>
              <a:rPr lang="tr-TR" sz="2000" dirty="0"/>
              <a:t> in </a:t>
            </a:r>
            <a:r>
              <a:rPr lang="tr-TR" sz="2000" dirty="0" err="1"/>
              <a:t>Education</a:t>
            </a:r>
            <a:r>
              <a:rPr lang="tr-TR" sz="2000" dirty="0"/>
              <a:t> - Eğitim Teknolojileri Uluslararası Topluluğu). </a:t>
            </a:r>
          </a:p>
          <a:p>
            <a:r>
              <a:rPr lang="tr-TR" sz="2000" dirty="0" err="1"/>
              <a:t>ISTE’ye</a:t>
            </a:r>
            <a:r>
              <a:rPr lang="tr-TR" sz="2000" dirty="0"/>
              <a:t> göre (2007), günümüzde öğrencilerde bulunması gereken yedi grup beceriden 3.sü olan «</a:t>
            </a:r>
            <a:r>
              <a:rPr lang="tr-TR" sz="2000" b="1" dirty="0"/>
              <a:t>bilgi ustalığı» </a:t>
            </a:r>
            <a:r>
              <a:rPr lang="tr-TR" sz="2000" dirty="0"/>
              <a:t>şu yeterlilikleri içerir:</a:t>
            </a:r>
          </a:p>
          <a:p>
            <a:endParaRPr lang="tr-TR" sz="2000" dirty="0"/>
          </a:p>
          <a:p>
            <a:pPr marL="342900" indent="-342900">
              <a:buFont typeface="Arial" panose="020B0604020202020204" pitchFamily="34" charset="0"/>
              <a:buChar char="•"/>
            </a:pPr>
            <a:r>
              <a:rPr lang="tr-TR" sz="2000" dirty="0"/>
              <a:t>Bilgiyi bulmak için etkin arama stratejileri geliştirmek;</a:t>
            </a:r>
          </a:p>
          <a:p>
            <a:pPr marL="342900" indent="-342900">
              <a:buFont typeface="Arial" panose="020B0604020202020204" pitchFamily="34" charset="0"/>
              <a:buChar char="•"/>
            </a:pPr>
            <a:r>
              <a:rPr lang="tr-TR" sz="2000" dirty="0"/>
              <a:t>Bilgi, veri ve ortamın doğruluğu, </a:t>
            </a:r>
            <a:r>
              <a:rPr lang="tr-TR" sz="2000" dirty="0" err="1"/>
              <a:t>güvenilebilirliği</a:t>
            </a:r>
            <a:r>
              <a:rPr lang="tr-TR" sz="2000" dirty="0"/>
              <a:t> ve </a:t>
            </a:r>
            <a:r>
              <a:rPr lang="tr-TR" sz="2000" dirty="0" err="1"/>
              <a:t>ilgililiğini</a:t>
            </a:r>
            <a:r>
              <a:rPr lang="tr-TR" sz="2000" dirty="0"/>
              <a:t> değerlendirmek; </a:t>
            </a:r>
          </a:p>
          <a:p>
            <a:pPr marL="342900" indent="-342900">
              <a:buFont typeface="Arial" panose="020B0604020202020204" pitchFamily="34" charset="0"/>
              <a:buChar char="•"/>
            </a:pPr>
            <a:r>
              <a:rPr lang="tr-TR" sz="2000" dirty="0"/>
              <a:t>Çeşitli yöntem ve araçları kullanarak elde edilen bilgiyi anlamlı bağlantılar ve Sonuçlar içerecek şekilde sunmak;</a:t>
            </a:r>
          </a:p>
          <a:p>
            <a:pPr marL="342900" indent="-342900">
              <a:buFont typeface="Arial" panose="020B0604020202020204" pitchFamily="34" charset="0"/>
              <a:buChar char="•"/>
            </a:pPr>
            <a:r>
              <a:rPr lang="tr-TR" sz="2000" dirty="0"/>
              <a:t>Fikirler ve teoriler üreterek gerçek dünya problemlerine çözümler aramak</a:t>
            </a:r>
          </a:p>
          <a:p>
            <a:endParaRPr lang="tr-TR" sz="2000" dirty="0"/>
          </a:p>
          <a:p>
            <a:r>
              <a:rPr lang="tr-TR" sz="2000" dirty="0"/>
              <a:t>Dünya Ekonomi Forumu tarafından belirlenen 21. yy becerileri arasında en önde gelen becerilerden biri de </a:t>
            </a:r>
            <a:r>
              <a:rPr lang="tr-TR" sz="2000" b="1" dirty="0"/>
              <a:t>eleştirel düşünme</a:t>
            </a:r>
            <a:r>
              <a:rPr lang="tr-TR" sz="2000" dirty="0"/>
              <a:t>dir (World </a:t>
            </a:r>
            <a:r>
              <a:rPr lang="tr-TR" sz="2000" dirty="0" err="1"/>
              <a:t>Economic</a:t>
            </a:r>
            <a:r>
              <a:rPr lang="tr-TR" sz="2000" dirty="0"/>
              <a:t> Forum, 2015). </a:t>
            </a:r>
          </a:p>
          <a:p>
            <a:endParaRPr lang="tr-TR" sz="2000" dirty="0"/>
          </a:p>
        </p:txBody>
      </p:sp>
    </p:spTree>
    <p:extLst>
      <p:ext uri="{BB962C8B-B14F-4D97-AF65-F5344CB8AC3E}">
        <p14:creationId xmlns:p14="http://schemas.microsoft.com/office/powerpoint/2010/main" val="6622254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4" y="849219"/>
            <a:ext cx="8859518" cy="4093428"/>
          </a:xfrm>
          <a:prstGeom prst="rect">
            <a:avLst/>
          </a:prstGeom>
        </p:spPr>
        <p:txBody>
          <a:bodyPr wrap="square">
            <a:spAutoFit/>
          </a:bodyPr>
          <a:lstStyle/>
          <a:p>
            <a:pPr marL="342900" indent="-342900">
              <a:buFont typeface="Arial" panose="020B0604020202020204" pitchFamily="34" charset="0"/>
              <a:buChar char="•"/>
            </a:pPr>
            <a:r>
              <a:rPr lang="tr-TR" sz="2000" dirty="0"/>
              <a:t>Anahtar becerileri belirlemeye yönelik olarak yukarıda sözü edilen çalışmaların hepsinde bir şekilde bilgi okuryazarlığı becerilerinden söz edildiği görülür.</a:t>
            </a:r>
          </a:p>
          <a:p>
            <a:pPr marL="342900" indent="-342900">
              <a:buFont typeface="Wingdings" panose="05000000000000000000" pitchFamily="2" charset="2"/>
              <a:buChar char="q"/>
            </a:pPr>
            <a:endParaRPr lang="tr-TR" sz="2000" dirty="0"/>
          </a:p>
          <a:p>
            <a:pPr marL="342900" indent="-342900">
              <a:buFont typeface="Arial" panose="020B0604020202020204" pitchFamily="34" charset="0"/>
              <a:buChar char="•"/>
            </a:pPr>
            <a:r>
              <a:rPr lang="tr-TR" sz="2000" dirty="0"/>
              <a:t>Bu beceriler eğitimde, iş yaşamında ve günlük yaşamda başarının anahtarıdır. </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21. yüzyıl toplumları için öğrenmeyi öğrenmek önem kazanmıştır. Bilgi toplumları artık, kendi kendisine öğrenebilen, bunun için kendisini motive edebilen, çeşitli kaynaklardan bilgiye ulaşabilen, elde ettiği bilgiyi yorumlayabilen, kullanabilen ve başkalarıyla paylaşabilen, bilgi üretebilen ve tüm bu faaliyetlerinde teknolojiyi kullanabilen, yaşam boyu öğrenme becerilerine sahip bilgi okuryazarı bireylere ihtiyaç duymaktadır. </a:t>
            </a:r>
          </a:p>
          <a:p>
            <a:pPr marL="342900" indent="-342900">
              <a:buFont typeface="Arial" panose="020B0604020202020204" pitchFamily="34" charset="0"/>
              <a:buChar char="•"/>
            </a:pPr>
            <a:endParaRPr lang="tr-TR" sz="2000" dirty="0"/>
          </a:p>
          <a:p>
            <a:endParaRPr lang="tr-TR" sz="2000" dirty="0"/>
          </a:p>
        </p:txBody>
      </p:sp>
    </p:spTree>
    <p:extLst>
      <p:ext uri="{BB962C8B-B14F-4D97-AF65-F5344CB8AC3E}">
        <p14:creationId xmlns:p14="http://schemas.microsoft.com/office/powerpoint/2010/main" val="1564137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284480" y="849219"/>
            <a:ext cx="8859518" cy="4401205"/>
          </a:xfrm>
          <a:prstGeom prst="rect">
            <a:avLst/>
          </a:prstGeom>
        </p:spPr>
        <p:txBody>
          <a:bodyPr wrap="square">
            <a:spAutoFit/>
          </a:bodyPr>
          <a:lstStyle/>
          <a:p>
            <a:r>
              <a:rPr lang="tr-TR" sz="2000" dirty="0"/>
              <a:t>Bilgi okuryazarlığının sağladığı avantajlar:</a:t>
            </a:r>
          </a:p>
          <a:p>
            <a:pPr marL="457200" indent="-457200">
              <a:lnSpc>
                <a:spcPct val="150000"/>
              </a:lnSpc>
              <a:buFont typeface="Arial" panose="020B0604020202020204" pitchFamily="34" charset="0"/>
              <a:buChar char="•"/>
            </a:pPr>
            <a:r>
              <a:rPr lang="tr-TR" sz="2000" dirty="0"/>
              <a:t>Yaşam boyu öğrenmenin temel şartıdır, </a:t>
            </a:r>
          </a:p>
          <a:p>
            <a:pPr marL="457200" indent="-457200">
              <a:lnSpc>
                <a:spcPct val="150000"/>
              </a:lnSpc>
              <a:buFont typeface="Arial" panose="020B0604020202020204" pitchFamily="34" charset="0"/>
              <a:buChar char="•"/>
            </a:pPr>
            <a:r>
              <a:rPr lang="tr-TR" sz="2000" dirty="0"/>
              <a:t>Kişisel, mesleki ve entelektüel gelişime yardımcı olur,</a:t>
            </a:r>
          </a:p>
          <a:p>
            <a:pPr marL="457200" indent="-457200">
              <a:lnSpc>
                <a:spcPct val="150000"/>
              </a:lnSpc>
              <a:buFont typeface="Arial" panose="020B0604020202020204" pitchFamily="34" charset="0"/>
              <a:buChar char="•"/>
            </a:pPr>
            <a:r>
              <a:rPr lang="tr-TR" sz="2000" dirty="0"/>
              <a:t>Gelişmeleri anlama ve kavramaya yardımcı olur, </a:t>
            </a:r>
          </a:p>
          <a:p>
            <a:pPr marL="457200" indent="-457200">
              <a:lnSpc>
                <a:spcPct val="150000"/>
              </a:lnSpc>
              <a:buFont typeface="Arial" panose="020B0604020202020204" pitchFamily="34" charset="0"/>
              <a:buChar char="•"/>
            </a:pPr>
            <a:r>
              <a:rPr lang="tr-TR" sz="2000" dirty="0"/>
              <a:t>Değişime ayak uydurmayı kolaylaştırır, </a:t>
            </a:r>
          </a:p>
          <a:p>
            <a:pPr marL="457200" indent="-457200">
              <a:lnSpc>
                <a:spcPct val="150000"/>
              </a:lnSpc>
              <a:buFont typeface="Arial" panose="020B0604020202020204" pitchFamily="34" charset="0"/>
              <a:buChar char="•"/>
            </a:pPr>
            <a:r>
              <a:rPr lang="tr-TR" sz="2000" dirty="0"/>
              <a:t>Bilgi toplumuna uyumu kolaylaştırır,</a:t>
            </a:r>
          </a:p>
          <a:p>
            <a:pPr marL="457200" indent="-457200">
              <a:lnSpc>
                <a:spcPct val="150000"/>
              </a:lnSpc>
              <a:buFont typeface="Arial" panose="020B0604020202020204" pitchFamily="34" charset="0"/>
              <a:buChar char="•"/>
            </a:pPr>
            <a:r>
              <a:rPr lang="tr-TR" sz="2000" dirty="0"/>
              <a:t>Öngörü kazandırır, </a:t>
            </a:r>
          </a:p>
          <a:p>
            <a:pPr marL="457200" indent="-457200">
              <a:lnSpc>
                <a:spcPct val="150000"/>
              </a:lnSpc>
              <a:buFont typeface="Arial" panose="020B0604020202020204" pitchFamily="34" charset="0"/>
              <a:buChar char="•"/>
            </a:pPr>
            <a:r>
              <a:rPr lang="tr-TR" sz="2000" dirty="0"/>
              <a:t>Rekabet gücünü artırır, </a:t>
            </a:r>
          </a:p>
          <a:p>
            <a:pPr marL="457200" indent="-457200">
              <a:lnSpc>
                <a:spcPct val="150000"/>
              </a:lnSpc>
              <a:buFont typeface="Arial" panose="020B0604020202020204" pitchFamily="34" charset="0"/>
              <a:buChar char="•"/>
            </a:pPr>
            <a:r>
              <a:rPr lang="tr-TR" sz="2000" dirty="0"/>
              <a:t>İş bulmayı kolaylaştırır, </a:t>
            </a:r>
          </a:p>
          <a:p>
            <a:endParaRPr lang="tr-TR" sz="2000" dirty="0"/>
          </a:p>
        </p:txBody>
      </p:sp>
    </p:spTree>
    <p:extLst>
      <p:ext uri="{BB962C8B-B14F-4D97-AF65-F5344CB8AC3E}">
        <p14:creationId xmlns:p14="http://schemas.microsoft.com/office/powerpoint/2010/main" val="3151965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284480" y="849219"/>
            <a:ext cx="8859518" cy="707886"/>
          </a:xfrm>
          <a:prstGeom prst="rect">
            <a:avLst/>
          </a:prstGeom>
        </p:spPr>
        <p:txBody>
          <a:bodyPr wrap="square">
            <a:spAutoFit/>
          </a:bodyPr>
          <a:lstStyle/>
          <a:p>
            <a:r>
              <a:rPr lang="tr-TR" sz="2000" dirty="0"/>
              <a:t> </a:t>
            </a:r>
          </a:p>
          <a:p>
            <a:endParaRPr lang="tr-TR" sz="2000" dirty="0"/>
          </a:p>
        </p:txBody>
      </p:sp>
      <p:sp>
        <p:nvSpPr>
          <p:cNvPr id="4" name="Dikdörtgen 3"/>
          <p:cNvSpPr/>
          <p:nvPr/>
        </p:nvSpPr>
        <p:spPr>
          <a:xfrm>
            <a:off x="-2" y="956930"/>
            <a:ext cx="9144000" cy="3477875"/>
          </a:xfrm>
          <a:prstGeom prst="rect">
            <a:avLst/>
          </a:prstGeom>
        </p:spPr>
        <p:txBody>
          <a:bodyPr wrap="square">
            <a:spAutoFit/>
          </a:bodyPr>
          <a:lstStyle/>
          <a:p>
            <a:pPr marL="457200" indent="-457200">
              <a:lnSpc>
                <a:spcPct val="150000"/>
              </a:lnSpc>
              <a:buFont typeface="Arial" panose="020B0604020202020204" pitchFamily="34" charset="0"/>
              <a:buChar char="•"/>
            </a:pPr>
            <a:r>
              <a:rPr lang="tr-TR" sz="2000" dirty="0"/>
              <a:t>Sosyal dışlanmayı engeller, </a:t>
            </a:r>
          </a:p>
          <a:p>
            <a:pPr marL="457200" indent="-457200">
              <a:lnSpc>
                <a:spcPct val="150000"/>
              </a:lnSpc>
              <a:buFont typeface="Arial" panose="020B0604020202020204" pitchFamily="34" charset="0"/>
              <a:buChar char="•"/>
            </a:pPr>
            <a:r>
              <a:rPr lang="tr-TR" sz="2000" dirty="0"/>
              <a:t>Bireylerin kendi yaşamları üzerindeki kontrolünü artırır, </a:t>
            </a:r>
          </a:p>
          <a:p>
            <a:pPr marL="457200" indent="-457200">
              <a:lnSpc>
                <a:spcPct val="150000"/>
              </a:lnSpc>
              <a:buFont typeface="Arial" panose="020B0604020202020204" pitchFamily="34" charset="0"/>
              <a:buChar char="•"/>
            </a:pPr>
            <a:r>
              <a:rPr lang="tr-TR" sz="2000" dirty="0"/>
              <a:t>Yeni bilgi üretimi için gereklidir,</a:t>
            </a:r>
          </a:p>
          <a:p>
            <a:pPr marL="457200" indent="-457200">
              <a:lnSpc>
                <a:spcPct val="150000"/>
              </a:lnSpc>
              <a:buFont typeface="Arial" panose="020B0604020202020204" pitchFamily="34" charset="0"/>
              <a:buChar char="•"/>
            </a:pPr>
            <a:r>
              <a:rPr lang="tr-TR" sz="2000" dirty="0"/>
              <a:t>Sosyoekonomik gelişime katkı sağlar, </a:t>
            </a:r>
          </a:p>
          <a:p>
            <a:pPr marL="457200" indent="-457200">
              <a:lnSpc>
                <a:spcPct val="150000"/>
              </a:lnSpc>
              <a:buFont typeface="Arial" panose="020B0604020202020204" pitchFamily="34" charset="0"/>
              <a:buChar char="•"/>
            </a:pPr>
            <a:r>
              <a:rPr lang="tr-TR" sz="2000" dirty="0"/>
              <a:t>Nitelikli iş gücü oluşumunu sağlar, </a:t>
            </a:r>
          </a:p>
          <a:p>
            <a:pPr marL="457200" indent="-457200">
              <a:lnSpc>
                <a:spcPct val="150000"/>
              </a:lnSpc>
              <a:buFont typeface="Arial" panose="020B0604020202020204" pitchFamily="34" charset="0"/>
              <a:buChar char="•"/>
            </a:pPr>
            <a:r>
              <a:rPr lang="tr-TR" sz="2000" dirty="0"/>
              <a:t>Daha güçlü toplumlar yaratır.</a:t>
            </a:r>
          </a:p>
          <a:p>
            <a:r>
              <a:rPr lang="tr-TR" sz="2000" dirty="0"/>
              <a:t>     </a:t>
            </a:r>
          </a:p>
          <a:p>
            <a:r>
              <a:rPr lang="tr-TR" sz="2000" dirty="0"/>
              <a:t>									(</a:t>
            </a:r>
            <a:r>
              <a:rPr lang="tr-TR" sz="2000" dirty="0" err="1"/>
              <a:t>Kurbanoğlu</a:t>
            </a:r>
            <a:r>
              <a:rPr lang="tr-TR" sz="2000" dirty="0"/>
              <a:t>, 2010, s. 747)</a:t>
            </a:r>
          </a:p>
        </p:txBody>
      </p:sp>
    </p:spTree>
    <p:extLst>
      <p:ext uri="{BB962C8B-B14F-4D97-AF65-F5344CB8AC3E}">
        <p14:creationId xmlns:p14="http://schemas.microsoft.com/office/powerpoint/2010/main" val="2957409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284480" y="849219"/>
            <a:ext cx="8859518" cy="707886"/>
          </a:xfrm>
          <a:prstGeom prst="rect">
            <a:avLst/>
          </a:prstGeom>
        </p:spPr>
        <p:txBody>
          <a:bodyPr wrap="square">
            <a:spAutoFit/>
          </a:bodyPr>
          <a:lstStyle/>
          <a:p>
            <a:r>
              <a:rPr lang="tr-TR" sz="2000" dirty="0"/>
              <a:t> </a:t>
            </a:r>
          </a:p>
          <a:p>
            <a:endParaRPr lang="tr-TR" sz="2000" dirty="0"/>
          </a:p>
        </p:txBody>
      </p:sp>
      <p:sp>
        <p:nvSpPr>
          <p:cNvPr id="4" name="Dikdörtgen 3"/>
          <p:cNvSpPr/>
          <p:nvPr/>
        </p:nvSpPr>
        <p:spPr>
          <a:xfrm>
            <a:off x="-4" y="849219"/>
            <a:ext cx="8761232" cy="1891287"/>
          </a:xfrm>
          <a:prstGeom prst="rect">
            <a:avLst/>
          </a:prstGeom>
        </p:spPr>
        <p:txBody>
          <a:bodyPr wrap="square">
            <a:spAutoFit/>
          </a:bodyPr>
          <a:lstStyle/>
          <a:p>
            <a:endParaRPr lang="tr-TR" sz="2000" dirty="0"/>
          </a:p>
          <a:p>
            <a:endParaRPr lang="tr-TR" sz="2000" dirty="0"/>
          </a:p>
          <a:p>
            <a:r>
              <a:rPr lang="tr-TR" sz="2000" dirty="0"/>
              <a:t>Günümüzde bilgi okuryazarlığının önemini artıran bazı gelişmeler:</a:t>
            </a:r>
          </a:p>
          <a:p>
            <a:pPr marL="342900" indent="-342900">
              <a:lnSpc>
                <a:spcPct val="150000"/>
              </a:lnSpc>
              <a:buFont typeface="Arial" panose="020B0604020202020204" pitchFamily="34" charset="0"/>
              <a:buChar char="•"/>
            </a:pPr>
            <a:r>
              <a:rPr lang="tr-TR" sz="2000" dirty="0"/>
              <a:t>Bilgi miktarındaki artış,</a:t>
            </a:r>
          </a:p>
          <a:p>
            <a:pPr marL="342900" indent="-342900">
              <a:lnSpc>
                <a:spcPct val="150000"/>
              </a:lnSpc>
              <a:buFont typeface="Arial" panose="020B0604020202020204" pitchFamily="34" charset="0"/>
              <a:buChar char="•"/>
            </a:pPr>
            <a:r>
              <a:rPr lang="tr-TR" sz="2000" dirty="0"/>
              <a:t>Bilginin niteliğindeki belirsizlik. </a:t>
            </a:r>
          </a:p>
        </p:txBody>
      </p:sp>
    </p:spTree>
    <p:extLst>
      <p:ext uri="{BB962C8B-B14F-4D97-AF65-F5344CB8AC3E}">
        <p14:creationId xmlns:p14="http://schemas.microsoft.com/office/powerpoint/2010/main" val="29159599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284480" y="849219"/>
            <a:ext cx="8859518" cy="3785652"/>
          </a:xfrm>
          <a:prstGeom prst="rect">
            <a:avLst/>
          </a:prstGeom>
        </p:spPr>
        <p:txBody>
          <a:bodyPr wrap="square">
            <a:spAutoFit/>
          </a:bodyPr>
          <a:lstStyle/>
          <a:p>
            <a:r>
              <a:rPr lang="tr-TR" sz="2000" dirty="0"/>
              <a:t> </a:t>
            </a:r>
          </a:p>
          <a:p>
            <a:pPr marL="342900" indent="-342900">
              <a:buFont typeface="Arial" panose="020B0604020202020204" pitchFamily="34" charset="0"/>
              <a:buChar char="•"/>
            </a:pPr>
            <a:r>
              <a:rPr lang="tr-TR" sz="2000" dirty="0"/>
              <a:t>İnternet ve sosyal medyanın sağladığı olanaklarla bugün herkes istediği bilgiyi yayınlayıp geniş kitlelere ulaşabilmekte.</a:t>
            </a:r>
          </a:p>
          <a:p>
            <a:pPr marL="342900" indent="-342900">
              <a:buFont typeface="Arial" panose="020B0604020202020204" pitchFamily="34" charset="0"/>
              <a:buChar char="•"/>
            </a:pPr>
            <a:r>
              <a:rPr lang="tr-TR" sz="2000" dirty="0"/>
              <a:t>Denetim mekanizması yok.</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Eksik, yanlı ve manipülasyon amaçlı bilgi de dolaşıma girmekte,</a:t>
            </a:r>
          </a:p>
          <a:p>
            <a:pPr marL="342900" indent="-342900">
              <a:buFont typeface="Arial" panose="020B0604020202020204" pitchFamily="34" charset="0"/>
              <a:buChar char="•"/>
            </a:pPr>
            <a:r>
              <a:rPr lang="tr-TR" sz="2000" dirty="0"/>
              <a:t> Hatalı ve yanlı olduğu kanıtlansa bile dolaşımda kalmakta.</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Bireyin sorumluluğu öne çıkar.</a:t>
            </a:r>
          </a:p>
          <a:p>
            <a:pPr marL="342900" indent="-342900">
              <a:buFont typeface="Arial" panose="020B0604020202020204" pitchFamily="34" charset="0"/>
              <a:buChar char="•"/>
            </a:pPr>
            <a:r>
              <a:rPr lang="tr-TR" sz="2000" dirty="0"/>
              <a:t>Eleştirel düşünme ile bilgi ve bilgi kaynaklarının değerlendirilmesi ile ilgili bilgi okuryazarlığı becerileri  çok önem kazanır.</a:t>
            </a:r>
          </a:p>
          <a:p>
            <a:endParaRPr lang="tr-TR" sz="2000" dirty="0"/>
          </a:p>
        </p:txBody>
      </p:sp>
      <p:sp>
        <p:nvSpPr>
          <p:cNvPr id="4" name="Aşağı Ok 3"/>
          <p:cNvSpPr/>
          <p:nvPr/>
        </p:nvSpPr>
        <p:spPr>
          <a:xfrm>
            <a:off x="3657600" y="2083981"/>
            <a:ext cx="340242" cy="3296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şağı Ok 5"/>
          <p:cNvSpPr/>
          <p:nvPr/>
        </p:nvSpPr>
        <p:spPr>
          <a:xfrm>
            <a:off x="3604437" y="2997918"/>
            <a:ext cx="446567" cy="3508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159414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4. Bilgi okuryazarlığının önemi </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284480" y="849219"/>
            <a:ext cx="8859518" cy="707886"/>
          </a:xfrm>
          <a:prstGeom prst="rect">
            <a:avLst/>
          </a:prstGeom>
        </p:spPr>
        <p:txBody>
          <a:bodyPr wrap="square">
            <a:spAutoFit/>
          </a:bodyPr>
          <a:lstStyle/>
          <a:p>
            <a:r>
              <a:rPr lang="tr-TR" sz="2000" dirty="0"/>
              <a:t> </a:t>
            </a:r>
          </a:p>
          <a:p>
            <a:endParaRPr lang="tr-TR" sz="2000" dirty="0"/>
          </a:p>
        </p:txBody>
      </p:sp>
      <p:sp>
        <p:nvSpPr>
          <p:cNvPr id="4" name="Dikdörtgen 3"/>
          <p:cNvSpPr/>
          <p:nvPr/>
        </p:nvSpPr>
        <p:spPr>
          <a:xfrm>
            <a:off x="116958" y="849219"/>
            <a:ext cx="9027042" cy="1323439"/>
          </a:xfrm>
          <a:prstGeom prst="rect">
            <a:avLst/>
          </a:prstGeom>
        </p:spPr>
        <p:txBody>
          <a:bodyPr wrap="square">
            <a:spAutoFit/>
          </a:bodyPr>
          <a:lstStyle/>
          <a:p>
            <a:pPr marL="342900" indent="-342900">
              <a:buFont typeface="Arial" panose="020B0604020202020204" pitchFamily="34" charset="0"/>
              <a:buChar char="•"/>
            </a:pPr>
            <a:r>
              <a:rPr lang="tr-TR" sz="2000" dirty="0"/>
              <a:t>Sahte haber miktarındaki artış ve yayılma hızı</a:t>
            </a:r>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endParaRPr lang="tr-TR" sz="2000" dirty="0"/>
          </a:p>
          <a:p>
            <a:pPr marL="342900" indent="-342900">
              <a:buFont typeface="Arial" panose="020B0604020202020204" pitchFamily="34" charset="0"/>
              <a:buChar char="•"/>
            </a:pPr>
            <a:r>
              <a:rPr lang="tr-TR" sz="2000" dirty="0"/>
              <a:t>Demokratik sorunlar</a:t>
            </a:r>
          </a:p>
        </p:txBody>
      </p:sp>
      <p:sp>
        <p:nvSpPr>
          <p:cNvPr id="5" name="Aşağı Ok 4"/>
          <p:cNvSpPr/>
          <p:nvPr/>
        </p:nvSpPr>
        <p:spPr>
          <a:xfrm>
            <a:off x="1297173" y="1305761"/>
            <a:ext cx="350874" cy="4678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537234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Sonuç</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284480" y="849219"/>
            <a:ext cx="8859518" cy="707886"/>
          </a:xfrm>
          <a:prstGeom prst="rect">
            <a:avLst/>
          </a:prstGeom>
        </p:spPr>
        <p:txBody>
          <a:bodyPr wrap="square">
            <a:spAutoFit/>
          </a:bodyPr>
          <a:lstStyle/>
          <a:p>
            <a:r>
              <a:rPr lang="tr-TR" sz="2000" dirty="0"/>
              <a:t> </a:t>
            </a:r>
          </a:p>
          <a:p>
            <a:endParaRPr lang="tr-TR" sz="2000" dirty="0"/>
          </a:p>
        </p:txBody>
      </p:sp>
      <p:sp>
        <p:nvSpPr>
          <p:cNvPr id="4" name="Dikdörtgen 3"/>
          <p:cNvSpPr/>
          <p:nvPr/>
        </p:nvSpPr>
        <p:spPr>
          <a:xfrm>
            <a:off x="0" y="849219"/>
            <a:ext cx="9037674" cy="4093428"/>
          </a:xfrm>
          <a:prstGeom prst="rect">
            <a:avLst/>
          </a:prstGeom>
        </p:spPr>
        <p:txBody>
          <a:bodyPr wrap="square">
            <a:spAutoFit/>
          </a:bodyPr>
          <a:lstStyle/>
          <a:p>
            <a:pPr marL="342900" indent="-342900" algn="just">
              <a:spcAft>
                <a:spcPts val="0"/>
              </a:spcAft>
              <a:buFont typeface="Wingdings" panose="05000000000000000000" pitchFamily="2" charset="2"/>
              <a:buChar char="Ø"/>
            </a:pPr>
            <a:r>
              <a:rPr lang="tr-TR" sz="2000" dirty="0">
                <a:latin typeface="Calibri" panose="020F0502020204030204" pitchFamily="34" charset="0"/>
                <a:ea typeface="Calibri" panose="020F0502020204030204" pitchFamily="34" charset="0"/>
                <a:cs typeface="Times New Roman" panose="02020603050405020304" pitchFamily="18" charset="0"/>
              </a:rPr>
              <a:t>Bilgi okuryazarlığı yaşamın her alanını etkileyen bir beceriler bütünüdür. Bilgi arama, bulma,  değerlendirme, kullanma ve iletme gibi bilgi becerilerinin yanı sıra  eleştirel düşünme gibi üst düzey düşünme becerilerinden oluşur. Ayrıca görsel okuryazarlık, bilgisayar okuryazarlığı ve medya okuryazarlığı gibi çeşitli okuryazarlık becerilerini bünyesinde barındırır. </a:t>
            </a:r>
            <a:endParaRPr lang="tr-TR" sz="2000" dirty="0">
              <a:latin typeface="Times New Roman" panose="02020603050405020304" pitchFamily="18" charset="0"/>
              <a:ea typeface="Times New Roman" panose="02020603050405020304" pitchFamily="18" charset="0"/>
            </a:endParaRPr>
          </a:p>
          <a:p>
            <a:pPr marL="342900" indent="-342900" algn="just">
              <a:spcAft>
                <a:spcPts val="0"/>
              </a:spcAft>
              <a:buFont typeface="Wingdings" panose="05000000000000000000" pitchFamily="2" charset="2"/>
              <a:buChar char="Ø"/>
            </a:pPr>
            <a:endParaRPr lang="tr-TR" sz="2000" dirty="0">
              <a:latin typeface="Times New Roman" panose="02020603050405020304" pitchFamily="18" charset="0"/>
              <a:ea typeface="Times New Roman" panose="02020603050405020304" pitchFamily="18" charset="0"/>
            </a:endParaRPr>
          </a:p>
          <a:p>
            <a:pPr marL="342900" indent="-342900" algn="just">
              <a:spcAft>
                <a:spcPts val="0"/>
              </a:spcAft>
              <a:buFont typeface="Wingdings" panose="05000000000000000000" pitchFamily="2" charset="2"/>
              <a:buChar char="Ø"/>
            </a:pPr>
            <a:r>
              <a:rPr lang="tr-TR" sz="2000" dirty="0">
                <a:latin typeface="Calibri" panose="020F0502020204030204" pitchFamily="34" charset="0"/>
                <a:ea typeface="Calibri" panose="020F0502020204030204" pitchFamily="34" charset="0"/>
                <a:cs typeface="Times New Roman" panose="02020603050405020304" pitchFamily="18" charset="0"/>
              </a:rPr>
              <a:t>Bağımsız öğrenme ve yaşam boyu öğrenmeye temel oluşturur. Kişisel, mesleki ve entelektüel gelişime katkıda bulunur, istihdam edilebilirliği kolaylaştırır, nitelikli iş gücü yaratarak bireylerin ve toplumların rekabet gücünü artırır. Hepsinden önemlisi, vatandaşların eleştirel düşünme ve bilginin doğruluğunu değerlendirme becerilerinin gelişmesine katkıda bulunmak yoluyla demokrasilerin işlemesine yardımcı olur. </a:t>
            </a:r>
            <a:endParaRPr lang="tr-TR" sz="2000" dirty="0">
              <a:latin typeface="Times New Roman" panose="02020603050405020304" pitchFamily="18" charset="0"/>
              <a:ea typeface="Times New Roman" panose="02020603050405020304" pitchFamily="18" charset="0"/>
            </a:endParaRPr>
          </a:p>
          <a:p>
            <a:pPr marL="342900" indent="-342900" algn="just">
              <a:spcAft>
                <a:spcPts val="0"/>
              </a:spcAft>
              <a:buFont typeface="Arial" panose="020B0604020202020204" pitchFamily="34" charset="0"/>
              <a:buChar char="•"/>
            </a:pPr>
            <a:r>
              <a:rPr lang="tr-TR" sz="2000" dirty="0">
                <a:solidFill>
                  <a:srgbClr val="0070C0"/>
                </a:solidFill>
                <a:latin typeface="Calibri" panose="020F0502020204030204" pitchFamily="34" charset="0"/>
                <a:ea typeface="Calibri" panose="020F0502020204030204" pitchFamily="34" charset="0"/>
                <a:cs typeface="Times New Roman" panose="02020603050405020304" pitchFamily="18" charset="0"/>
              </a:rPr>
              <a:t> </a:t>
            </a:r>
            <a:endParaRPr lang="tr-TR"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732935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2" y="158761"/>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tr-TR" sz="2800" b="1" dirty="0"/>
              <a:t> Video  ve kaynak önerileri</a:t>
            </a:r>
            <a:endParaRPr lang="en-US" sz="2800" b="1" dirty="0">
              <a:solidFill>
                <a:srgbClr val="771614"/>
              </a:solidFill>
            </a:endParaRP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ikdörtgen 1"/>
          <p:cNvSpPr/>
          <p:nvPr/>
        </p:nvSpPr>
        <p:spPr>
          <a:xfrm>
            <a:off x="-6" y="840470"/>
            <a:ext cx="9144004" cy="3693319"/>
          </a:xfrm>
          <a:prstGeom prst="rect">
            <a:avLst/>
          </a:prstGeom>
        </p:spPr>
        <p:txBody>
          <a:bodyPr wrap="square">
            <a:spAutoFit/>
          </a:bodyPr>
          <a:lstStyle/>
          <a:p>
            <a:pPr marL="285750" indent="-285750">
              <a:buFont typeface="Arial" panose="020B0604020202020204" pitchFamily="34" charset="0"/>
              <a:buChar char="•"/>
            </a:pPr>
            <a:endParaRPr lang="tr-TR" sz="1800" dirty="0"/>
          </a:p>
          <a:p>
            <a:pPr marL="285750" indent="-285750">
              <a:buFont typeface="Arial" panose="020B0604020202020204" pitchFamily="34" charset="0"/>
              <a:buChar char="•"/>
            </a:pPr>
            <a:r>
              <a:rPr lang="tr-TR" sz="1800" dirty="0"/>
              <a:t>Yanlış Bilgi Çağında Medya Okuryazarlığı </a:t>
            </a:r>
            <a:r>
              <a:rPr lang="tr-TR" sz="1800" u="sng" dirty="0">
                <a:hlinkClick r:id="rId3"/>
              </a:rPr>
              <a:t>https://www.youtube.com/watch?v=e9MvJA_0mFg</a:t>
            </a:r>
            <a:r>
              <a:rPr lang="tr-TR" sz="1800" dirty="0"/>
              <a:t> </a:t>
            </a:r>
          </a:p>
          <a:p>
            <a:pPr marL="285750" indent="-285750">
              <a:buFont typeface="Arial" panose="020B0604020202020204" pitchFamily="34" charset="0"/>
              <a:buChar char="•"/>
            </a:pPr>
            <a:r>
              <a:rPr lang="tr-TR" sz="1800" dirty="0"/>
              <a:t>Bilgiyi Teyit Etmek Neden Önemlidir? </a:t>
            </a:r>
            <a:r>
              <a:rPr lang="tr-TR" sz="1800" u="sng" dirty="0">
                <a:hlinkClick r:id="rId4"/>
              </a:rPr>
              <a:t>https://www.youtube.com/watch?v=Ge4dh4lUtpA</a:t>
            </a:r>
            <a:r>
              <a:rPr lang="tr-TR" sz="1800" dirty="0"/>
              <a:t> </a:t>
            </a:r>
          </a:p>
          <a:p>
            <a:pPr marL="285750" indent="-285750">
              <a:buFont typeface="Arial" panose="020B0604020202020204" pitchFamily="34" charset="0"/>
              <a:buChar char="•"/>
            </a:pPr>
            <a:r>
              <a:rPr lang="tr-TR" sz="1800" dirty="0"/>
              <a:t>Hacettepe Bilgi Topluluğu teyit.org Konferansı </a:t>
            </a:r>
            <a:r>
              <a:rPr lang="tr-TR" sz="1800" u="sng" dirty="0">
                <a:hlinkClick r:id="rId5"/>
              </a:rPr>
              <a:t>https://www.youtube.com/watch?v=hGyMZ6qOBHI</a:t>
            </a:r>
            <a:endParaRPr lang="tr-TR" sz="1800" u="sng" dirty="0"/>
          </a:p>
          <a:p>
            <a:pPr marL="285750" indent="-285750">
              <a:buFont typeface="Arial" panose="020B0604020202020204" pitchFamily="34" charset="0"/>
              <a:buChar char="•"/>
            </a:pPr>
            <a:r>
              <a:rPr lang="tr-TR" sz="1800" dirty="0" err="1"/>
              <a:t>Lewandowsky</a:t>
            </a:r>
            <a:r>
              <a:rPr lang="tr-TR" sz="1800" dirty="0"/>
              <a:t>, S. et al (2020). Yanlış Bilgileri Çürütme El Kitabı 2020. Çeviri: teyit.org Web: </a:t>
            </a:r>
            <a:r>
              <a:rPr lang="tr-TR" sz="1800" u="sng" dirty="0">
                <a:hlinkClick r:id="rId6"/>
              </a:rPr>
              <a:t>https://teyit.org/files/yanli%C5%9F-bilgileri-%C3%A7%C3%BCr%C3%BCtme-el-kitabi-2020.pdf</a:t>
            </a:r>
            <a:r>
              <a:rPr lang="tr-TR" sz="1800" dirty="0"/>
              <a:t> </a:t>
            </a:r>
          </a:p>
          <a:p>
            <a:pPr marL="285750" indent="-285750">
              <a:buFont typeface="Arial" panose="020B0604020202020204" pitchFamily="34" charset="0"/>
              <a:buChar char="•"/>
            </a:pPr>
            <a:r>
              <a:rPr lang="tr-TR" sz="1800" dirty="0"/>
              <a:t> </a:t>
            </a:r>
            <a:r>
              <a:rPr lang="tr-TR" sz="1800" dirty="0" err="1"/>
              <a:t>Silverman</a:t>
            </a:r>
            <a:r>
              <a:rPr lang="tr-TR" sz="1800" dirty="0"/>
              <a:t>, C. (2020). Dezenformasyon ve Medya Manipülasyonu Üzerine Doğrulama El Kitabı. Çeviri: teyit.org Web:  </a:t>
            </a:r>
            <a:r>
              <a:rPr lang="tr-TR" sz="1800" u="sng" dirty="0">
                <a:hlinkClick r:id="rId7"/>
              </a:rPr>
              <a:t>https://teyit.org/files/dezenformasyon-el-kitabi.pdf</a:t>
            </a:r>
            <a:r>
              <a:rPr lang="tr-TR" sz="1800" dirty="0"/>
              <a:t> </a:t>
            </a:r>
          </a:p>
          <a:p>
            <a:pPr marL="285750" indent="-285750">
              <a:buFont typeface="Arial" panose="020B0604020202020204" pitchFamily="34" charset="0"/>
              <a:buChar char="•"/>
            </a:pPr>
            <a:r>
              <a:rPr lang="tr-TR" sz="1800" dirty="0"/>
              <a:t> First </a:t>
            </a:r>
            <a:r>
              <a:rPr lang="tr-TR" sz="1800" dirty="0" err="1"/>
              <a:t>draft</a:t>
            </a:r>
            <a:r>
              <a:rPr lang="tr-TR" sz="1800" dirty="0"/>
              <a:t>. (2020). Yanlış Bilgi Psikolojisi I: Neden Savunmasızız? Çeviri: teyit.org Web: </a:t>
            </a:r>
            <a:r>
              <a:rPr lang="tr-TR" sz="1800" u="sng" dirty="0">
                <a:hlinkClick r:id="rId8"/>
              </a:rPr>
              <a:t>https://teyit.org/files/yanlis-bilgi-psikolojisi-first-draft.pdf</a:t>
            </a:r>
            <a:r>
              <a:rPr lang="tr-TR" sz="1800" dirty="0"/>
              <a:t> </a:t>
            </a:r>
          </a:p>
          <a:p>
            <a:r>
              <a:rPr lang="tr-TR" sz="1800" dirty="0"/>
              <a:t> </a:t>
            </a:r>
          </a:p>
        </p:txBody>
      </p:sp>
    </p:spTree>
    <p:extLst>
      <p:ext uri="{BB962C8B-B14F-4D97-AF65-F5344CB8AC3E}">
        <p14:creationId xmlns:p14="http://schemas.microsoft.com/office/powerpoint/2010/main" val="3321727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5E8"/>
        </a:solidFill>
        <a:effectLst/>
      </p:bgPr>
    </p:bg>
    <p:spTree>
      <p:nvGrpSpPr>
        <p:cNvPr id="1" name=""/>
        <p:cNvGrpSpPr/>
        <p:nvPr/>
      </p:nvGrpSpPr>
      <p:grpSpPr>
        <a:xfrm>
          <a:off x="0" y="0"/>
          <a:ext cx="0" cy="0"/>
          <a:chOff x="0" y="0"/>
          <a:chExt cx="0" cy="0"/>
        </a:xfrm>
      </p:grpSpPr>
      <p:sp>
        <p:nvSpPr>
          <p:cNvPr id="9" name="Rectangle 8"/>
          <p:cNvSpPr/>
          <p:nvPr/>
        </p:nvSpPr>
        <p:spPr>
          <a:xfrm>
            <a:off x="-4" y="158496"/>
            <a:ext cx="9144000" cy="6904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71614"/>
              </a:solidFill>
            </a:endParaRPr>
          </a:p>
        </p:txBody>
      </p:sp>
      <p:sp>
        <p:nvSpPr>
          <p:cNvPr id="6" name="TextBox 5"/>
          <p:cNvSpPr txBox="1"/>
          <p:nvPr/>
        </p:nvSpPr>
        <p:spPr>
          <a:xfrm>
            <a:off x="259947" y="1066292"/>
            <a:ext cx="8624098" cy="584775"/>
          </a:xfrm>
          <a:prstGeom prst="rect">
            <a:avLst/>
          </a:prstGeom>
          <a:noFill/>
        </p:spPr>
        <p:txBody>
          <a:bodyPr wrap="square" rtlCol="0">
            <a:spAutoFit/>
          </a:bodyPr>
          <a:lstStyle/>
          <a:p>
            <a:pPr algn="ctr"/>
            <a:r>
              <a:rPr lang="en-US" sz="3200" b="1" spc="200" dirty="0"/>
              <a:t>TEŞEKKÜRLER</a:t>
            </a:r>
          </a:p>
        </p:txBody>
      </p:sp>
      <p:sp>
        <p:nvSpPr>
          <p:cNvPr id="3" name="Rectangle 2"/>
          <p:cNvSpPr/>
          <p:nvPr/>
        </p:nvSpPr>
        <p:spPr>
          <a:xfrm>
            <a:off x="0" y="0"/>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4985004"/>
            <a:ext cx="9144000" cy="1584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396295" y="3447110"/>
            <a:ext cx="8351403" cy="412934"/>
          </a:xfrm>
          <a:prstGeom prst="rect">
            <a:avLst/>
          </a:prstGeom>
          <a:noFill/>
        </p:spPr>
        <p:txBody>
          <a:bodyPr wrap="square" rtlCol="0">
            <a:spAutoFit/>
          </a:bodyPr>
          <a:lstStyle/>
          <a:p>
            <a:pPr algn="ctr">
              <a:lnSpc>
                <a:spcPct val="125000"/>
              </a:lnSpc>
            </a:pPr>
            <a:r>
              <a:rPr lang="en-US" sz="1800" b="1" dirty="0"/>
              <a:t>Dr. </a:t>
            </a:r>
            <a:r>
              <a:rPr lang="en-US" sz="1800" b="1" dirty="0" err="1"/>
              <a:t>Canan</a:t>
            </a:r>
            <a:r>
              <a:rPr lang="en-US" sz="1800" b="1" dirty="0"/>
              <a:t> </a:t>
            </a:r>
            <a:r>
              <a:rPr lang="en-US" sz="1800" b="1" dirty="0" err="1"/>
              <a:t>Öktemgil</a:t>
            </a:r>
            <a:r>
              <a:rPr lang="en-US" sz="1800" b="1" dirty="0"/>
              <a:t> Turgut</a:t>
            </a:r>
          </a:p>
        </p:txBody>
      </p:sp>
      <p:sp>
        <p:nvSpPr>
          <p:cNvPr id="11" name="TextBox 10"/>
          <p:cNvSpPr txBox="1"/>
          <p:nvPr/>
        </p:nvSpPr>
        <p:spPr>
          <a:xfrm>
            <a:off x="396296" y="3956837"/>
            <a:ext cx="8351403" cy="412934"/>
          </a:xfrm>
          <a:prstGeom prst="rect">
            <a:avLst/>
          </a:prstGeom>
          <a:noFill/>
        </p:spPr>
        <p:txBody>
          <a:bodyPr wrap="square" rtlCol="0">
            <a:spAutoFit/>
          </a:bodyPr>
          <a:lstStyle/>
          <a:p>
            <a:pPr algn="ctr">
              <a:lnSpc>
                <a:spcPct val="125000"/>
              </a:lnSpc>
            </a:pPr>
            <a:r>
              <a:rPr lang="en-US" sz="1800" b="1" dirty="0" err="1"/>
              <a:t>oktemgil@hacettepe.edu.tr</a:t>
            </a:r>
            <a:endParaRPr lang="en-US" sz="1800" b="1" dirty="0"/>
          </a:p>
        </p:txBody>
      </p:sp>
      <p:pic>
        <p:nvPicPr>
          <p:cNvPr id="2" name="Resi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0094" y="1731232"/>
            <a:ext cx="1263803" cy="1233132"/>
          </a:xfrm>
          <a:prstGeom prst="rect">
            <a:avLst/>
          </a:prstGeom>
        </p:spPr>
      </p:pic>
    </p:spTree>
    <p:extLst>
      <p:ext uri="{BB962C8B-B14F-4D97-AF65-F5344CB8AC3E}">
        <p14:creationId xmlns:p14="http://schemas.microsoft.com/office/powerpoint/2010/main" val="7573165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1697</TotalTime>
  <Words>2207</Words>
  <Application>Microsoft Macintosh PowerPoint</Application>
  <PresentationFormat>Ekran Gösterisi (16:9)</PresentationFormat>
  <Paragraphs>301</Paragraphs>
  <Slides>36</Slides>
  <Notes>36</Notes>
  <HiddenSlides>0</HiddenSlides>
  <MMClips>0</MMClips>
  <ScaleCrop>false</ScaleCrop>
  <HeadingPairs>
    <vt:vector size="8" baseType="variant">
      <vt:variant>
        <vt:lpstr>Kullanılan Yazı Tipleri</vt:lpstr>
      </vt:variant>
      <vt:variant>
        <vt:i4>5</vt:i4>
      </vt:variant>
      <vt:variant>
        <vt:lpstr>Tema</vt:lpstr>
      </vt:variant>
      <vt:variant>
        <vt:i4>1</vt:i4>
      </vt:variant>
      <vt:variant>
        <vt:lpstr>Eklenmiş OLE Hizmet Programları</vt:lpstr>
      </vt:variant>
      <vt:variant>
        <vt:i4>1</vt:i4>
      </vt:variant>
      <vt:variant>
        <vt:lpstr>Slayt Başlıkları</vt:lpstr>
      </vt:variant>
      <vt:variant>
        <vt:i4>36</vt:i4>
      </vt:variant>
    </vt:vector>
  </HeadingPairs>
  <TitlesOfParts>
    <vt:vector size="43" baseType="lpstr">
      <vt:lpstr>Arial</vt:lpstr>
      <vt:lpstr>Calibri</vt:lpstr>
      <vt:lpstr>Calibri Light</vt:lpstr>
      <vt:lpstr>Times New Roman</vt:lpstr>
      <vt:lpstr>Wingdings</vt:lpstr>
      <vt:lpstr>Office Theme</vt:lpstr>
      <vt:lpstr>Belge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97</cp:revision>
  <dcterms:created xsi:type="dcterms:W3CDTF">2017-06-20T07:26:29Z</dcterms:created>
  <dcterms:modified xsi:type="dcterms:W3CDTF">2022-01-20T13:14:41Z</dcterms:modified>
</cp:coreProperties>
</file>