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60" r:id="rId1"/>
  </p:sldMasterIdLst>
  <p:notesMasterIdLst>
    <p:notesMasterId r:id="rId62"/>
  </p:notesMasterIdLst>
  <p:sldIdLst>
    <p:sldId id="256" r:id="rId2"/>
    <p:sldId id="261" r:id="rId3"/>
    <p:sldId id="263" r:id="rId4"/>
    <p:sldId id="304" r:id="rId5"/>
    <p:sldId id="276" r:id="rId6"/>
    <p:sldId id="275" r:id="rId7"/>
    <p:sldId id="272" r:id="rId8"/>
    <p:sldId id="267" r:id="rId9"/>
    <p:sldId id="311" r:id="rId10"/>
    <p:sldId id="312" r:id="rId11"/>
    <p:sldId id="316" r:id="rId12"/>
    <p:sldId id="327" r:id="rId13"/>
    <p:sldId id="329" r:id="rId14"/>
    <p:sldId id="328" r:id="rId15"/>
    <p:sldId id="326" r:id="rId16"/>
    <p:sldId id="325" r:id="rId17"/>
    <p:sldId id="324" r:id="rId18"/>
    <p:sldId id="356" r:id="rId19"/>
    <p:sldId id="355" r:id="rId20"/>
    <p:sldId id="354" r:id="rId21"/>
    <p:sldId id="353" r:id="rId22"/>
    <p:sldId id="352" r:id="rId23"/>
    <p:sldId id="351" r:id="rId24"/>
    <p:sldId id="350" r:id="rId25"/>
    <p:sldId id="349" r:id="rId26"/>
    <p:sldId id="348" r:id="rId27"/>
    <p:sldId id="345" r:id="rId28"/>
    <p:sldId id="347" r:id="rId29"/>
    <p:sldId id="346" r:id="rId30"/>
    <p:sldId id="344" r:id="rId31"/>
    <p:sldId id="343" r:id="rId32"/>
    <p:sldId id="336" r:id="rId33"/>
    <p:sldId id="342" r:id="rId34"/>
    <p:sldId id="341" r:id="rId35"/>
    <p:sldId id="340" r:id="rId36"/>
    <p:sldId id="339" r:id="rId37"/>
    <p:sldId id="338" r:id="rId38"/>
    <p:sldId id="332" r:id="rId39"/>
    <p:sldId id="337" r:id="rId40"/>
    <p:sldId id="357" r:id="rId41"/>
    <p:sldId id="335" r:id="rId42"/>
    <p:sldId id="334" r:id="rId43"/>
    <p:sldId id="333" r:id="rId44"/>
    <p:sldId id="331" r:id="rId45"/>
    <p:sldId id="330" r:id="rId46"/>
    <p:sldId id="323" r:id="rId47"/>
    <p:sldId id="314" r:id="rId48"/>
    <p:sldId id="301" r:id="rId49"/>
    <p:sldId id="319" r:id="rId50"/>
    <p:sldId id="318" r:id="rId51"/>
    <p:sldId id="303" r:id="rId52"/>
    <p:sldId id="321" r:id="rId53"/>
    <p:sldId id="359" r:id="rId54"/>
    <p:sldId id="268" r:id="rId55"/>
    <p:sldId id="362" r:id="rId56"/>
    <p:sldId id="361" r:id="rId57"/>
    <p:sldId id="360" r:id="rId58"/>
    <p:sldId id="322" r:id="rId59"/>
    <p:sldId id="274" r:id="rId60"/>
    <p:sldId id="265" r:id="rId6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58" clrIdx="0">
    <p:extLst>
      <p:ext uri="{19B8F6BF-5375-455C-9EA6-DF929625EA0E}">
        <p15:presenceInfo xmlns:p15="http://schemas.microsoft.com/office/powerpoint/2012/main" xmlns=""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00FF00"/>
    <a:srgbClr val="FF0000"/>
    <a:srgbClr val="FCF5E8"/>
    <a:srgbClr val="154389"/>
    <a:srgbClr val="FEF3DC"/>
    <a:srgbClr val="F1E6D3"/>
    <a:srgbClr val="771614"/>
    <a:srgbClr val="A92627"/>
    <a:srgbClr val="C02B2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029" autoAdjust="0"/>
    <p:restoredTop sz="88889" autoAdjust="0"/>
  </p:normalViewPr>
  <p:slideViewPr>
    <p:cSldViewPr snapToGrid="0" snapToObjects="1">
      <p:cViewPr varScale="1">
        <p:scale>
          <a:sx n="86" d="100"/>
          <a:sy n="86" d="100"/>
        </p:scale>
        <p:origin x="-888" y="-90"/>
      </p:cViewPr>
      <p:guideLst>
        <p:guide orient="horz" pos="1620"/>
        <p:guide pos="2880"/>
      </p:guideLst>
    </p:cSldViewPr>
  </p:slideViewPr>
  <p:outlineViewPr>
    <p:cViewPr>
      <p:scale>
        <a:sx n="33" d="100"/>
        <a:sy n="33" d="100"/>
      </p:scale>
      <p:origin x="0" y="198"/>
    </p:cViewPr>
  </p:outlineViewPr>
  <p:notesTextViewPr>
    <p:cViewPr>
      <p:scale>
        <a:sx n="1" d="1"/>
        <a:sy n="1" d="1"/>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9E265A-4956-4A99-928D-0B98D983B1DB}" type="doc">
      <dgm:prSet loTypeId="urn:microsoft.com/office/officeart/2005/8/layout/hProcess9" loCatId="process" qsTypeId="urn:microsoft.com/office/officeart/2005/8/quickstyle/simple1" qsCatId="simple" csTypeId="urn:microsoft.com/office/officeart/2005/8/colors/accent4_1" csCatId="accent4" phldr="1"/>
      <dgm:spPr/>
      <dgm:t>
        <a:bodyPr/>
        <a:lstStyle/>
        <a:p>
          <a:endParaRPr lang="tr-TR"/>
        </a:p>
      </dgm:t>
    </dgm:pt>
    <dgm:pt modelId="{44B21E4F-C968-465E-82F3-B315398C89B5}">
      <dgm:prSet phldrT="[Metin]"/>
      <dgm:spPr/>
      <dgm:t>
        <a:bodyPr/>
        <a:lstStyle/>
        <a:p>
          <a:r>
            <a:rPr lang="tr-TR" b="1" dirty="0"/>
            <a:t>TELGRAF</a:t>
          </a:r>
        </a:p>
        <a:p>
          <a:r>
            <a:rPr lang="tr-TR" b="1" dirty="0"/>
            <a:t>19.yüzyılın ilk yarısı (1840'lar)</a:t>
          </a:r>
        </a:p>
      </dgm:t>
    </dgm:pt>
    <dgm:pt modelId="{340B10E8-E162-440D-B194-44FE753C6595}" type="parTrans" cxnId="{330025CB-1222-49AC-A275-FCC26CE0F680}">
      <dgm:prSet/>
      <dgm:spPr/>
      <dgm:t>
        <a:bodyPr/>
        <a:lstStyle/>
        <a:p>
          <a:endParaRPr lang="tr-TR"/>
        </a:p>
      </dgm:t>
    </dgm:pt>
    <dgm:pt modelId="{BF8AB014-06F0-42C5-8E11-9C06E0803BF3}" type="sibTrans" cxnId="{330025CB-1222-49AC-A275-FCC26CE0F680}">
      <dgm:prSet/>
      <dgm:spPr/>
      <dgm:t>
        <a:bodyPr/>
        <a:lstStyle/>
        <a:p>
          <a:endParaRPr lang="tr-TR"/>
        </a:p>
      </dgm:t>
    </dgm:pt>
    <dgm:pt modelId="{33C9EA4A-BFAF-4520-A38B-1F75FEE66146}">
      <dgm:prSet phldrT="[Metin]"/>
      <dgm:spPr/>
      <dgm:t>
        <a:bodyPr/>
        <a:lstStyle/>
        <a:p>
          <a:r>
            <a:rPr lang="tr-TR" b="1" dirty="0"/>
            <a:t>TELEFON</a:t>
          </a:r>
        </a:p>
        <a:p>
          <a:r>
            <a:rPr lang="tr-TR" b="1" dirty="0"/>
            <a:t>19.yüzyılın ikinci yarısı (1880'ler)</a:t>
          </a:r>
        </a:p>
      </dgm:t>
    </dgm:pt>
    <dgm:pt modelId="{F1254B19-F8D6-4360-BDA7-B9835A2EA069}" type="parTrans" cxnId="{FF51E10A-B1B3-45BB-A3C7-376CB093346C}">
      <dgm:prSet/>
      <dgm:spPr/>
      <dgm:t>
        <a:bodyPr/>
        <a:lstStyle/>
        <a:p>
          <a:endParaRPr lang="tr-TR"/>
        </a:p>
      </dgm:t>
    </dgm:pt>
    <dgm:pt modelId="{AF57A125-A10F-43A9-BB90-5CB8BA32E117}" type="sibTrans" cxnId="{FF51E10A-B1B3-45BB-A3C7-376CB093346C}">
      <dgm:prSet/>
      <dgm:spPr/>
      <dgm:t>
        <a:bodyPr/>
        <a:lstStyle/>
        <a:p>
          <a:endParaRPr lang="tr-TR"/>
        </a:p>
      </dgm:t>
    </dgm:pt>
    <dgm:pt modelId="{624214F6-48B6-4B89-BD42-9FC8F8B33FFA}">
      <dgm:prSet phldrT="[Metin]"/>
      <dgm:spPr/>
      <dgm:t>
        <a:bodyPr/>
        <a:lstStyle/>
        <a:p>
          <a:r>
            <a:rPr lang="tr-TR" b="1"/>
            <a:t>RADYO</a:t>
          </a:r>
        </a:p>
        <a:p>
          <a:r>
            <a:rPr lang="tr-TR" b="1"/>
            <a:t>20.yüzyılın ilk çeyreği (1920'ler) </a:t>
          </a:r>
        </a:p>
      </dgm:t>
    </dgm:pt>
    <dgm:pt modelId="{59225832-3A88-4D6A-A6CC-C6AC47D517C0}" type="parTrans" cxnId="{317ED582-8872-44F7-A135-A9C6727569C8}">
      <dgm:prSet/>
      <dgm:spPr/>
      <dgm:t>
        <a:bodyPr/>
        <a:lstStyle/>
        <a:p>
          <a:endParaRPr lang="tr-TR"/>
        </a:p>
      </dgm:t>
    </dgm:pt>
    <dgm:pt modelId="{643C9EAA-B96C-44D3-9EB4-F815FAAA0018}" type="sibTrans" cxnId="{317ED582-8872-44F7-A135-A9C6727569C8}">
      <dgm:prSet/>
      <dgm:spPr/>
      <dgm:t>
        <a:bodyPr/>
        <a:lstStyle/>
        <a:p>
          <a:endParaRPr lang="tr-TR"/>
        </a:p>
      </dgm:t>
    </dgm:pt>
    <dgm:pt modelId="{84B2AAAF-10B2-4921-B944-0D43C1E1A679}">
      <dgm:prSet phldrT="[Metin]"/>
      <dgm:spPr/>
      <dgm:t>
        <a:bodyPr/>
        <a:lstStyle/>
        <a:p>
          <a:r>
            <a:rPr lang="tr-TR" b="1"/>
            <a:t>TELEVİZYON</a:t>
          </a:r>
        </a:p>
        <a:p>
          <a:r>
            <a:rPr lang="tr-TR" b="1"/>
            <a:t>20.yüzyılın ilk yarısı (1930'lar)</a:t>
          </a:r>
        </a:p>
      </dgm:t>
    </dgm:pt>
    <dgm:pt modelId="{EB6CBC9E-6174-4231-B9E5-E66E1F73F757}" type="parTrans" cxnId="{9EA67900-FBB0-470E-A66F-87EEF2A9552C}">
      <dgm:prSet/>
      <dgm:spPr/>
      <dgm:t>
        <a:bodyPr/>
        <a:lstStyle/>
        <a:p>
          <a:endParaRPr lang="tr-TR"/>
        </a:p>
      </dgm:t>
    </dgm:pt>
    <dgm:pt modelId="{ACB539D6-1C10-4B96-95CC-81D1F517E631}" type="sibTrans" cxnId="{9EA67900-FBB0-470E-A66F-87EEF2A9552C}">
      <dgm:prSet/>
      <dgm:spPr/>
      <dgm:t>
        <a:bodyPr/>
        <a:lstStyle/>
        <a:p>
          <a:endParaRPr lang="tr-TR"/>
        </a:p>
      </dgm:t>
    </dgm:pt>
    <dgm:pt modelId="{D482568B-0766-4652-B426-B43108E86FA7}">
      <dgm:prSet phldrT="[Metin]"/>
      <dgm:spPr/>
      <dgm:t>
        <a:bodyPr/>
        <a:lstStyle/>
        <a:p>
          <a:r>
            <a:rPr lang="tr-TR" b="1"/>
            <a:t>BİLGİSAYAR</a:t>
          </a:r>
        </a:p>
        <a:p>
          <a:r>
            <a:rPr lang="tr-TR" b="1"/>
            <a:t>20.yüzyılın son çeyreği (1990'lar) </a:t>
          </a:r>
        </a:p>
      </dgm:t>
    </dgm:pt>
    <dgm:pt modelId="{520B430F-1B07-4B92-8BCF-0B520A6A963C}" type="parTrans" cxnId="{CEB91CE1-3899-489F-AD7B-4C6C95E40F35}">
      <dgm:prSet/>
      <dgm:spPr/>
      <dgm:t>
        <a:bodyPr/>
        <a:lstStyle/>
        <a:p>
          <a:endParaRPr lang="tr-TR"/>
        </a:p>
      </dgm:t>
    </dgm:pt>
    <dgm:pt modelId="{F6196A4E-9974-4234-B5AE-8F47954E04E7}" type="sibTrans" cxnId="{CEB91CE1-3899-489F-AD7B-4C6C95E40F35}">
      <dgm:prSet/>
      <dgm:spPr/>
      <dgm:t>
        <a:bodyPr/>
        <a:lstStyle/>
        <a:p>
          <a:endParaRPr lang="tr-TR"/>
        </a:p>
      </dgm:t>
    </dgm:pt>
    <dgm:pt modelId="{B0B24F3D-8E99-49B3-9BE9-F9623FAB32DC}">
      <dgm:prSet phldrT="[Metin]"/>
      <dgm:spPr>
        <a:solidFill>
          <a:schemeClr val="accent6">
            <a:lumMod val="20000"/>
            <a:lumOff val="80000"/>
          </a:schemeClr>
        </a:solidFill>
      </dgm:spPr>
      <dgm:t>
        <a:bodyPr/>
        <a:lstStyle/>
        <a:p>
          <a:r>
            <a:rPr lang="tr-TR" b="1"/>
            <a:t>WEB</a:t>
          </a:r>
          <a:r>
            <a:rPr lang="tr-TR" b="1" baseline="0"/>
            <a:t> 2. TEKNOLOJİSİ</a:t>
          </a:r>
        </a:p>
        <a:p>
          <a:r>
            <a:rPr lang="tr-TR" b="1" baseline="0"/>
            <a:t>21.yüzyıl</a:t>
          </a:r>
        </a:p>
        <a:p>
          <a:r>
            <a:rPr lang="tr-TR" b="1" baseline="0"/>
            <a:t>(2000'li yıllar)</a:t>
          </a:r>
          <a:endParaRPr lang="tr-TR" b="1"/>
        </a:p>
      </dgm:t>
    </dgm:pt>
    <dgm:pt modelId="{D363C00E-8818-4E12-97AD-7F03FA55E474}" type="parTrans" cxnId="{2421C351-9613-41CF-A38B-4FFDAC6E6DE7}">
      <dgm:prSet/>
      <dgm:spPr/>
      <dgm:t>
        <a:bodyPr/>
        <a:lstStyle/>
        <a:p>
          <a:endParaRPr lang="tr-TR"/>
        </a:p>
      </dgm:t>
    </dgm:pt>
    <dgm:pt modelId="{A0B9424D-5CFD-4FC7-A98B-C90650661F5D}" type="sibTrans" cxnId="{2421C351-9613-41CF-A38B-4FFDAC6E6DE7}">
      <dgm:prSet/>
      <dgm:spPr/>
      <dgm:t>
        <a:bodyPr/>
        <a:lstStyle/>
        <a:p>
          <a:endParaRPr lang="tr-TR"/>
        </a:p>
      </dgm:t>
    </dgm:pt>
    <dgm:pt modelId="{0C482CAB-FA1A-4568-9744-2844A8C8E581}" type="pres">
      <dgm:prSet presAssocID="{179E265A-4956-4A99-928D-0B98D983B1DB}" presName="CompostProcess" presStyleCnt="0">
        <dgm:presLayoutVars>
          <dgm:dir/>
          <dgm:resizeHandles val="exact"/>
        </dgm:presLayoutVars>
      </dgm:prSet>
      <dgm:spPr/>
      <dgm:t>
        <a:bodyPr/>
        <a:lstStyle/>
        <a:p>
          <a:endParaRPr lang="tr-TR"/>
        </a:p>
      </dgm:t>
    </dgm:pt>
    <dgm:pt modelId="{F3003B92-D4F8-4429-BE89-97984E6966AF}" type="pres">
      <dgm:prSet presAssocID="{179E265A-4956-4A99-928D-0B98D983B1DB}" presName="arrow" presStyleLbl="bgShp" presStyleIdx="0" presStyleCnt="1"/>
      <dgm:spPr/>
    </dgm:pt>
    <dgm:pt modelId="{2982C46B-5106-458D-A34F-CB1F58649E55}" type="pres">
      <dgm:prSet presAssocID="{179E265A-4956-4A99-928D-0B98D983B1DB}" presName="linearProcess" presStyleCnt="0"/>
      <dgm:spPr/>
    </dgm:pt>
    <dgm:pt modelId="{75BDAA0B-2C11-407F-B14F-71BF32361B14}" type="pres">
      <dgm:prSet presAssocID="{44B21E4F-C968-465E-82F3-B315398C89B5}" presName="textNode" presStyleLbl="node1" presStyleIdx="0" presStyleCnt="6">
        <dgm:presLayoutVars>
          <dgm:bulletEnabled val="1"/>
        </dgm:presLayoutVars>
      </dgm:prSet>
      <dgm:spPr/>
      <dgm:t>
        <a:bodyPr/>
        <a:lstStyle/>
        <a:p>
          <a:endParaRPr lang="tr-TR"/>
        </a:p>
      </dgm:t>
    </dgm:pt>
    <dgm:pt modelId="{B0D52182-627C-400C-A4E9-422A6EFEFA71}" type="pres">
      <dgm:prSet presAssocID="{BF8AB014-06F0-42C5-8E11-9C06E0803BF3}" presName="sibTrans" presStyleCnt="0"/>
      <dgm:spPr/>
    </dgm:pt>
    <dgm:pt modelId="{5C4D8153-55CA-447C-A09C-013B4A15E5CA}" type="pres">
      <dgm:prSet presAssocID="{33C9EA4A-BFAF-4520-A38B-1F75FEE66146}" presName="textNode" presStyleLbl="node1" presStyleIdx="1" presStyleCnt="6">
        <dgm:presLayoutVars>
          <dgm:bulletEnabled val="1"/>
        </dgm:presLayoutVars>
      </dgm:prSet>
      <dgm:spPr/>
      <dgm:t>
        <a:bodyPr/>
        <a:lstStyle/>
        <a:p>
          <a:endParaRPr lang="tr-TR"/>
        </a:p>
      </dgm:t>
    </dgm:pt>
    <dgm:pt modelId="{F125EF6B-4BA7-4DE2-A53E-884794E6B6D2}" type="pres">
      <dgm:prSet presAssocID="{AF57A125-A10F-43A9-BB90-5CB8BA32E117}" presName="sibTrans" presStyleCnt="0"/>
      <dgm:spPr/>
    </dgm:pt>
    <dgm:pt modelId="{CB0C8EC2-9891-4AD7-B123-D69CF12C1D2A}" type="pres">
      <dgm:prSet presAssocID="{624214F6-48B6-4B89-BD42-9FC8F8B33FFA}" presName="textNode" presStyleLbl="node1" presStyleIdx="2" presStyleCnt="6">
        <dgm:presLayoutVars>
          <dgm:bulletEnabled val="1"/>
        </dgm:presLayoutVars>
      </dgm:prSet>
      <dgm:spPr/>
      <dgm:t>
        <a:bodyPr/>
        <a:lstStyle/>
        <a:p>
          <a:endParaRPr lang="tr-TR"/>
        </a:p>
      </dgm:t>
    </dgm:pt>
    <dgm:pt modelId="{C5FED090-802E-4BF9-8747-1F227F6AB2F7}" type="pres">
      <dgm:prSet presAssocID="{643C9EAA-B96C-44D3-9EB4-F815FAAA0018}" presName="sibTrans" presStyleCnt="0"/>
      <dgm:spPr/>
    </dgm:pt>
    <dgm:pt modelId="{EB7AFBD9-ABB0-4223-BCBC-3BA234D4F775}" type="pres">
      <dgm:prSet presAssocID="{84B2AAAF-10B2-4921-B944-0D43C1E1A679}" presName="textNode" presStyleLbl="node1" presStyleIdx="3" presStyleCnt="6">
        <dgm:presLayoutVars>
          <dgm:bulletEnabled val="1"/>
        </dgm:presLayoutVars>
      </dgm:prSet>
      <dgm:spPr/>
      <dgm:t>
        <a:bodyPr/>
        <a:lstStyle/>
        <a:p>
          <a:endParaRPr lang="tr-TR"/>
        </a:p>
      </dgm:t>
    </dgm:pt>
    <dgm:pt modelId="{357D1999-06C4-4F5E-9911-50825CCF98EE}" type="pres">
      <dgm:prSet presAssocID="{ACB539D6-1C10-4B96-95CC-81D1F517E631}" presName="sibTrans" presStyleCnt="0"/>
      <dgm:spPr/>
    </dgm:pt>
    <dgm:pt modelId="{05CEE996-89B1-41D0-BA12-25A9FEE9E4FC}" type="pres">
      <dgm:prSet presAssocID="{D482568B-0766-4652-B426-B43108E86FA7}" presName="textNode" presStyleLbl="node1" presStyleIdx="4" presStyleCnt="6">
        <dgm:presLayoutVars>
          <dgm:bulletEnabled val="1"/>
        </dgm:presLayoutVars>
      </dgm:prSet>
      <dgm:spPr/>
      <dgm:t>
        <a:bodyPr/>
        <a:lstStyle/>
        <a:p>
          <a:endParaRPr lang="tr-TR"/>
        </a:p>
      </dgm:t>
    </dgm:pt>
    <dgm:pt modelId="{E8DB00B1-21DA-4588-8A63-919C1D96FE9E}" type="pres">
      <dgm:prSet presAssocID="{F6196A4E-9974-4234-B5AE-8F47954E04E7}" presName="sibTrans" presStyleCnt="0"/>
      <dgm:spPr/>
    </dgm:pt>
    <dgm:pt modelId="{A971710B-8719-4E57-9602-919988FA18A5}" type="pres">
      <dgm:prSet presAssocID="{B0B24F3D-8E99-49B3-9BE9-F9623FAB32DC}" presName="textNode" presStyleLbl="node1" presStyleIdx="5" presStyleCnt="6">
        <dgm:presLayoutVars>
          <dgm:bulletEnabled val="1"/>
        </dgm:presLayoutVars>
      </dgm:prSet>
      <dgm:spPr/>
      <dgm:t>
        <a:bodyPr/>
        <a:lstStyle/>
        <a:p>
          <a:endParaRPr lang="tr-TR"/>
        </a:p>
      </dgm:t>
    </dgm:pt>
  </dgm:ptLst>
  <dgm:cxnLst>
    <dgm:cxn modelId="{9EA67900-FBB0-470E-A66F-87EEF2A9552C}" srcId="{179E265A-4956-4A99-928D-0B98D983B1DB}" destId="{84B2AAAF-10B2-4921-B944-0D43C1E1A679}" srcOrd="3" destOrd="0" parTransId="{EB6CBC9E-6174-4231-B9E5-E66E1F73F757}" sibTransId="{ACB539D6-1C10-4B96-95CC-81D1F517E631}"/>
    <dgm:cxn modelId="{2421C351-9613-41CF-A38B-4FFDAC6E6DE7}" srcId="{179E265A-4956-4A99-928D-0B98D983B1DB}" destId="{B0B24F3D-8E99-49B3-9BE9-F9623FAB32DC}" srcOrd="5" destOrd="0" parTransId="{D363C00E-8818-4E12-97AD-7F03FA55E474}" sibTransId="{A0B9424D-5CFD-4FC7-A98B-C90650661F5D}"/>
    <dgm:cxn modelId="{FF51E10A-B1B3-45BB-A3C7-376CB093346C}" srcId="{179E265A-4956-4A99-928D-0B98D983B1DB}" destId="{33C9EA4A-BFAF-4520-A38B-1F75FEE66146}" srcOrd="1" destOrd="0" parTransId="{F1254B19-F8D6-4360-BDA7-B9835A2EA069}" sibTransId="{AF57A125-A10F-43A9-BB90-5CB8BA32E117}"/>
    <dgm:cxn modelId="{790DD498-153B-461F-AA2C-D069D4B7F414}" type="presOf" srcId="{D482568B-0766-4652-B426-B43108E86FA7}" destId="{05CEE996-89B1-41D0-BA12-25A9FEE9E4FC}" srcOrd="0" destOrd="0" presId="urn:microsoft.com/office/officeart/2005/8/layout/hProcess9"/>
    <dgm:cxn modelId="{317ED582-8872-44F7-A135-A9C6727569C8}" srcId="{179E265A-4956-4A99-928D-0B98D983B1DB}" destId="{624214F6-48B6-4B89-BD42-9FC8F8B33FFA}" srcOrd="2" destOrd="0" parTransId="{59225832-3A88-4D6A-A6CC-C6AC47D517C0}" sibTransId="{643C9EAA-B96C-44D3-9EB4-F815FAAA0018}"/>
    <dgm:cxn modelId="{99B1B2ED-195F-43ED-BBC8-7F53DA811030}" type="presOf" srcId="{44B21E4F-C968-465E-82F3-B315398C89B5}" destId="{75BDAA0B-2C11-407F-B14F-71BF32361B14}" srcOrd="0" destOrd="0" presId="urn:microsoft.com/office/officeart/2005/8/layout/hProcess9"/>
    <dgm:cxn modelId="{0AE22875-ABC7-4A96-9682-C960E1D89724}" type="presOf" srcId="{84B2AAAF-10B2-4921-B944-0D43C1E1A679}" destId="{EB7AFBD9-ABB0-4223-BCBC-3BA234D4F775}" srcOrd="0" destOrd="0" presId="urn:microsoft.com/office/officeart/2005/8/layout/hProcess9"/>
    <dgm:cxn modelId="{DF90DADE-5056-4C3A-BFB7-EC03DEFFE37B}" type="presOf" srcId="{33C9EA4A-BFAF-4520-A38B-1F75FEE66146}" destId="{5C4D8153-55CA-447C-A09C-013B4A15E5CA}" srcOrd="0" destOrd="0" presId="urn:microsoft.com/office/officeart/2005/8/layout/hProcess9"/>
    <dgm:cxn modelId="{0F2D18DC-BAFD-4851-A7E2-7564DB8F01E7}" type="presOf" srcId="{624214F6-48B6-4B89-BD42-9FC8F8B33FFA}" destId="{CB0C8EC2-9891-4AD7-B123-D69CF12C1D2A}" srcOrd="0" destOrd="0" presId="urn:microsoft.com/office/officeart/2005/8/layout/hProcess9"/>
    <dgm:cxn modelId="{330025CB-1222-49AC-A275-FCC26CE0F680}" srcId="{179E265A-4956-4A99-928D-0B98D983B1DB}" destId="{44B21E4F-C968-465E-82F3-B315398C89B5}" srcOrd="0" destOrd="0" parTransId="{340B10E8-E162-440D-B194-44FE753C6595}" sibTransId="{BF8AB014-06F0-42C5-8E11-9C06E0803BF3}"/>
    <dgm:cxn modelId="{C04BB6BE-1851-488E-985B-E1C862E3BAE0}" type="presOf" srcId="{B0B24F3D-8E99-49B3-9BE9-F9623FAB32DC}" destId="{A971710B-8719-4E57-9602-919988FA18A5}" srcOrd="0" destOrd="0" presId="urn:microsoft.com/office/officeart/2005/8/layout/hProcess9"/>
    <dgm:cxn modelId="{DBDBB5FD-D76D-4A5D-9F9F-D4074AD34580}" type="presOf" srcId="{179E265A-4956-4A99-928D-0B98D983B1DB}" destId="{0C482CAB-FA1A-4568-9744-2844A8C8E581}" srcOrd="0" destOrd="0" presId="urn:microsoft.com/office/officeart/2005/8/layout/hProcess9"/>
    <dgm:cxn modelId="{CEB91CE1-3899-489F-AD7B-4C6C95E40F35}" srcId="{179E265A-4956-4A99-928D-0B98D983B1DB}" destId="{D482568B-0766-4652-B426-B43108E86FA7}" srcOrd="4" destOrd="0" parTransId="{520B430F-1B07-4B92-8BCF-0B520A6A963C}" sibTransId="{F6196A4E-9974-4234-B5AE-8F47954E04E7}"/>
    <dgm:cxn modelId="{AB622ADC-8C6A-44AE-9145-054A5132873F}" type="presParOf" srcId="{0C482CAB-FA1A-4568-9744-2844A8C8E581}" destId="{F3003B92-D4F8-4429-BE89-97984E6966AF}" srcOrd="0" destOrd="0" presId="urn:microsoft.com/office/officeart/2005/8/layout/hProcess9"/>
    <dgm:cxn modelId="{D73A7FBA-F5F9-4898-8FC0-E6A4C6DE56D1}" type="presParOf" srcId="{0C482CAB-FA1A-4568-9744-2844A8C8E581}" destId="{2982C46B-5106-458D-A34F-CB1F58649E55}" srcOrd="1" destOrd="0" presId="urn:microsoft.com/office/officeart/2005/8/layout/hProcess9"/>
    <dgm:cxn modelId="{AEA26211-E6AD-458A-9FBA-EBEA86FBA7A2}" type="presParOf" srcId="{2982C46B-5106-458D-A34F-CB1F58649E55}" destId="{75BDAA0B-2C11-407F-B14F-71BF32361B14}" srcOrd="0" destOrd="0" presId="urn:microsoft.com/office/officeart/2005/8/layout/hProcess9"/>
    <dgm:cxn modelId="{BBD7AF75-1A88-4FAA-BCBB-E92922430EBD}" type="presParOf" srcId="{2982C46B-5106-458D-A34F-CB1F58649E55}" destId="{B0D52182-627C-400C-A4E9-422A6EFEFA71}" srcOrd="1" destOrd="0" presId="urn:microsoft.com/office/officeart/2005/8/layout/hProcess9"/>
    <dgm:cxn modelId="{1094239B-9449-48AA-A3E6-AC13771A77E2}" type="presParOf" srcId="{2982C46B-5106-458D-A34F-CB1F58649E55}" destId="{5C4D8153-55CA-447C-A09C-013B4A15E5CA}" srcOrd="2" destOrd="0" presId="urn:microsoft.com/office/officeart/2005/8/layout/hProcess9"/>
    <dgm:cxn modelId="{D0E9F102-8583-46C1-B581-35E7C56FCD11}" type="presParOf" srcId="{2982C46B-5106-458D-A34F-CB1F58649E55}" destId="{F125EF6B-4BA7-4DE2-A53E-884794E6B6D2}" srcOrd="3" destOrd="0" presId="urn:microsoft.com/office/officeart/2005/8/layout/hProcess9"/>
    <dgm:cxn modelId="{CE187B26-44DB-43FA-9D07-CF07A822E7E9}" type="presParOf" srcId="{2982C46B-5106-458D-A34F-CB1F58649E55}" destId="{CB0C8EC2-9891-4AD7-B123-D69CF12C1D2A}" srcOrd="4" destOrd="0" presId="urn:microsoft.com/office/officeart/2005/8/layout/hProcess9"/>
    <dgm:cxn modelId="{D46CE558-BF01-448C-ACCC-7D5C18471556}" type="presParOf" srcId="{2982C46B-5106-458D-A34F-CB1F58649E55}" destId="{C5FED090-802E-4BF9-8747-1F227F6AB2F7}" srcOrd="5" destOrd="0" presId="urn:microsoft.com/office/officeart/2005/8/layout/hProcess9"/>
    <dgm:cxn modelId="{08848934-CA1E-4BFA-B31E-EE50439BE230}" type="presParOf" srcId="{2982C46B-5106-458D-A34F-CB1F58649E55}" destId="{EB7AFBD9-ABB0-4223-BCBC-3BA234D4F775}" srcOrd="6" destOrd="0" presId="urn:microsoft.com/office/officeart/2005/8/layout/hProcess9"/>
    <dgm:cxn modelId="{00F79A45-8F41-469B-97CB-DFC9028D8CEE}" type="presParOf" srcId="{2982C46B-5106-458D-A34F-CB1F58649E55}" destId="{357D1999-06C4-4F5E-9911-50825CCF98EE}" srcOrd="7" destOrd="0" presId="urn:microsoft.com/office/officeart/2005/8/layout/hProcess9"/>
    <dgm:cxn modelId="{EA97CAF9-0DF6-4597-B26B-21A810989F44}" type="presParOf" srcId="{2982C46B-5106-458D-A34F-CB1F58649E55}" destId="{05CEE996-89B1-41D0-BA12-25A9FEE9E4FC}" srcOrd="8" destOrd="0" presId="urn:microsoft.com/office/officeart/2005/8/layout/hProcess9"/>
    <dgm:cxn modelId="{E1B38C78-3D3B-4AE5-AE71-7A51A122C814}" type="presParOf" srcId="{2982C46B-5106-458D-A34F-CB1F58649E55}" destId="{E8DB00B1-21DA-4588-8A63-919C1D96FE9E}" srcOrd="9" destOrd="0" presId="urn:microsoft.com/office/officeart/2005/8/layout/hProcess9"/>
    <dgm:cxn modelId="{230B74EA-3941-4B4F-A9FB-603658B361F4}" type="presParOf" srcId="{2982C46B-5106-458D-A34F-CB1F58649E55}" destId="{A971710B-8719-4E57-9602-919988FA18A5}" srcOrd="10" destOrd="0" presId="urn:microsoft.com/office/officeart/2005/8/layout/hProcess9"/>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03B92-D4F8-4429-BE89-97984E6966AF}">
      <dsp:nvSpPr>
        <dsp:cNvPr id="0" name=""/>
        <dsp:cNvSpPr/>
      </dsp:nvSpPr>
      <dsp:spPr>
        <a:xfrm>
          <a:off x="627935" y="0"/>
          <a:ext cx="7116602" cy="3309068"/>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BDAA0B-2C11-407F-B14F-71BF32361B14}">
      <dsp:nvSpPr>
        <dsp:cNvPr id="0" name=""/>
        <dsp:cNvSpPr/>
      </dsp:nvSpPr>
      <dsp:spPr>
        <a:xfrm>
          <a:off x="2299" y="992720"/>
          <a:ext cx="1338859" cy="1323627"/>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dirty="0"/>
            <a:t>TELGRAF</a:t>
          </a:r>
        </a:p>
        <a:p>
          <a:pPr marL="0" lvl="0" indent="0" algn="ctr" defTabSz="666750">
            <a:lnSpc>
              <a:spcPct val="90000"/>
            </a:lnSpc>
            <a:spcBef>
              <a:spcPct val="0"/>
            </a:spcBef>
            <a:spcAft>
              <a:spcPct val="35000"/>
            </a:spcAft>
            <a:buNone/>
          </a:pPr>
          <a:r>
            <a:rPr lang="tr-TR" sz="1500" b="1" kern="1200" dirty="0"/>
            <a:t>19.yüzyılın ilk yarısı (1840'lar)</a:t>
          </a:r>
        </a:p>
      </dsp:txBody>
      <dsp:txXfrm>
        <a:off x="66913" y="1057334"/>
        <a:ext cx="1209631" cy="1194399"/>
      </dsp:txXfrm>
    </dsp:sp>
    <dsp:sp modelId="{5C4D8153-55CA-447C-A09C-013B4A15E5CA}">
      <dsp:nvSpPr>
        <dsp:cNvPr id="0" name=""/>
        <dsp:cNvSpPr/>
      </dsp:nvSpPr>
      <dsp:spPr>
        <a:xfrm>
          <a:off x="1408102" y="992720"/>
          <a:ext cx="1338859" cy="1323627"/>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dirty="0"/>
            <a:t>TELEFON</a:t>
          </a:r>
        </a:p>
        <a:p>
          <a:pPr marL="0" lvl="0" indent="0" algn="ctr" defTabSz="666750">
            <a:lnSpc>
              <a:spcPct val="90000"/>
            </a:lnSpc>
            <a:spcBef>
              <a:spcPct val="0"/>
            </a:spcBef>
            <a:spcAft>
              <a:spcPct val="35000"/>
            </a:spcAft>
            <a:buNone/>
          </a:pPr>
          <a:r>
            <a:rPr lang="tr-TR" sz="1500" b="1" kern="1200" dirty="0"/>
            <a:t>19.yüzyılın ikinci yarısı (1880'ler)</a:t>
          </a:r>
        </a:p>
      </dsp:txBody>
      <dsp:txXfrm>
        <a:off x="1472716" y="1057334"/>
        <a:ext cx="1209631" cy="1194399"/>
      </dsp:txXfrm>
    </dsp:sp>
    <dsp:sp modelId="{CB0C8EC2-9891-4AD7-B123-D69CF12C1D2A}">
      <dsp:nvSpPr>
        <dsp:cNvPr id="0" name=""/>
        <dsp:cNvSpPr/>
      </dsp:nvSpPr>
      <dsp:spPr>
        <a:xfrm>
          <a:off x="2813905" y="992720"/>
          <a:ext cx="1338859" cy="1323627"/>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a:t>RADYO</a:t>
          </a:r>
        </a:p>
        <a:p>
          <a:pPr marL="0" lvl="0" indent="0" algn="ctr" defTabSz="666750">
            <a:lnSpc>
              <a:spcPct val="90000"/>
            </a:lnSpc>
            <a:spcBef>
              <a:spcPct val="0"/>
            </a:spcBef>
            <a:spcAft>
              <a:spcPct val="35000"/>
            </a:spcAft>
            <a:buNone/>
          </a:pPr>
          <a:r>
            <a:rPr lang="tr-TR" sz="1500" b="1" kern="1200"/>
            <a:t>20.yüzyılın ilk çeyreği (1920'ler) </a:t>
          </a:r>
        </a:p>
      </dsp:txBody>
      <dsp:txXfrm>
        <a:off x="2878519" y="1057334"/>
        <a:ext cx="1209631" cy="1194399"/>
      </dsp:txXfrm>
    </dsp:sp>
    <dsp:sp modelId="{EB7AFBD9-ABB0-4223-BCBC-3BA234D4F775}">
      <dsp:nvSpPr>
        <dsp:cNvPr id="0" name=""/>
        <dsp:cNvSpPr/>
      </dsp:nvSpPr>
      <dsp:spPr>
        <a:xfrm>
          <a:off x="4219708" y="992720"/>
          <a:ext cx="1338859" cy="1323627"/>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a:t>TELEVİZYON</a:t>
          </a:r>
        </a:p>
        <a:p>
          <a:pPr marL="0" lvl="0" indent="0" algn="ctr" defTabSz="666750">
            <a:lnSpc>
              <a:spcPct val="90000"/>
            </a:lnSpc>
            <a:spcBef>
              <a:spcPct val="0"/>
            </a:spcBef>
            <a:spcAft>
              <a:spcPct val="35000"/>
            </a:spcAft>
            <a:buNone/>
          </a:pPr>
          <a:r>
            <a:rPr lang="tr-TR" sz="1500" b="1" kern="1200"/>
            <a:t>20.yüzyılın ilk yarısı (1930'lar)</a:t>
          </a:r>
        </a:p>
      </dsp:txBody>
      <dsp:txXfrm>
        <a:off x="4284322" y="1057334"/>
        <a:ext cx="1209631" cy="1194399"/>
      </dsp:txXfrm>
    </dsp:sp>
    <dsp:sp modelId="{05CEE996-89B1-41D0-BA12-25A9FEE9E4FC}">
      <dsp:nvSpPr>
        <dsp:cNvPr id="0" name=""/>
        <dsp:cNvSpPr/>
      </dsp:nvSpPr>
      <dsp:spPr>
        <a:xfrm>
          <a:off x="5625511" y="992720"/>
          <a:ext cx="1338859" cy="1323627"/>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a:t>BİLGİSAYAR</a:t>
          </a:r>
        </a:p>
        <a:p>
          <a:pPr marL="0" lvl="0" indent="0" algn="ctr" defTabSz="666750">
            <a:lnSpc>
              <a:spcPct val="90000"/>
            </a:lnSpc>
            <a:spcBef>
              <a:spcPct val="0"/>
            </a:spcBef>
            <a:spcAft>
              <a:spcPct val="35000"/>
            </a:spcAft>
            <a:buNone/>
          </a:pPr>
          <a:r>
            <a:rPr lang="tr-TR" sz="1500" b="1" kern="1200"/>
            <a:t>20.yüzyılın son çeyreği (1990'lar) </a:t>
          </a:r>
        </a:p>
      </dsp:txBody>
      <dsp:txXfrm>
        <a:off x="5690125" y="1057334"/>
        <a:ext cx="1209631" cy="1194399"/>
      </dsp:txXfrm>
    </dsp:sp>
    <dsp:sp modelId="{A971710B-8719-4E57-9602-919988FA18A5}">
      <dsp:nvSpPr>
        <dsp:cNvPr id="0" name=""/>
        <dsp:cNvSpPr/>
      </dsp:nvSpPr>
      <dsp:spPr>
        <a:xfrm>
          <a:off x="7031314" y="992720"/>
          <a:ext cx="1338859" cy="1323627"/>
        </a:xfrm>
        <a:prstGeom prst="roundRect">
          <a:avLst/>
        </a:prstGeom>
        <a:solidFill>
          <a:schemeClr val="accent6">
            <a:lumMod val="20000"/>
            <a:lumOff val="8000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1" kern="1200"/>
            <a:t>WEB</a:t>
          </a:r>
          <a:r>
            <a:rPr lang="tr-TR" sz="1500" b="1" kern="1200" baseline="0"/>
            <a:t> 2. TEKNOLOJİSİ</a:t>
          </a:r>
        </a:p>
        <a:p>
          <a:pPr marL="0" lvl="0" indent="0" algn="ctr" defTabSz="666750">
            <a:lnSpc>
              <a:spcPct val="90000"/>
            </a:lnSpc>
            <a:spcBef>
              <a:spcPct val="0"/>
            </a:spcBef>
            <a:spcAft>
              <a:spcPct val="35000"/>
            </a:spcAft>
            <a:buNone/>
          </a:pPr>
          <a:r>
            <a:rPr lang="tr-TR" sz="1500" b="1" kern="1200" baseline="0"/>
            <a:t>21.yüzyıl</a:t>
          </a:r>
        </a:p>
        <a:p>
          <a:pPr marL="0" lvl="0" indent="0" algn="ctr" defTabSz="666750">
            <a:lnSpc>
              <a:spcPct val="90000"/>
            </a:lnSpc>
            <a:spcBef>
              <a:spcPct val="0"/>
            </a:spcBef>
            <a:spcAft>
              <a:spcPct val="35000"/>
            </a:spcAft>
            <a:buNone/>
          </a:pPr>
          <a:r>
            <a:rPr lang="tr-TR" sz="1500" b="1" kern="1200" baseline="0"/>
            <a:t>(2000'li yıllar)</a:t>
          </a:r>
          <a:endParaRPr lang="tr-TR" sz="1500" b="1" kern="1200"/>
        </a:p>
      </dsp:txBody>
      <dsp:txXfrm>
        <a:off x="7095928" y="1057334"/>
        <a:ext cx="1209631" cy="119439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2D2ED-B8F6-BC4B-8ACF-EBC392201CEB}" type="datetimeFigureOut">
              <a:rPr lang="en-US" smtClean="0"/>
              <a:pPr/>
              <a:t>2/10/2022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C9BA9-D2B0-0145-A162-8270735E99CB}" type="slidenum">
              <a:rPr lang="en-US" smtClean="0"/>
              <a:pPr/>
              <a:t>‹#›</a:t>
            </a:fld>
            <a:endParaRPr lang="en-US"/>
          </a:p>
        </p:txBody>
      </p:sp>
    </p:spTree>
    <p:extLst>
      <p:ext uri="{BB962C8B-B14F-4D97-AF65-F5344CB8AC3E}">
        <p14:creationId xmlns:p14="http://schemas.microsoft.com/office/powerpoint/2010/main" xmlns="" val="141613303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a:t>
            </a:fld>
            <a:endParaRPr lang="en-US" dirty="0"/>
          </a:p>
        </p:txBody>
      </p:sp>
    </p:spTree>
    <p:extLst>
      <p:ext uri="{BB962C8B-B14F-4D97-AF65-F5344CB8AC3E}">
        <p14:creationId xmlns:p14="http://schemas.microsoft.com/office/powerpoint/2010/main" xmlns="" val="386676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dirty="0"/>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a:t>
            </a:fld>
            <a:endParaRPr lang="en-US" dirty="0"/>
          </a:p>
        </p:txBody>
      </p:sp>
    </p:spTree>
    <p:extLst>
      <p:ext uri="{BB962C8B-B14F-4D97-AF65-F5344CB8AC3E}">
        <p14:creationId xmlns:p14="http://schemas.microsoft.com/office/powerpoint/2010/main" xmlns="" val="138559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a:t>
            </a:fld>
            <a:endParaRPr lang="en-US"/>
          </a:p>
        </p:txBody>
      </p:sp>
    </p:spTree>
    <p:extLst>
      <p:ext uri="{BB962C8B-B14F-4D97-AF65-F5344CB8AC3E}">
        <p14:creationId xmlns:p14="http://schemas.microsoft.com/office/powerpoint/2010/main" xmlns="" val="44218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a:t>
            </a:fld>
            <a:endParaRPr lang="en-US"/>
          </a:p>
        </p:txBody>
      </p:sp>
    </p:spTree>
    <p:extLst>
      <p:ext uri="{BB962C8B-B14F-4D97-AF65-F5344CB8AC3E}">
        <p14:creationId xmlns:p14="http://schemas.microsoft.com/office/powerpoint/2010/main" xmlns="" val="44218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D</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a:t>
            </a:fld>
            <a:endParaRPr lang="en-US"/>
          </a:p>
        </p:txBody>
      </p:sp>
    </p:spTree>
    <p:extLst>
      <p:ext uri="{BB962C8B-B14F-4D97-AF65-F5344CB8AC3E}">
        <p14:creationId xmlns:p14="http://schemas.microsoft.com/office/powerpoint/2010/main" xmlns="" val="234138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6</a:t>
            </a:fld>
            <a:endParaRPr lang="en-US"/>
          </a:p>
        </p:txBody>
      </p:sp>
    </p:spTree>
    <p:extLst>
      <p:ext uri="{BB962C8B-B14F-4D97-AF65-F5344CB8AC3E}">
        <p14:creationId xmlns:p14="http://schemas.microsoft.com/office/powerpoint/2010/main" xmlns="" val="182288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7</a:t>
            </a:fld>
            <a:endParaRPr lang="en-US"/>
          </a:p>
        </p:txBody>
      </p:sp>
    </p:spTree>
    <p:extLst>
      <p:ext uri="{BB962C8B-B14F-4D97-AF65-F5344CB8AC3E}">
        <p14:creationId xmlns:p14="http://schemas.microsoft.com/office/powerpoint/2010/main" xmlns="" val="1026859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9</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10</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11</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16</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17</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18</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19</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20</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21</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26</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27</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28</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29</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30</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31</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36</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37</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38</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39</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40</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41</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42</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43</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44</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45</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46</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tr-TR" sz="9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47</a:t>
            </a:fld>
            <a:endParaRPr lang="en-US"/>
          </a:p>
        </p:txBody>
      </p:sp>
    </p:spTree>
    <p:extLst>
      <p:ext uri="{BB962C8B-B14F-4D97-AF65-F5344CB8AC3E}">
        <p14:creationId xmlns:p14="http://schemas.microsoft.com/office/powerpoint/2010/main" xmlns="" val="5750504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48</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49</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50</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51</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52</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53</a:t>
            </a:fld>
            <a:endParaRPr lang="en-US"/>
          </a:p>
        </p:txBody>
      </p:sp>
    </p:spTree>
    <p:extLst>
      <p:ext uri="{BB962C8B-B14F-4D97-AF65-F5344CB8AC3E}">
        <p14:creationId xmlns:p14="http://schemas.microsoft.com/office/powerpoint/2010/main" xmlns="" val="19516538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54</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55</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56</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57</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endParaRPr lang="tr-TR" sz="900" b="1" i="1" kern="1200" dirty="0">
              <a:solidFill>
                <a:schemeClr val="tx1"/>
              </a:solidFill>
              <a:latin typeface="+mn-lt"/>
              <a:ea typeface="+mn-ea"/>
              <a:cs typeface="+mn-cs"/>
            </a:endParaRPr>
          </a:p>
          <a:p>
            <a:r>
              <a:rPr lang="de-DE" sz="900" b="1" i="1" kern="1200" dirty="0" err="1">
                <a:solidFill>
                  <a:schemeClr val="tx1"/>
                </a:solidFill>
                <a:latin typeface="+mn-lt"/>
                <a:ea typeface="+mn-ea"/>
                <a:cs typeface="+mn-cs"/>
              </a:rPr>
              <a:t>Kaynaklar</a:t>
            </a:r>
            <a:endParaRPr lang="tr-TR" sz="900" b="1" i="1" kern="1200" dirty="0">
              <a:solidFill>
                <a:schemeClr val="tx1"/>
              </a:solidFill>
              <a:latin typeface="+mn-lt"/>
              <a:ea typeface="+mn-ea"/>
              <a:cs typeface="+mn-cs"/>
            </a:endParaRPr>
          </a:p>
          <a:p>
            <a:r>
              <a:rPr lang="de-DE" sz="900" kern="1200" dirty="0" err="1">
                <a:solidFill>
                  <a:schemeClr val="tx1"/>
                </a:solidFill>
                <a:latin typeface="+mn-lt"/>
                <a:ea typeface="+mn-ea"/>
                <a:cs typeface="+mn-cs"/>
              </a:rPr>
              <a:t>Açıkalın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Işıl</a:t>
            </a:r>
            <a:r>
              <a:rPr lang="de-DE" sz="900" kern="1200" dirty="0">
                <a:solidFill>
                  <a:schemeClr val="tx1"/>
                </a:solidFill>
                <a:latin typeface="+mn-lt"/>
                <a:ea typeface="+mn-ea"/>
                <a:cs typeface="+mn-cs"/>
              </a:rPr>
              <a:t> 1991. “Türk </a:t>
            </a:r>
            <a:r>
              <a:rPr lang="de-DE" sz="900" kern="1200" dirty="0" err="1">
                <a:solidFill>
                  <a:schemeClr val="tx1"/>
                </a:solidFill>
                <a:latin typeface="+mn-lt"/>
                <a:ea typeface="+mn-ea"/>
                <a:cs typeface="+mn-cs"/>
              </a:rPr>
              <a:t>Gençlerinin</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Yaşıtları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Arasında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Kullandıkları</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Konuşma</a:t>
            </a:r>
            <a:r>
              <a:rPr lang="de-DE" sz="900" kern="1200" dirty="0">
                <a:solidFill>
                  <a:schemeClr val="tx1"/>
                </a:solidFill>
                <a:latin typeface="+mn-lt"/>
                <a:ea typeface="+mn-ea"/>
                <a:cs typeface="+mn-cs"/>
              </a:rPr>
              <a:t> </a:t>
            </a:r>
            <a:r>
              <a:rPr lang="de-DE" sz="900" kern="1200" dirty="0" err="1">
                <a:solidFill>
                  <a:schemeClr val="tx1"/>
                </a:solidFill>
                <a:latin typeface="+mn-lt"/>
                <a:ea typeface="+mn-ea"/>
                <a:cs typeface="+mn-cs"/>
              </a:rPr>
              <a:t>Biçimleri</a:t>
            </a:r>
            <a:r>
              <a:rPr lang="de-DE" sz="900" kern="1200" dirty="0">
                <a:solidFill>
                  <a:schemeClr val="tx1"/>
                </a:solidFill>
                <a:latin typeface="+mn-lt"/>
                <a:ea typeface="+mn-ea"/>
                <a:cs typeface="+mn-cs"/>
              </a:rPr>
              <a:t>.” </a:t>
            </a:r>
            <a:r>
              <a:rPr lang="de-DE" sz="900" i="1" kern="1200" dirty="0" err="1">
                <a:solidFill>
                  <a:schemeClr val="tx1"/>
                </a:solidFill>
                <a:latin typeface="+mn-lt"/>
                <a:ea typeface="+mn-ea"/>
                <a:cs typeface="+mn-cs"/>
              </a:rPr>
              <a:t>Dilbilim</a:t>
            </a:r>
            <a:r>
              <a:rPr lang="de-DE" sz="900" i="1" kern="1200" dirty="0">
                <a:solidFill>
                  <a:schemeClr val="tx1"/>
                </a:solidFill>
                <a:latin typeface="+mn-lt"/>
                <a:ea typeface="+mn-ea"/>
                <a:cs typeface="+mn-cs"/>
              </a:rPr>
              <a:t> Araştırmaları</a:t>
            </a:r>
            <a:r>
              <a:rPr lang="de-DE" sz="900" kern="1200" dirty="0">
                <a:solidFill>
                  <a:schemeClr val="tx1"/>
                </a:solidFill>
                <a:latin typeface="+mn-lt"/>
                <a:ea typeface="+mn-ea"/>
                <a:cs typeface="+mn-cs"/>
              </a:rPr>
              <a:t>1991: 75-78.</a:t>
            </a:r>
            <a:endParaRPr lang="tr-TR" sz="900" kern="1200" dirty="0">
              <a:solidFill>
                <a:schemeClr val="tx1"/>
              </a:solidFill>
              <a:latin typeface="+mn-lt"/>
              <a:ea typeface="+mn-ea"/>
              <a:cs typeface="+mn-cs"/>
            </a:endParaRPr>
          </a:p>
          <a:p>
            <a:r>
              <a:rPr lang="tr-TR" sz="900" kern="1200" dirty="0">
                <a:solidFill>
                  <a:schemeClr val="tx1"/>
                </a:solidFill>
                <a:latin typeface="+mn-lt"/>
                <a:ea typeface="+mn-ea"/>
                <a:cs typeface="+mn-cs"/>
              </a:rPr>
              <a:t>Aslan-Demir, Sema 2008. </a:t>
            </a:r>
            <a:r>
              <a:rPr lang="tr-TR" sz="900" i="1" kern="1200" dirty="0">
                <a:solidFill>
                  <a:schemeClr val="tx1"/>
                </a:solidFill>
                <a:latin typeface="+mn-lt"/>
                <a:ea typeface="+mn-ea"/>
                <a:cs typeface="+mn-cs"/>
              </a:rPr>
              <a:t>Türkçede İsteme Kipliği</a:t>
            </a:r>
            <a:r>
              <a:rPr lang="tr-TR" sz="900" kern="1200" dirty="0">
                <a:solidFill>
                  <a:schemeClr val="tx1"/>
                </a:solidFill>
                <a:latin typeface="+mn-lt"/>
                <a:ea typeface="+mn-ea"/>
                <a:cs typeface="+mn-cs"/>
              </a:rPr>
              <a:t>. Ankara: Grafiker.</a:t>
            </a:r>
            <a:r>
              <a:rPr lang="tr-TR" sz="900" kern="1200" dirty="0" err="1">
                <a:solidFill>
                  <a:schemeClr val="tx1"/>
                </a:solidFill>
                <a:latin typeface="+mn-lt"/>
                <a:ea typeface="+mn-ea"/>
                <a:cs typeface="+mn-cs"/>
              </a:rPr>
              <a:t>Broszinsky</a:t>
            </a:r>
            <a:r>
              <a:rPr lang="tr-TR" sz="900" kern="1200" dirty="0">
                <a:solidFill>
                  <a:schemeClr val="tx1"/>
                </a:solidFill>
                <a:latin typeface="+mn-lt"/>
                <a:ea typeface="+mn-ea"/>
                <a:cs typeface="+mn-cs"/>
              </a:rPr>
              <a:t>-</a:t>
            </a:r>
            <a:r>
              <a:rPr lang="tr-TR" sz="900" kern="1200" dirty="0" err="1">
                <a:solidFill>
                  <a:schemeClr val="tx1"/>
                </a:solidFill>
                <a:latin typeface="+mn-lt"/>
                <a:ea typeface="+mn-ea"/>
                <a:cs typeface="+mn-cs"/>
              </a:rPr>
              <a:t>Schwabe</a:t>
            </a:r>
            <a:r>
              <a:rPr lang="tr-TR" sz="900" kern="1200" dirty="0">
                <a:solidFill>
                  <a:schemeClr val="tx1"/>
                </a:solidFill>
                <a:latin typeface="+mn-lt"/>
                <a:ea typeface="+mn-ea"/>
                <a:cs typeface="+mn-cs"/>
              </a:rPr>
              <a:t>, Edith 2017. </a:t>
            </a:r>
            <a:r>
              <a:rPr lang="tr-TR" sz="900" i="1" kern="1200" dirty="0" err="1">
                <a:solidFill>
                  <a:schemeClr val="tx1"/>
                </a:solidFill>
                <a:latin typeface="+mn-lt"/>
                <a:ea typeface="+mn-ea"/>
                <a:cs typeface="+mn-cs"/>
              </a:rPr>
              <a:t>Interkulturelle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Kommunikation</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Missverständnisse</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und</a:t>
            </a:r>
            <a:r>
              <a:rPr lang="tr-TR" sz="900" i="1" kern="1200" dirty="0">
                <a:solidFill>
                  <a:schemeClr val="tx1"/>
                </a:solidFill>
                <a:latin typeface="+mn-lt"/>
                <a:ea typeface="+mn-ea"/>
                <a:cs typeface="+mn-cs"/>
              </a:rPr>
              <a:t> </a:t>
            </a:r>
            <a:r>
              <a:rPr lang="tr-TR" sz="900" i="1" kern="1200" dirty="0" err="1">
                <a:solidFill>
                  <a:schemeClr val="tx1"/>
                </a:solidFill>
                <a:latin typeface="+mn-lt"/>
                <a:ea typeface="+mn-ea"/>
                <a:cs typeface="+mn-cs"/>
              </a:rPr>
              <a:t>Verständigung</a:t>
            </a:r>
            <a:r>
              <a:rPr lang="tr-TR" sz="900" i="1" kern="1200" dirty="0">
                <a:solidFill>
                  <a:schemeClr val="tx1"/>
                </a:solidFill>
                <a:latin typeface="+mn-lt"/>
                <a:ea typeface="+mn-ea"/>
                <a:cs typeface="+mn-cs"/>
              </a:rPr>
              <a:t>.</a:t>
            </a:r>
            <a:r>
              <a:rPr lang="tr-TR" sz="900" kern="1200" dirty="0">
                <a:solidFill>
                  <a:schemeClr val="tx1"/>
                </a:solidFill>
                <a:latin typeface="+mn-lt"/>
                <a:ea typeface="+mn-ea"/>
                <a:cs typeface="+mn-cs"/>
              </a:rPr>
              <a:t> 2. </a:t>
            </a:r>
            <a:r>
              <a:rPr lang="tr-TR" sz="900" kern="1200" dirty="0" err="1">
                <a:solidFill>
                  <a:schemeClr val="tx1"/>
                </a:solidFill>
                <a:latin typeface="+mn-lt"/>
                <a:ea typeface="+mn-ea"/>
                <a:cs typeface="+mn-cs"/>
              </a:rPr>
              <a:t>Auflage</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Wiesbaden</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Springer</a:t>
            </a:r>
            <a:r>
              <a:rPr lang="tr-TR" sz="900" kern="1200" dirty="0">
                <a:solidFill>
                  <a:schemeClr val="tx1"/>
                </a:solidFill>
                <a:latin typeface="+mn-lt"/>
                <a:ea typeface="+mn-ea"/>
                <a:cs typeface="+mn-cs"/>
              </a:rPr>
              <a:t>.</a:t>
            </a:r>
            <a:r>
              <a:rPr lang="tr-TR" dirty="0"/>
              <a:t> </a:t>
            </a:r>
            <a:r>
              <a:rPr lang="tr-TR" sz="900" kern="1200" dirty="0" err="1">
                <a:solidFill>
                  <a:schemeClr val="tx1"/>
                </a:solidFill>
                <a:latin typeface="+mn-lt"/>
                <a:ea typeface="+mn-ea"/>
                <a:cs typeface="+mn-cs"/>
              </a:rPr>
              <a:t>Crystal</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David</a:t>
            </a:r>
            <a:r>
              <a:rPr lang="tr-TR" sz="900" kern="1200" dirty="0">
                <a:solidFill>
                  <a:schemeClr val="tx1"/>
                </a:solidFill>
                <a:latin typeface="+mn-lt"/>
                <a:ea typeface="+mn-ea"/>
                <a:cs typeface="+mn-cs"/>
              </a:rPr>
              <a:t> 1995.</a:t>
            </a:r>
            <a:r>
              <a:rPr lang="tr-TR" sz="900" i="1" kern="1200" dirty="0" err="1">
                <a:solidFill>
                  <a:schemeClr val="tx1"/>
                </a:solidFill>
                <a:latin typeface="+mn-lt"/>
                <a:ea typeface="+mn-ea"/>
                <a:cs typeface="+mn-cs"/>
              </a:rPr>
              <a:t>Die</a:t>
            </a:r>
            <a:r>
              <a:rPr lang="tr-TR" sz="900" i="1" kern="1200" dirty="0">
                <a:solidFill>
                  <a:schemeClr val="tx1"/>
                </a:solidFill>
                <a:latin typeface="+mn-lt"/>
                <a:ea typeface="+mn-ea"/>
                <a:cs typeface="+mn-cs"/>
              </a:rPr>
              <a:t> Cambridge </a:t>
            </a:r>
            <a:r>
              <a:rPr lang="tr-TR" sz="900" i="1" kern="1200" dirty="0" err="1">
                <a:solidFill>
                  <a:schemeClr val="tx1"/>
                </a:solidFill>
                <a:latin typeface="+mn-lt"/>
                <a:ea typeface="+mn-ea"/>
                <a:cs typeface="+mn-cs"/>
              </a:rPr>
              <a:t>Anzyklopaedie</a:t>
            </a:r>
            <a:r>
              <a:rPr lang="tr-TR" sz="900" i="1" kern="1200" dirty="0">
                <a:solidFill>
                  <a:schemeClr val="tx1"/>
                </a:solidFill>
                <a:latin typeface="+mn-lt"/>
                <a:ea typeface="+mn-ea"/>
                <a:cs typeface="+mn-cs"/>
              </a:rPr>
              <a:t> der </a:t>
            </a:r>
            <a:r>
              <a:rPr lang="tr-TR" sz="900" i="1" kern="1200" dirty="0" err="1">
                <a:solidFill>
                  <a:schemeClr val="tx1"/>
                </a:solidFill>
                <a:latin typeface="+mn-lt"/>
                <a:ea typeface="+mn-ea"/>
                <a:cs typeface="+mn-cs"/>
              </a:rPr>
              <a:t>Sprache</a:t>
            </a:r>
            <a:r>
              <a:rPr lang="tr-TR" sz="900" kern="1200" dirty="0">
                <a:solidFill>
                  <a:schemeClr val="tx1"/>
                </a:solidFill>
                <a:latin typeface="+mn-lt"/>
                <a:ea typeface="+mn-ea"/>
                <a:cs typeface="+mn-cs"/>
              </a:rPr>
              <a:t>. Frankfurt-New York.</a:t>
            </a:r>
          </a:p>
          <a:p>
            <a:r>
              <a:rPr lang="tr-TR" sz="900" kern="1200" dirty="0">
                <a:solidFill>
                  <a:schemeClr val="tx1"/>
                </a:solidFill>
                <a:latin typeface="+mn-lt"/>
                <a:ea typeface="+mn-ea"/>
                <a:cs typeface="+mn-cs"/>
              </a:rPr>
              <a:t>Demir, Nurettin 2002. “Ağız Terimi Üzerine”, </a:t>
            </a:r>
            <a:r>
              <a:rPr lang="tr-TR" sz="900" i="1" kern="1200" dirty="0" err="1">
                <a:solidFill>
                  <a:schemeClr val="tx1"/>
                </a:solidFill>
                <a:latin typeface="+mn-lt"/>
                <a:ea typeface="+mn-ea"/>
                <a:cs typeface="+mn-cs"/>
              </a:rPr>
              <a:t>Türkbilig</a:t>
            </a:r>
            <a:r>
              <a:rPr lang="tr-TR" sz="900" kern="1200" dirty="0">
                <a:solidFill>
                  <a:schemeClr val="tx1"/>
                </a:solidFill>
                <a:latin typeface="+mn-lt"/>
                <a:ea typeface="+mn-ea"/>
                <a:cs typeface="+mn-cs"/>
              </a:rPr>
              <a:t> 4: 105-116.Demir, Nurettin 2006. “Türkiye’de Dil-Lehçe-Şive-Ağız Tartışmaları”,</a:t>
            </a:r>
            <a:r>
              <a:rPr lang="tr-TR" sz="900" i="1" kern="1200" dirty="0">
                <a:solidFill>
                  <a:schemeClr val="tx1"/>
                </a:solidFill>
                <a:latin typeface="+mn-lt"/>
                <a:ea typeface="+mn-ea"/>
                <a:cs typeface="+mn-cs"/>
              </a:rPr>
              <a:t>Türkiye’de Dil Tartışmaları</a:t>
            </a:r>
            <a:r>
              <a:rPr lang="tr-TR" sz="900" kern="1200" dirty="0">
                <a:solidFill>
                  <a:schemeClr val="tx1"/>
                </a:solidFill>
                <a:latin typeface="+mn-lt"/>
                <a:ea typeface="+mn-ea"/>
                <a:cs typeface="+mn-cs"/>
              </a:rPr>
              <a:t>, Derleyenler: </a:t>
            </a:r>
            <a:r>
              <a:rPr lang="tr-TR" sz="900" kern="1200" dirty="0" err="1">
                <a:solidFill>
                  <a:schemeClr val="tx1"/>
                </a:solidFill>
                <a:latin typeface="+mn-lt"/>
                <a:ea typeface="+mn-ea"/>
                <a:cs typeface="+mn-cs"/>
              </a:rPr>
              <a:t>Astrid</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Menz</a:t>
            </a:r>
            <a:r>
              <a:rPr lang="tr-TR" sz="900" kern="1200" dirty="0">
                <a:solidFill>
                  <a:schemeClr val="tx1"/>
                </a:solidFill>
                <a:latin typeface="+mn-lt"/>
                <a:ea typeface="+mn-ea"/>
                <a:cs typeface="+mn-cs"/>
              </a:rPr>
              <a:t> – </a:t>
            </a:r>
            <a:r>
              <a:rPr lang="tr-TR" sz="900" kern="1200" dirty="0" err="1">
                <a:solidFill>
                  <a:schemeClr val="tx1"/>
                </a:solidFill>
                <a:latin typeface="+mn-lt"/>
                <a:ea typeface="+mn-ea"/>
                <a:cs typeface="+mn-cs"/>
              </a:rPr>
              <a:t>Christoph</a:t>
            </a:r>
            <a:r>
              <a:rPr lang="tr-TR" sz="900" kern="1200" dirty="0">
                <a:solidFill>
                  <a:schemeClr val="tx1"/>
                </a:solidFill>
                <a:latin typeface="+mn-lt"/>
                <a:ea typeface="+mn-ea"/>
                <a:cs typeface="+mn-cs"/>
              </a:rPr>
              <a:t> </a:t>
            </a:r>
            <a:r>
              <a:rPr lang="tr-TR" sz="900" kern="1200" dirty="0" err="1">
                <a:solidFill>
                  <a:schemeClr val="tx1"/>
                </a:solidFill>
                <a:latin typeface="+mn-lt"/>
                <a:ea typeface="+mn-ea"/>
                <a:cs typeface="+mn-cs"/>
              </a:rPr>
              <a:t>Schroeder</a:t>
            </a:r>
            <a:r>
              <a:rPr lang="tr-TR" sz="900" kern="1200" dirty="0">
                <a:solidFill>
                  <a:schemeClr val="tx1"/>
                </a:solidFill>
                <a:latin typeface="+mn-lt"/>
                <a:ea typeface="+mn-ea"/>
                <a:cs typeface="+mn-cs"/>
              </a:rPr>
              <a:t>, İstanbul: Bilgi Üniversitesi Yayınları. 119-146. Demir, Nurettin 2009a.“Dil ve Varyasyon”.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15-24.</a:t>
            </a:r>
          </a:p>
          <a:p>
            <a:r>
              <a:rPr lang="tr-TR" sz="900" kern="1200" dirty="0">
                <a:solidFill>
                  <a:schemeClr val="tx1"/>
                </a:solidFill>
                <a:latin typeface="+mn-lt"/>
                <a:ea typeface="+mn-ea"/>
                <a:cs typeface="+mn-cs"/>
              </a:rPr>
              <a:t>Demir, Nurettin 2009b.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r>
              <a:rPr lang="tr-TR" sz="900" kern="1200" dirty="0">
                <a:solidFill>
                  <a:schemeClr val="tx1"/>
                </a:solidFill>
                <a:latin typeface="+mn-lt"/>
                <a:ea typeface="+mn-ea"/>
                <a:cs typeface="+mn-cs"/>
              </a:rPr>
              <a:t>Demir, Nurettin 2009. “Dil ve İşlevleri”. </a:t>
            </a:r>
            <a:r>
              <a:rPr lang="tr-TR" sz="900" i="1" kern="1200" dirty="0">
                <a:solidFill>
                  <a:schemeClr val="tx1"/>
                </a:solidFill>
                <a:latin typeface="+mn-lt"/>
                <a:ea typeface="+mn-ea"/>
                <a:cs typeface="+mn-cs"/>
              </a:rPr>
              <a:t>Türk Dili Yazılı ve Sözlü Anlatım. </a:t>
            </a:r>
            <a:r>
              <a:rPr lang="tr-TR" sz="900" kern="1200" dirty="0">
                <a:solidFill>
                  <a:schemeClr val="tx1"/>
                </a:solidFill>
                <a:latin typeface="+mn-lt"/>
                <a:ea typeface="+mn-ea"/>
                <a:cs typeface="+mn-cs"/>
              </a:rPr>
              <a:t>Ed. Nurettin Demir, Emine Yılmaz. Ankara: Nobel: 25-34.</a:t>
            </a:r>
          </a:p>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58</a:t>
            </a:fld>
            <a:endParaRPr lang="en-US"/>
          </a:p>
        </p:txBody>
      </p:sp>
    </p:spTree>
    <p:extLst>
      <p:ext uri="{BB962C8B-B14F-4D97-AF65-F5344CB8AC3E}">
        <p14:creationId xmlns:p14="http://schemas.microsoft.com/office/powerpoint/2010/main" xmlns="" val="6380959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sz="900" kern="1200" dirty="0">
                <a:solidFill>
                  <a:schemeClr val="tx1"/>
                </a:solidFill>
                <a:latin typeface="+mn-lt"/>
                <a:ea typeface="+mn-ea"/>
                <a:cs typeface="+mn-cs"/>
              </a:rPr>
              <a:t>Bu dersle ilgili daha fazla bilgi sahibi olmak isteyenler ders kitabından ilgili bölümü okuyabilirler, önerilen kaynaklar bölümünden faydalanabilirler. Lütfen, şimdi ders için hazırlanan etkinlikleri yapınız. İyi çalışmalar dileriz.”</a:t>
            </a:r>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59</a:t>
            </a:fld>
            <a:endParaRPr lang="en-US"/>
          </a:p>
        </p:txBody>
      </p:sp>
    </p:spTree>
    <p:extLst>
      <p:ext uri="{BB962C8B-B14F-4D97-AF65-F5344CB8AC3E}">
        <p14:creationId xmlns:p14="http://schemas.microsoft.com/office/powerpoint/2010/main" xmlns="" val="5195670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60</a:t>
            </a:fld>
            <a:endParaRPr lang="en-US"/>
          </a:p>
        </p:txBody>
      </p:sp>
    </p:spTree>
    <p:extLst>
      <p:ext uri="{BB962C8B-B14F-4D97-AF65-F5344CB8AC3E}">
        <p14:creationId xmlns:p14="http://schemas.microsoft.com/office/powerpoint/2010/main" xmlns="" val="8366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tr-TR"/>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Click to edit Master subtitle style</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8741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idx="1"/>
          </p:nvPr>
        </p:nvSpPr>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204015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tr-TR"/>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Click to edit Master text styles</a:t>
            </a:r>
          </a:p>
        </p:txBody>
      </p:sp>
      <p:sp>
        <p:nvSpPr>
          <p:cNvPr id="4" name="Date Placeholder 3"/>
          <p:cNvSpPr>
            <a:spLocks noGrp="1"/>
          </p:cNvSpPr>
          <p:nvPr>
            <p:ph type="dt" sz="half" idx="10"/>
          </p:nvPr>
        </p:nvSpPr>
        <p:spPr/>
        <p:txBody>
          <a:bodyPr/>
          <a:lstStyle/>
          <a:p>
            <a:fld id="{2F2647A6-9F3D-EE46-8AEB-C71002B716D5}" type="datetimeFigureOut">
              <a:rPr lang="en-US" smtClean="0"/>
              <a:pPr/>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5102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Date Placeholder 4"/>
          <p:cNvSpPr>
            <a:spLocks noGrp="1"/>
          </p:cNvSpPr>
          <p:nvPr>
            <p:ph type="dt" sz="half" idx="10"/>
          </p:nvPr>
        </p:nvSpPr>
        <p:spPr/>
        <p:txBody>
          <a:bodyPr/>
          <a:lstStyle/>
          <a:p>
            <a:fld id="{2F2647A6-9F3D-EE46-8AEB-C71002B716D5}" type="datetimeFigureOut">
              <a:rPr lang="en-US" smtClean="0"/>
              <a:pPr/>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7570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tr-TR"/>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7" name="Date Placeholder 6"/>
          <p:cNvSpPr>
            <a:spLocks noGrp="1"/>
          </p:cNvSpPr>
          <p:nvPr>
            <p:ph type="dt" sz="half" idx="10"/>
          </p:nvPr>
        </p:nvSpPr>
        <p:spPr/>
        <p:txBody>
          <a:bodyPr/>
          <a:lstStyle/>
          <a:p>
            <a:fld id="{2F2647A6-9F3D-EE46-8AEB-C71002B716D5}" type="datetimeFigureOut">
              <a:rPr lang="en-US" smtClean="0"/>
              <a:pPr/>
              <a:t>2/10/2022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4903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Date Placeholder 2"/>
          <p:cNvSpPr>
            <a:spLocks noGrp="1"/>
          </p:cNvSpPr>
          <p:nvPr>
            <p:ph type="dt" sz="half" idx="10"/>
          </p:nvPr>
        </p:nvSpPr>
        <p:spPr/>
        <p:txBody>
          <a:bodyPr/>
          <a:lstStyle/>
          <a:p>
            <a:fld id="{2F2647A6-9F3D-EE46-8AEB-C71002B716D5}" type="datetimeFigureOut">
              <a:rPr lang="en-US" smtClean="0"/>
              <a:pPr/>
              <a:t>2/10/2022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9448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2647A6-9F3D-EE46-8AEB-C71002B716D5}" type="datetimeFigureOut">
              <a:rPr lang="en-US" smtClean="0"/>
              <a:pPr/>
              <a:t>2/10/2022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13810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9657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tr-TR"/>
              <a:t>Drag picture to placeholder or click icon to add</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2/10/2022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028983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43169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tr-TR"/>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2/10/2022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1743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tr-TR"/>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F2647A6-9F3D-EE46-8AEB-C71002B716D5}" type="datetimeFigureOut">
              <a:rPr lang="en-US" smtClean="0"/>
              <a:pPr/>
              <a:t>2/10/2022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79433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0" y="0"/>
            <a:ext cx="9144000" cy="5143500"/>
          </a:xfrm>
          <a:prstGeom prst="rect">
            <a:avLst/>
          </a:prstGeom>
        </p:spPr>
      </p:pic>
      <p:sp>
        <p:nvSpPr>
          <p:cNvPr id="5" name="TextBox 4"/>
          <p:cNvSpPr txBox="1"/>
          <p:nvPr/>
        </p:nvSpPr>
        <p:spPr>
          <a:xfrm rot="10800000" flipV="1">
            <a:off x="4105819" y="2539052"/>
            <a:ext cx="4790113" cy="477054"/>
          </a:xfrm>
          <a:prstGeom prst="rect">
            <a:avLst/>
          </a:prstGeom>
          <a:noFill/>
        </p:spPr>
        <p:txBody>
          <a:bodyPr wrap="square" rtlCol="0">
            <a:spAutoFit/>
          </a:bodyPr>
          <a:lstStyle/>
          <a:p>
            <a:pPr algn="ctr">
              <a:lnSpc>
                <a:spcPct val="125000"/>
              </a:lnSpc>
            </a:pPr>
            <a:r>
              <a:rPr lang="tr-TR" sz="2000" b="1" dirty="0">
                <a:solidFill>
                  <a:srgbClr val="FF0000"/>
                </a:solidFill>
              </a:rPr>
              <a:t>Konu: YAZMA BECERİSİ VE STRATEJİLERİ  </a:t>
            </a:r>
            <a:endParaRPr lang="en-US" sz="2000" b="1" dirty="0">
              <a:solidFill>
                <a:srgbClr val="FF0000"/>
              </a:solidFill>
            </a:endParaRPr>
          </a:p>
        </p:txBody>
      </p:sp>
      <p:sp>
        <p:nvSpPr>
          <p:cNvPr id="6" name="TextBox 5"/>
          <p:cNvSpPr txBox="1"/>
          <p:nvPr/>
        </p:nvSpPr>
        <p:spPr>
          <a:xfrm>
            <a:off x="5437678" y="752860"/>
            <a:ext cx="3458254" cy="341632"/>
          </a:xfrm>
          <a:prstGeom prst="rect">
            <a:avLst/>
          </a:prstGeom>
          <a:noFill/>
        </p:spPr>
        <p:txBody>
          <a:bodyPr wrap="square" rtlCol="0">
            <a:spAutoFit/>
          </a:bodyPr>
          <a:lstStyle/>
          <a:p>
            <a:pPr>
              <a:lnSpc>
                <a:spcPct val="125000"/>
              </a:lnSpc>
            </a:pPr>
            <a:r>
              <a:rPr lang="tr-TR" sz="1400" b="1" dirty="0"/>
              <a:t>TKD104-TÜRK DİLİ II</a:t>
            </a:r>
          </a:p>
        </p:txBody>
      </p:sp>
      <p:sp>
        <p:nvSpPr>
          <p:cNvPr id="7" name="TextBox 6"/>
          <p:cNvSpPr txBox="1"/>
          <p:nvPr/>
        </p:nvSpPr>
        <p:spPr>
          <a:xfrm>
            <a:off x="4972050" y="3341122"/>
            <a:ext cx="4057650" cy="707886"/>
          </a:xfrm>
          <a:prstGeom prst="rect">
            <a:avLst/>
          </a:prstGeom>
          <a:noFill/>
        </p:spPr>
        <p:txBody>
          <a:bodyPr wrap="square" rtlCol="0">
            <a:spAutoFit/>
          </a:bodyPr>
          <a:lstStyle/>
          <a:p>
            <a:pPr algn="ctr">
              <a:lnSpc>
                <a:spcPct val="125000"/>
              </a:lnSpc>
            </a:pPr>
            <a:r>
              <a:rPr lang="tr-TR" sz="1600" b="1" dirty="0"/>
              <a:t>Hazırlayan ve Sunan: </a:t>
            </a:r>
          </a:p>
          <a:p>
            <a:pPr algn="ctr">
              <a:lnSpc>
                <a:spcPct val="125000"/>
              </a:lnSpc>
            </a:pPr>
            <a:r>
              <a:rPr lang="tr-TR" sz="1600" b="1" dirty="0"/>
              <a:t>Dr. Öğretim Görevlisi Hafize Şahin </a:t>
            </a:r>
            <a:r>
              <a:rPr lang="en-US" sz="1600" b="1" dirty="0"/>
              <a:t> </a:t>
            </a:r>
          </a:p>
        </p:txBody>
      </p:sp>
    </p:spTree>
    <p:extLst>
      <p:ext uri="{BB962C8B-B14F-4D97-AF65-F5344CB8AC3E}">
        <p14:creationId xmlns:p14="http://schemas.microsoft.com/office/powerpoint/2010/main" xmlns="" val="32680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6" name="TextBox 5"/>
          <p:cNvSpPr txBox="1"/>
          <p:nvPr/>
        </p:nvSpPr>
        <p:spPr>
          <a:xfrm>
            <a:off x="259949" y="272892"/>
            <a:ext cx="8624098" cy="461665"/>
          </a:xfrm>
          <a:prstGeom prst="rect">
            <a:avLst/>
          </a:prstGeom>
          <a:noFill/>
        </p:spPr>
        <p:txBody>
          <a:bodyPr wrap="square" rtlCol="0">
            <a:spAutoFit/>
          </a:bodyPr>
          <a:lstStyle/>
          <a:p>
            <a:pPr algn="ctr"/>
            <a:r>
              <a:rPr lang="en-US" sz="2400" b="1" spc="200" dirty="0">
                <a:solidFill>
                  <a:srgbClr val="FCF5E8"/>
                </a:solidFill>
              </a:rPr>
              <a:t>NELER ÖĞRENECEĞİZ?</a:t>
            </a:r>
          </a:p>
        </p:txBody>
      </p:sp>
      <p:sp>
        <p:nvSpPr>
          <p:cNvPr id="7" name="TextBox 6"/>
          <p:cNvSpPr txBox="1"/>
          <p:nvPr/>
        </p:nvSpPr>
        <p:spPr>
          <a:xfrm>
            <a:off x="533400" y="848954"/>
            <a:ext cx="8351403" cy="438582"/>
          </a:xfrm>
          <a:prstGeom prst="rect">
            <a:avLst/>
          </a:prstGeom>
          <a:noFill/>
        </p:spPr>
        <p:txBody>
          <a:bodyPr wrap="square" rtlCol="0">
            <a:spAutoFit/>
          </a:bodyPr>
          <a:lstStyle/>
          <a:p>
            <a:pPr>
              <a:lnSpc>
                <a:spcPct val="125000"/>
              </a:lnSpc>
            </a:pPr>
            <a:r>
              <a:rPr lang="tr-TR" sz="1800" b="1" dirty="0"/>
              <a:t>Kazanımlar</a:t>
            </a:r>
            <a:endParaRPr lang="en-US" sz="1800" b="1"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İçerik Yer Tutucusu 2">
            <a:extLst>
              <a:ext uri="{FF2B5EF4-FFF2-40B4-BE49-F238E27FC236}">
                <a16:creationId xmlns:a16="http://schemas.microsoft.com/office/drawing/2014/main" xmlns="" id="{E4E6CA14-18EE-1545-85BF-74354B5DA4C1}"/>
              </a:ext>
            </a:extLst>
          </p:cNvPr>
          <p:cNvSpPr txBox="1">
            <a:spLocks/>
          </p:cNvSpPr>
          <p:nvPr/>
        </p:nvSpPr>
        <p:spPr>
          <a:xfrm>
            <a:off x="533400" y="1287536"/>
            <a:ext cx="8229600" cy="3332089"/>
          </a:xfrm>
          <a:prstGeom prst="rect">
            <a:avLst/>
          </a:prstGeom>
        </p:spPr>
        <p:txBody>
          <a:bodyPr vert="horz" lIns="91440" tIns="45720" rIns="91440" bIns="45720" rtlCol="0">
            <a:normAutofit/>
          </a:bodyPr>
          <a:lstStyle/>
          <a:p>
            <a:pPr marL="0" marR="0" lvl="0" indent="0" defTabSz="685800" rtl="0" eaLnBrk="1" fontAlgn="auto" latinLnBrk="0" hangingPunct="1">
              <a:lnSpc>
                <a:spcPct val="90000"/>
              </a:lnSpc>
              <a:spcBef>
                <a:spcPts val="600"/>
              </a:spcBef>
              <a:spcAft>
                <a:spcPts val="600"/>
              </a:spcAft>
              <a:buClrTx/>
              <a:buSzTx/>
              <a:buFont typeface="Arial" panose="020B0604020202020204" pitchFamily="34" charset="0"/>
              <a:buNone/>
              <a:tabLst/>
              <a:defRPr/>
            </a:pPr>
            <a:r>
              <a:rPr kumimoji="0" lang="tr-TR" sz="1800" b="1" i="0" u="none" strike="noStrike" kern="1200" cap="none" spc="0" normalizeH="0" baseline="0" noProof="0" dirty="0">
                <a:ln>
                  <a:noFill/>
                </a:ln>
                <a:solidFill>
                  <a:schemeClr val="tx1"/>
                </a:solidFill>
                <a:effectLst/>
                <a:uLnTx/>
                <a:uFillTx/>
                <a:latin typeface="+mn-lt"/>
                <a:ea typeface="+mn-ea"/>
                <a:cs typeface="+mn-cs"/>
              </a:rPr>
              <a:t>Bu ünite sonunda;</a:t>
            </a:r>
            <a:endParaRPr kumimoji="0" lang="tr-TR" sz="1800" b="0" i="0" u="none" strike="noStrike" kern="1200" cap="none" spc="0" normalizeH="0" baseline="0" noProof="0" dirty="0">
              <a:ln>
                <a:noFill/>
              </a:ln>
              <a:solidFill>
                <a:schemeClr val="tx1"/>
              </a:solidFill>
              <a:effectLst/>
              <a:uLnTx/>
              <a:uFillTx/>
              <a:latin typeface="+mn-lt"/>
              <a:ea typeface="+mn-ea"/>
              <a:cs typeface="+mn-cs"/>
            </a:endParaRPr>
          </a:p>
          <a:p>
            <a:pPr>
              <a:spcBef>
                <a:spcPts val="600"/>
              </a:spcBef>
              <a:spcAft>
                <a:spcPts val="600"/>
              </a:spcAft>
              <a:buFont typeface="Symbol" pitchFamily="18" charset="2"/>
              <a:buChar char="·"/>
            </a:pPr>
            <a:r>
              <a:rPr lang="tr-TR" sz="1800" dirty="0"/>
              <a:t> Yazma becerisi ve stratejileri hakkında bilgi edineceksiniz.</a:t>
            </a:r>
          </a:p>
          <a:p>
            <a:pPr>
              <a:spcBef>
                <a:spcPts val="600"/>
              </a:spcBef>
              <a:spcAft>
                <a:spcPts val="600"/>
              </a:spcAft>
              <a:buFont typeface="Symbol" pitchFamily="18" charset="2"/>
              <a:buChar char="·"/>
            </a:pPr>
            <a:r>
              <a:rPr lang="tr-TR" sz="1800" dirty="0"/>
              <a:t> Yazının tarihi ve yazma eylemi üzerinde düşüneceksiniz.</a:t>
            </a:r>
          </a:p>
          <a:p>
            <a:pPr>
              <a:spcBef>
                <a:spcPts val="600"/>
              </a:spcBef>
              <a:spcAft>
                <a:spcPts val="600"/>
              </a:spcAft>
              <a:buFont typeface="Symbol" pitchFamily="18" charset="2"/>
              <a:buChar char="·"/>
            </a:pPr>
            <a:r>
              <a:rPr lang="tr-TR" sz="1800" dirty="0"/>
              <a:t> Yazma becerisi, yazmanın fiziksel ve zihinsel süreçleri nasıldır ve nasıl işler sorularını cevaplayabileceksiniz.</a:t>
            </a:r>
          </a:p>
          <a:p>
            <a:pPr>
              <a:spcBef>
                <a:spcPts val="600"/>
              </a:spcBef>
              <a:spcAft>
                <a:spcPts val="600"/>
              </a:spcAft>
              <a:buFont typeface="Symbol" pitchFamily="18" charset="2"/>
              <a:buChar char="·"/>
            </a:pPr>
            <a:r>
              <a:rPr lang="tr-TR" sz="1800" dirty="0"/>
              <a:t> Yazma eğitiminin temel kavramlarını öğreneceksiniz.</a:t>
            </a:r>
          </a:p>
          <a:p>
            <a:pPr>
              <a:spcBef>
                <a:spcPts val="600"/>
              </a:spcBef>
              <a:spcAft>
                <a:spcPts val="600"/>
              </a:spcAft>
              <a:buFont typeface="Symbol" pitchFamily="18" charset="2"/>
              <a:buChar char="·"/>
            </a:pPr>
            <a:r>
              <a:rPr lang="tr-TR" sz="1800" dirty="0"/>
              <a:t> Yazma stratejilerini açıklayabileceksiniz.</a:t>
            </a:r>
          </a:p>
          <a:p>
            <a:pPr>
              <a:spcBef>
                <a:spcPts val="600"/>
              </a:spcBef>
              <a:spcAft>
                <a:spcPts val="600"/>
              </a:spcAft>
              <a:buFont typeface="Symbol" pitchFamily="18" charset="2"/>
              <a:buChar char="·"/>
            </a:pPr>
            <a:r>
              <a:rPr lang="tr-TR" sz="1800" dirty="0"/>
              <a:t> Yazma öğretiminde teoriler ve modeller nelerdir sorusunu cevaplayabileceksiniz.</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tr-TR" sz="1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40845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Başlık 1">
            <a:extLst>
              <a:ext uri="{FF2B5EF4-FFF2-40B4-BE49-F238E27FC236}">
                <a16:creationId xmlns:a16="http://schemas.microsoft.com/office/drawing/2014/main" xmlns="" id="{A72BEF32-67A3-594C-AC7C-7FD8A6E7EA14}"/>
              </a:ext>
            </a:extLst>
          </p:cNvPr>
          <p:cNvSpPr txBox="1">
            <a:spLocks/>
          </p:cNvSpPr>
          <p:nvPr/>
        </p:nvSpPr>
        <p:spPr>
          <a:xfrm>
            <a:off x="790576" y="1030194"/>
            <a:ext cx="3209924" cy="484281"/>
          </a:xfrm>
          <a:prstGeom prst="rect">
            <a:avLst/>
          </a:prstGeom>
        </p:spPr>
        <p:txBody>
          <a:bodyPr vert="horz" lIns="91440" tIns="45720" rIns="91440" bIns="45720" rtlCol="0" anchor="b">
            <a:normAutofit fontScale="70000" lnSpcReduction="20000"/>
          </a:body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tr-TR" sz="4500" b="1" i="0" u="none" strike="noStrike" kern="1200" cap="none" spc="0" normalizeH="0" baseline="0" noProof="0" dirty="0">
                <a:ln>
                  <a:noFill/>
                </a:ln>
                <a:solidFill>
                  <a:srgbClr val="7030A0"/>
                </a:solidFill>
                <a:uLnTx/>
                <a:uFillTx/>
                <a:latin typeface="+mj-lt"/>
                <a:ea typeface="+mj-ea"/>
                <a:cs typeface="+mj-cs"/>
              </a:rPr>
              <a:t>Anahtar kavramlar</a:t>
            </a:r>
          </a:p>
        </p:txBody>
      </p:sp>
      <p:sp>
        <p:nvSpPr>
          <p:cNvPr id="6" name="İçerik Yer Tutucusu 2">
            <a:extLst>
              <a:ext uri="{FF2B5EF4-FFF2-40B4-BE49-F238E27FC236}">
                <a16:creationId xmlns:a16="http://schemas.microsoft.com/office/drawing/2014/main" xmlns="" id="{29B3BB08-6F63-5D4F-9A84-28850BFE13C3}"/>
              </a:ext>
            </a:extLst>
          </p:cNvPr>
          <p:cNvSpPr txBox="1">
            <a:spLocks/>
          </p:cNvSpPr>
          <p:nvPr/>
        </p:nvSpPr>
        <p:spPr>
          <a:xfrm>
            <a:off x="694945" y="1784909"/>
            <a:ext cx="7782306" cy="2434666"/>
          </a:xfrm>
          <a:prstGeom prst="rect">
            <a:avLst/>
          </a:prstGeom>
        </p:spPr>
        <p:txBody>
          <a:bodyPr vert="horz" lIns="91440" tIns="45720" rIns="91440" bIns="45720" numCol="2" rtlCol="0">
            <a:normAutofit fontScale="25000" lnSpcReduction="20000"/>
          </a:bodyPr>
          <a:lstStyle/>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Yazmak</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Yazının tarihi</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Yazmak eyleminin tanımı</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Yazma becerisi</a:t>
            </a:r>
            <a:endParaRPr kumimoji="0" lang="tr-TR" sz="8000" b="1" i="0" u="none" strike="noStrike" kern="1200" cap="none" spc="0" normalizeH="0" baseline="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dirty="0"/>
              <a:t> Yazmanın fiziksel ve zihinsel süreçleri</a:t>
            </a:r>
          </a:p>
          <a:p>
            <a:endParaRPr lang="tr-TR" sz="4400" dirty="0"/>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lang="tr-TR" sz="8000" b="1" dirty="0"/>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baseline="0" dirty="0"/>
              <a:t> Yazma</a:t>
            </a:r>
            <a:r>
              <a:rPr lang="tr-TR" sz="8000" b="1" dirty="0"/>
              <a:t> eğitiminin  temel kavramları</a:t>
            </a:r>
            <a:endParaRPr lang="tr-TR" sz="8000" b="1" baseline="0" dirty="0"/>
          </a:p>
          <a:p>
            <a:pPr>
              <a:lnSpc>
                <a:spcPct val="90000"/>
              </a:lnSpc>
              <a:spcBef>
                <a:spcPts val="750"/>
              </a:spcBef>
              <a:spcAft>
                <a:spcPts val="1200"/>
              </a:spcAft>
              <a:buFont typeface="Wingdings" pitchFamily="2" charset="2"/>
              <a:buChar char="ü"/>
              <a:defRPr/>
            </a:pPr>
            <a:r>
              <a:rPr kumimoji="0" lang="tr-TR" sz="8000" b="1" i="0" u="none" strike="noStrike" kern="1200" cap="none" spc="0" normalizeH="0" noProof="0" dirty="0">
                <a:ln>
                  <a:noFill/>
                </a:ln>
                <a:solidFill>
                  <a:schemeClr val="tx1"/>
                </a:solidFill>
                <a:effectLst/>
                <a:uLnTx/>
                <a:uFillTx/>
                <a:latin typeface="+mn-lt"/>
                <a:ea typeface="+mn-ea"/>
                <a:cs typeface="+mn-cs"/>
              </a:rPr>
              <a:t> </a:t>
            </a:r>
            <a:r>
              <a:rPr lang="tr-TR" sz="8000" b="1" dirty="0"/>
              <a:t> Yazma stratejileri</a:t>
            </a:r>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r>
              <a:rPr lang="tr-TR" sz="8000" b="1" baseline="0" dirty="0"/>
              <a:t>Yazma</a:t>
            </a:r>
            <a:r>
              <a:rPr lang="tr-TR" sz="8000" b="1" dirty="0"/>
              <a:t> öğretiminde kuramlar</a:t>
            </a:r>
            <a:endParaRPr lang="tr-TR" sz="8000" b="1" baseline="0" dirty="0"/>
          </a:p>
          <a:p>
            <a:pPr marL="0" marR="0" lvl="0" indent="0" defTabSz="685800" rtl="0" eaLnBrk="1" fontAlgn="auto" latinLnBrk="0" hangingPunct="1">
              <a:lnSpc>
                <a:spcPct val="90000"/>
              </a:lnSpc>
              <a:spcBef>
                <a:spcPts val="750"/>
              </a:spcBef>
              <a:spcAft>
                <a:spcPts val="1200"/>
              </a:spcAft>
              <a:buClrTx/>
              <a:buSzTx/>
              <a:buFont typeface="Wingdings" pitchFamily="2" charset="2"/>
              <a:buChar char="ü"/>
              <a:tabLst/>
              <a:defRPr/>
            </a:pPr>
            <a:endParaRPr kumimoji="0" lang="tr-TR" sz="8000" b="1" i="0" u="none" strike="noStrike" kern="1200" cap="none" spc="0" normalizeH="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1200"/>
              </a:spcAft>
              <a:buClrTx/>
              <a:buSzTx/>
              <a:tabLst/>
              <a:defRPr/>
            </a:pPr>
            <a:endParaRPr kumimoji="0" lang="tr-TR" sz="8000" b="1" i="0" u="none" strike="noStrike" kern="1200" cap="none" spc="0" normalizeH="0" baseline="0" noProof="0" dirty="0">
              <a:ln>
                <a:noFill/>
              </a:ln>
              <a:solidFill>
                <a:schemeClr val="tx1"/>
              </a:solidFill>
              <a:effectLst/>
              <a:uLnTx/>
              <a:uFillTx/>
              <a:latin typeface="+mn-lt"/>
              <a:ea typeface="+mn-ea"/>
              <a:cs typeface="+mn-cs"/>
            </a:endParaRPr>
          </a:p>
          <a:p>
            <a:pPr marL="0" marR="0" lvl="0" indent="0" defTabSz="685800" rtl="0" eaLnBrk="1" fontAlgn="auto" latinLnBrk="0" hangingPunct="1">
              <a:lnSpc>
                <a:spcPct val="90000"/>
              </a:lnSpc>
              <a:spcBef>
                <a:spcPts val="750"/>
              </a:spcBef>
              <a:spcAft>
                <a:spcPts val="600"/>
              </a:spcAft>
              <a:buClrTx/>
              <a:buSzTx/>
              <a:buFont typeface="Arial" panose="020B0604020202020204" pitchFamily="34" charset="0"/>
              <a:buNone/>
              <a:tabLst/>
              <a:defRPr/>
            </a:pPr>
            <a:endParaRPr lang="tr-TR" sz="1800" b="1" dirty="0"/>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tr-TR" sz="18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875911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Başlık 1">
            <a:extLst>
              <a:ext uri="{FF2B5EF4-FFF2-40B4-BE49-F238E27FC236}">
                <a16:creationId xmlns:a16="http://schemas.microsoft.com/office/drawing/2014/main" xmlns="" id="{A72BEF32-67A3-594C-AC7C-7FD8A6E7EA14}"/>
              </a:ext>
            </a:extLst>
          </p:cNvPr>
          <p:cNvSpPr txBox="1">
            <a:spLocks/>
          </p:cNvSpPr>
          <p:nvPr/>
        </p:nvSpPr>
        <p:spPr>
          <a:xfrm>
            <a:off x="790576" y="1030194"/>
            <a:ext cx="3209924" cy="484281"/>
          </a:xfrm>
          <a:prstGeom prst="rect">
            <a:avLst/>
          </a:prstGeom>
        </p:spPr>
        <p:txBody>
          <a:bodyPr vert="horz" lIns="91440" tIns="45720" rIns="91440" bIns="45720" rtlCol="0" anchor="b">
            <a:normAutofit fontScale="77500" lnSpcReduction="20000"/>
          </a:bodyPr>
          <a:lstStyle/>
          <a:p>
            <a:pPr marL="0" marR="0" lvl="0" indent="0" algn="ctr" defTabSz="685800" rtl="0" eaLnBrk="1" fontAlgn="auto" latinLnBrk="0" hangingPunct="1">
              <a:lnSpc>
                <a:spcPct val="90000"/>
              </a:lnSpc>
              <a:spcBef>
                <a:spcPct val="0"/>
              </a:spcBef>
              <a:spcAft>
                <a:spcPts val="0"/>
              </a:spcAft>
              <a:buClrTx/>
              <a:buSzTx/>
              <a:buFontTx/>
              <a:buNone/>
              <a:tabLst/>
              <a:defRPr/>
            </a:pPr>
            <a:endParaRPr kumimoji="0" lang="tr-TR" sz="4500" b="1" i="0" u="none" strike="noStrike" kern="1200" cap="none" spc="0" normalizeH="0" baseline="0" noProof="0" dirty="0">
              <a:ln>
                <a:noFill/>
              </a:ln>
              <a:solidFill>
                <a:srgbClr val="7030A0"/>
              </a:solidFill>
              <a:uLnTx/>
              <a:uFillTx/>
              <a:latin typeface="+mj-lt"/>
              <a:ea typeface="+mj-ea"/>
              <a:cs typeface="+mj-cs"/>
            </a:endParaRPr>
          </a:p>
        </p:txBody>
      </p:sp>
      <p:sp>
        <p:nvSpPr>
          <p:cNvPr id="6" name="İçerik Yer Tutucusu 2">
            <a:extLst>
              <a:ext uri="{FF2B5EF4-FFF2-40B4-BE49-F238E27FC236}">
                <a16:creationId xmlns:a16="http://schemas.microsoft.com/office/drawing/2014/main" xmlns="" id="{29B3BB08-6F63-5D4F-9A84-28850BFE13C3}"/>
              </a:ext>
            </a:extLst>
          </p:cNvPr>
          <p:cNvSpPr txBox="1">
            <a:spLocks/>
          </p:cNvSpPr>
          <p:nvPr/>
        </p:nvSpPr>
        <p:spPr>
          <a:xfrm>
            <a:off x="590551" y="1030194"/>
            <a:ext cx="4305300" cy="3189381"/>
          </a:xfrm>
          <a:prstGeom prst="rect">
            <a:avLst/>
          </a:prstGeom>
        </p:spPr>
        <p:txBody>
          <a:bodyPr vert="horz" lIns="91440" tIns="45720" rIns="91440" bIns="45720" numCol="1" rtlCol="0">
            <a:normAutofit lnSpcReduction="10000"/>
          </a:bodyPr>
          <a:lstStyle/>
          <a:p>
            <a:pPr algn="just"/>
            <a:r>
              <a:rPr lang="tr-TR" sz="2400" i="1" dirty="0"/>
              <a:t>“Yazmak biraz da silmektir.”</a:t>
            </a:r>
          </a:p>
          <a:p>
            <a:pPr algn="just"/>
            <a:r>
              <a:rPr lang="tr-TR" sz="2400" i="1" dirty="0"/>
              <a:t>                                           </a:t>
            </a:r>
            <a:r>
              <a:rPr lang="tr-TR" sz="2400" dirty="0"/>
              <a:t>Çehov</a:t>
            </a:r>
          </a:p>
          <a:p>
            <a:pPr algn="just">
              <a:spcBef>
                <a:spcPts val="750"/>
              </a:spcBef>
              <a:spcAft>
                <a:spcPts val="1200"/>
              </a:spcAft>
              <a:buFont typeface="Wingdings" pitchFamily="2" charset="2"/>
              <a:buChar char="ü"/>
            </a:pPr>
            <a:endParaRPr lang="tr-TR" sz="1600" b="1" dirty="0"/>
          </a:p>
          <a:p>
            <a:pPr algn="just">
              <a:spcBef>
                <a:spcPts val="750"/>
              </a:spcBef>
            </a:pPr>
            <a:r>
              <a:rPr lang="tr-TR" sz="2400" dirty="0"/>
              <a:t>Neden yazmak biraz da silmektir? Bu soru üzerinde birlikte düşünelim. Çehov neden yazmayı silmek eylemi üzerinden tanımlamış olabilir?</a:t>
            </a:r>
          </a:p>
        </p:txBody>
      </p:sp>
      <p:pic>
        <p:nvPicPr>
          <p:cNvPr id="10" name="9 Resim" descr="1025111229_111 0 1423 825_1920x0_80_0_0_ecdfc69132daaa0086aeb1bace8f78a8.jpg"/>
          <p:cNvPicPr>
            <a:picLocks noChangeAspect="1"/>
          </p:cNvPicPr>
          <p:nvPr/>
        </p:nvPicPr>
        <p:blipFill>
          <a:blip r:embed="rId3"/>
          <a:stretch>
            <a:fillRect/>
          </a:stretch>
        </p:blipFill>
        <p:spPr>
          <a:xfrm>
            <a:off x="5254117" y="1211169"/>
            <a:ext cx="3613658" cy="2271711"/>
          </a:xfrm>
          <a:prstGeom prst="rect">
            <a:avLst/>
          </a:prstGeom>
        </p:spPr>
      </p:pic>
    </p:spTree>
    <p:extLst>
      <p:ext uri="{BB962C8B-B14F-4D97-AF65-F5344CB8AC3E}">
        <p14:creationId xmlns:p14="http://schemas.microsoft.com/office/powerpoint/2010/main" xmlns="" val="87591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911316" y="849219"/>
            <a:ext cx="7432584" cy="1446550"/>
          </a:xfrm>
          <a:prstGeom prst="rect">
            <a:avLst/>
          </a:prstGeom>
        </p:spPr>
        <p:txBody>
          <a:bodyPr wrap="square">
            <a:spAutoFit/>
          </a:bodyPr>
          <a:lstStyle/>
          <a:p>
            <a:pPr algn="ctr"/>
            <a:r>
              <a:rPr lang="tr-TR" sz="4400" b="1" dirty="0"/>
              <a:t>Yazma Becerisi ve Stratejileri</a:t>
            </a:r>
          </a:p>
          <a:p>
            <a:r>
              <a:rPr lang="tr-TR" sz="4400" b="1" dirty="0"/>
              <a:t> </a:t>
            </a:r>
          </a:p>
        </p:txBody>
      </p:sp>
      <p:sp>
        <p:nvSpPr>
          <p:cNvPr id="6" name="5 Dikdörtgen"/>
          <p:cNvSpPr/>
          <p:nvPr/>
        </p:nvSpPr>
        <p:spPr>
          <a:xfrm>
            <a:off x="609600" y="1587883"/>
            <a:ext cx="7429500" cy="707886"/>
          </a:xfrm>
          <a:prstGeom prst="rect">
            <a:avLst/>
          </a:prstGeom>
        </p:spPr>
        <p:txBody>
          <a:bodyPr wrap="square">
            <a:spAutoFit/>
          </a:bodyPr>
          <a:lstStyle/>
          <a:p>
            <a:pPr algn="ctr"/>
            <a:r>
              <a:rPr lang="tr-TR" sz="2000" dirty="0"/>
              <a:t>Yazmak eylemini nasıl tanımlarsınız? </a:t>
            </a:r>
          </a:p>
          <a:p>
            <a:pPr algn="ctr"/>
            <a:r>
              <a:rPr lang="tr-TR" sz="2000" dirty="0"/>
              <a:t>Ne zaman, nerede ve niçin yazarız?</a:t>
            </a:r>
          </a:p>
        </p:txBody>
      </p:sp>
      <p:pic>
        <p:nvPicPr>
          <p:cNvPr id="12" name="11 Resim" descr="istockphoto-1334830878-612x612.jpg"/>
          <p:cNvPicPr>
            <a:picLocks noChangeAspect="1"/>
          </p:cNvPicPr>
          <p:nvPr/>
        </p:nvPicPr>
        <p:blipFill>
          <a:blip r:embed="rId3"/>
          <a:stretch>
            <a:fillRect/>
          </a:stretch>
        </p:blipFill>
        <p:spPr>
          <a:xfrm>
            <a:off x="4443417" y="2524125"/>
            <a:ext cx="3595683" cy="2095500"/>
          </a:xfrm>
          <a:prstGeom prst="rect">
            <a:avLst/>
          </a:prstGeom>
        </p:spPr>
      </p:pic>
      <p:pic>
        <p:nvPicPr>
          <p:cNvPr id="13" name="12 Resim" descr="images.png"/>
          <p:cNvPicPr>
            <a:picLocks noChangeAspect="1"/>
          </p:cNvPicPr>
          <p:nvPr/>
        </p:nvPicPr>
        <p:blipFill>
          <a:blip r:embed="rId4"/>
          <a:stretch>
            <a:fillRect/>
          </a:stretch>
        </p:blipFill>
        <p:spPr>
          <a:xfrm>
            <a:off x="771525" y="2476968"/>
            <a:ext cx="2616291" cy="1952156"/>
          </a:xfrm>
          <a:prstGeom prst="rect">
            <a:avLst/>
          </a:prstGeom>
        </p:spPr>
      </p:pic>
    </p:spTree>
    <p:extLst>
      <p:ext uri="{BB962C8B-B14F-4D97-AF65-F5344CB8AC3E}">
        <p14:creationId xmlns:p14="http://schemas.microsoft.com/office/powerpoint/2010/main" xmlns="" val="14388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14 Dikdörtgen"/>
          <p:cNvSpPr/>
          <p:nvPr/>
        </p:nvSpPr>
        <p:spPr>
          <a:xfrm>
            <a:off x="561974" y="1009651"/>
            <a:ext cx="5029200" cy="369332"/>
          </a:xfrm>
          <a:prstGeom prst="rect">
            <a:avLst/>
          </a:prstGeom>
        </p:spPr>
        <p:txBody>
          <a:bodyPr wrap="square">
            <a:spAutoFit/>
          </a:bodyPr>
          <a:lstStyle/>
          <a:p>
            <a:r>
              <a:rPr lang="tr-TR" sz="1800" b="1" dirty="0"/>
              <a:t>1. Yazının Tarihi</a:t>
            </a:r>
            <a:endParaRPr lang="tr-TR" sz="1800" dirty="0"/>
          </a:p>
        </p:txBody>
      </p:sp>
      <p:sp>
        <p:nvSpPr>
          <p:cNvPr id="7" name="6 Dikdörtgen"/>
          <p:cNvSpPr/>
          <p:nvPr/>
        </p:nvSpPr>
        <p:spPr>
          <a:xfrm>
            <a:off x="352425" y="1378983"/>
            <a:ext cx="8258175" cy="3139321"/>
          </a:xfrm>
          <a:prstGeom prst="rect">
            <a:avLst/>
          </a:prstGeom>
        </p:spPr>
        <p:txBody>
          <a:bodyPr wrap="square">
            <a:spAutoFit/>
          </a:bodyPr>
          <a:lstStyle/>
          <a:p>
            <a:pPr algn="just"/>
            <a:r>
              <a:rPr lang="tr-TR" sz="1800" dirty="0"/>
              <a:t>İnsanın dört temel dil becerisi vardır: konuşma, dinleme, okuma ve yazma. Bu becerilere baktığımızda yazma becerisi son sırada yer alır. İlköğrenimden akademik hayata uzanan ve yaşam boyu süren bir beceri olan yazma becerisinde, kişi daha fazla çaba gösterir. Yazma becerisi sayesinde insan, dünya üzerindeki birikimini nesilden nesle aktarabilmiş; bilginin depolanmasını ve saklanmasını sağlamıştır. Yazma becerisi, üst düzey bilişsel süreçlerin kullanılmasını gerekli kılar. Yazı, insanın düşünme biçimlerini ve hayatını doğrudan etkilemiştir. Sözün yazı ile kayıt altına alınışı, yazının icat edildiği milattan önceki yüzyıllara uzanır. Yazının icadı, insanlık tarihine başlangıç alınır, tarih öncesi devirler yazının bulunmasıyla sonlandırılır ve tarihî devirler yazı ile başlatılır.</a:t>
            </a:r>
          </a:p>
          <a:p>
            <a:endParaRPr lang="tr-TR" sz="1800" dirty="0"/>
          </a:p>
        </p:txBody>
      </p:sp>
    </p:spTree>
    <p:extLst>
      <p:ext uri="{BB962C8B-B14F-4D97-AF65-F5344CB8AC3E}">
        <p14:creationId xmlns:p14="http://schemas.microsoft.com/office/powerpoint/2010/main" xmlns="" val="66864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12 Dikdörtgen"/>
          <p:cNvSpPr/>
          <p:nvPr/>
        </p:nvSpPr>
        <p:spPr>
          <a:xfrm>
            <a:off x="428626" y="1085849"/>
            <a:ext cx="4924424" cy="1077218"/>
          </a:xfrm>
          <a:prstGeom prst="rect">
            <a:avLst/>
          </a:prstGeom>
        </p:spPr>
        <p:txBody>
          <a:bodyPr wrap="square">
            <a:spAutoFit/>
          </a:bodyPr>
          <a:lstStyle/>
          <a:p>
            <a:pPr algn="just"/>
            <a:r>
              <a:rPr lang="tr-TR" sz="1600" dirty="0"/>
              <a:t>Bugün yazı modern insanın yaşamının ayrılmaz bir parçasıdır. Böyle olmakla birlikte </a:t>
            </a:r>
            <a:r>
              <a:rPr lang="tr-TR" sz="1600" dirty="0" err="1"/>
              <a:t>Walter</a:t>
            </a:r>
            <a:r>
              <a:rPr lang="tr-TR" sz="1600" dirty="0"/>
              <a:t> </a:t>
            </a:r>
            <a:r>
              <a:rPr lang="tr-TR" sz="1600" dirty="0" err="1"/>
              <a:t>Ong</a:t>
            </a:r>
            <a:r>
              <a:rPr lang="tr-TR" sz="1600" dirty="0"/>
              <a:t>, “</a:t>
            </a:r>
            <a:r>
              <a:rPr lang="tr-TR" sz="1600" b="1" dirty="0"/>
              <a:t>yazı bir teknolojidir</a:t>
            </a:r>
            <a:r>
              <a:rPr lang="tr-TR" sz="1600" dirty="0"/>
              <a:t>” derken insanın zihin yapısını değiştirdiğini vurgular. </a:t>
            </a:r>
          </a:p>
        </p:txBody>
      </p:sp>
      <p:pic>
        <p:nvPicPr>
          <p:cNvPr id="10" name="9 Resim" descr="ong_walter.jpg"/>
          <p:cNvPicPr>
            <a:picLocks noChangeAspect="1"/>
          </p:cNvPicPr>
          <p:nvPr/>
        </p:nvPicPr>
        <p:blipFill>
          <a:blip r:embed="rId3"/>
          <a:stretch>
            <a:fillRect/>
          </a:stretch>
        </p:blipFill>
        <p:spPr>
          <a:xfrm>
            <a:off x="1711070" y="2153005"/>
            <a:ext cx="2375154" cy="2375154"/>
          </a:xfrm>
          <a:prstGeom prst="rect">
            <a:avLst/>
          </a:prstGeom>
        </p:spPr>
      </p:pic>
      <p:pic>
        <p:nvPicPr>
          <p:cNvPr id="11" name="10 Resim" descr="Kitap_2019041516594610.jpg"/>
          <p:cNvPicPr>
            <a:picLocks noChangeAspect="1"/>
          </p:cNvPicPr>
          <p:nvPr/>
        </p:nvPicPr>
        <p:blipFill>
          <a:blip r:embed="rId4"/>
          <a:stretch>
            <a:fillRect/>
          </a:stretch>
        </p:blipFill>
        <p:spPr>
          <a:xfrm>
            <a:off x="5905418" y="849219"/>
            <a:ext cx="2457532" cy="3678940"/>
          </a:xfrm>
          <a:prstGeom prst="rect">
            <a:avLst/>
          </a:prstGeom>
        </p:spPr>
      </p:pic>
    </p:spTree>
    <p:extLst>
      <p:ext uri="{BB962C8B-B14F-4D97-AF65-F5344CB8AC3E}">
        <p14:creationId xmlns:p14="http://schemas.microsoft.com/office/powerpoint/2010/main" xmlns="" val="58909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pic>
        <p:nvPicPr>
          <p:cNvPr id="10" name="9 Resim" descr="matbaa-ilk.jpg"/>
          <p:cNvPicPr>
            <a:picLocks noChangeAspect="1"/>
          </p:cNvPicPr>
          <p:nvPr/>
        </p:nvPicPr>
        <p:blipFill>
          <a:blip r:embed="rId3"/>
          <a:stretch>
            <a:fillRect/>
          </a:stretch>
        </p:blipFill>
        <p:spPr>
          <a:xfrm>
            <a:off x="-38211" y="3771900"/>
            <a:ext cx="1679036" cy="1221559"/>
          </a:xfrm>
          <a:prstGeom prst="rect">
            <a:avLst/>
          </a:prstGeom>
        </p:spPr>
      </p:pic>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1476260" y="981075"/>
            <a:ext cx="4836532" cy="3785652"/>
          </a:xfrm>
          <a:prstGeom prst="rect">
            <a:avLst/>
          </a:prstGeom>
        </p:spPr>
        <p:txBody>
          <a:bodyPr wrap="square">
            <a:spAutoFit/>
          </a:bodyPr>
          <a:lstStyle/>
          <a:p>
            <a:pPr algn="just"/>
            <a:r>
              <a:rPr lang="tr-TR" sz="2000" dirty="0"/>
              <a:t>“Yazının keşfi kadar matbaanın icadı da dünya tarihinde etkin rol oynamıştır.” Yazının bazı tekniklerle çoğaltılması bazı toplumlarca bilinse de asıl “15. yüzyılda Gutenberg’in yaptığı mekanik matbaa” sayesinde yazının yayılması hızlanmıştır.</a:t>
            </a:r>
          </a:p>
          <a:p>
            <a:pPr algn="r"/>
            <a:r>
              <a:rPr lang="tr-TR" sz="2000" dirty="0"/>
              <a:t>S. </a:t>
            </a:r>
            <a:r>
              <a:rPr lang="tr-TR" sz="2000" dirty="0" err="1"/>
              <a:t>Altuntek</a:t>
            </a:r>
            <a:endParaRPr lang="tr-TR" sz="2000" dirty="0"/>
          </a:p>
          <a:p>
            <a:r>
              <a:rPr lang="tr-TR" sz="2000" dirty="0"/>
              <a:t>Mekanik matbaa tipografiye dayalı üretimi desteklerken kaligrafi sanatı ve becerisi kaybolmuştur.</a:t>
            </a:r>
          </a:p>
          <a:p>
            <a:pPr algn="r"/>
            <a:r>
              <a:rPr lang="tr-TR" sz="2000" dirty="0"/>
              <a:t>A. Güneş</a:t>
            </a:r>
          </a:p>
          <a:p>
            <a:pPr algn="just"/>
            <a:endParaRPr lang="tr-TR" sz="2000" dirty="0"/>
          </a:p>
        </p:txBody>
      </p:sp>
      <p:pic>
        <p:nvPicPr>
          <p:cNvPr id="11" name="10 Resim" descr="Gutenberg.jpg"/>
          <p:cNvPicPr>
            <a:picLocks noChangeAspect="1"/>
          </p:cNvPicPr>
          <p:nvPr/>
        </p:nvPicPr>
        <p:blipFill>
          <a:blip r:embed="rId4"/>
          <a:stretch>
            <a:fillRect/>
          </a:stretch>
        </p:blipFill>
        <p:spPr>
          <a:xfrm>
            <a:off x="6498081" y="1190625"/>
            <a:ext cx="2030655" cy="2581275"/>
          </a:xfrm>
          <a:prstGeom prst="rect">
            <a:avLst/>
          </a:prstGeom>
        </p:spPr>
      </p:pic>
      <p:sp>
        <p:nvSpPr>
          <p:cNvPr id="12" name="11 Dikdörtgen"/>
          <p:cNvSpPr/>
          <p:nvPr/>
        </p:nvSpPr>
        <p:spPr>
          <a:xfrm>
            <a:off x="6312792" y="3921941"/>
            <a:ext cx="2620269" cy="300082"/>
          </a:xfrm>
          <a:prstGeom prst="rect">
            <a:avLst/>
          </a:prstGeom>
        </p:spPr>
        <p:txBody>
          <a:bodyPr wrap="none">
            <a:spAutoFit/>
          </a:bodyPr>
          <a:lstStyle/>
          <a:p>
            <a:r>
              <a:rPr lang="tr-TR" b="1" dirty="0" err="1"/>
              <a:t>Johannes</a:t>
            </a:r>
            <a:r>
              <a:rPr lang="tr-TR" b="1" dirty="0"/>
              <a:t> Gutenberg (1398-1468)</a:t>
            </a:r>
          </a:p>
        </p:txBody>
      </p:sp>
    </p:spTree>
    <p:extLst>
      <p:ext uri="{BB962C8B-B14F-4D97-AF65-F5344CB8AC3E}">
        <p14:creationId xmlns:p14="http://schemas.microsoft.com/office/powerpoint/2010/main" xmlns="" val="1994271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33376" y="1400538"/>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22530" name="Rectangle 2"/>
          <p:cNvSpPr>
            <a:spLocks noChangeArrowheads="1"/>
          </p:cNvSpPr>
          <p:nvPr/>
        </p:nvSpPr>
        <p:spPr bwMode="auto">
          <a:xfrm>
            <a:off x="490601" y="1119186"/>
            <a:ext cx="5662549"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lang="tr-TR" sz="2000" dirty="0"/>
              <a:t>Tipografi kültürü ise basılı kültüre işaret eder. Bugün dijital dünyada dijital okur, dijital yazar, dijital yerli vs. kavramlarla karşılaşıyoruz. </a:t>
            </a:r>
            <a:r>
              <a:rPr lang="tr-TR" sz="2000" dirty="0" err="1"/>
              <a:t>Neil</a:t>
            </a:r>
            <a:r>
              <a:rPr lang="tr-TR" sz="2000" dirty="0"/>
              <a:t> </a:t>
            </a:r>
            <a:r>
              <a:rPr lang="tr-TR" sz="2000" dirty="0" err="1"/>
              <a:t>Postman</a:t>
            </a:r>
            <a:r>
              <a:rPr lang="tr-TR" sz="2000" dirty="0"/>
              <a:t>, basılı kültürün insanını </a:t>
            </a:r>
            <a:r>
              <a:rPr lang="tr-TR" sz="2000" dirty="0" err="1"/>
              <a:t>tipografik</a:t>
            </a:r>
            <a:r>
              <a:rPr lang="tr-TR" sz="2000" dirty="0"/>
              <a:t> insan olarak tanımlar. Tipografi, </a:t>
            </a:r>
            <a:r>
              <a:rPr lang="tr-TR" sz="2000" i="1" dirty="0"/>
              <a:t>Güncel Türkçe </a:t>
            </a:r>
            <a:r>
              <a:rPr lang="tr-TR" sz="2000" i="1" dirty="0" err="1"/>
              <a:t>Sözlük</a:t>
            </a:r>
            <a:r>
              <a:rPr lang="tr-TR" sz="2000" dirty="0" err="1"/>
              <a:t>’te</a:t>
            </a:r>
            <a:r>
              <a:rPr lang="tr-TR" sz="2000" dirty="0"/>
              <a:t>, “basım, kabartma biçimlerle ilgili baskı yöntemi; tipografya” şeklinde açıklanmaktadır. </a:t>
            </a:r>
            <a:r>
              <a:rPr lang="tr-TR" sz="2000" dirty="0" err="1"/>
              <a:t>Tipografik</a:t>
            </a:r>
            <a:r>
              <a:rPr lang="tr-TR" sz="2000" dirty="0"/>
              <a:t> insan, “mesafeli, analitik düşünen, mantığa bağlı, çelişkiden nefret eden insan tipi” (</a:t>
            </a:r>
            <a:r>
              <a:rPr lang="tr-TR" sz="2000" dirty="0" err="1"/>
              <a:t>Postman</a:t>
            </a:r>
            <a:r>
              <a:rPr lang="tr-TR" sz="2000" dirty="0"/>
              <a:t>, 2020, s.77) olarak tanımlanır. Tipografi yani matbaa, “gerçekte zihnin içeriğini” (</a:t>
            </a:r>
            <a:r>
              <a:rPr lang="tr-TR" sz="2000" dirty="0" err="1"/>
              <a:t>Postman</a:t>
            </a:r>
            <a:r>
              <a:rPr lang="tr-TR" sz="2000" dirty="0"/>
              <a:t>, 1995, s.134) değiştirdi. </a:t>
            </a:r>
          </a:p>
        </p:txBody>
      </p:sp>
      <p:pic>
        <p:nvPicPr>
          <p:cNvPr id="7" name="6 Resim" descr="3880_Neil_Postman955.jpg"/>
          <p:cNvPicPr>
            <a:picLocks noChangeAspect="1"/>
          </p:cNvPicPr>
          <p:nvPr/>
        </p:nvPicPr>
        <p:blipFill>
          <a:blip r:embed="rId3"/>
          <a:stretch>
            <a:fillRect/>
          </a:stretch>
        </p:blipFill>
        <p:spPr>
          <a:xfrm>
            <a:off x="6359472" y="1118053"/>
            <a:ext cx="1355726" cy="2033589"/>
          </a:xfrm>
          <a:prstGeom prst="rect">
            <a:avLst/>
          </a:prstGeom>
        </p:spPr>
      </p:pic>
      <p:pic>
        <p:nvPicPr>
          <p:cNvPr id="10" name="9 Resim" descr="wi 800.jpg"/>
          <p:cNvPicPr>
            <a:picLocks noChangeAspect="1"/>
          </p:cNvPicPr>
          <p:nvPr/>
        </p:nvPicPr>
        <p:blipFill>
          <a:blip r:embed="rId4"/>
          <a:srcRect b="14200"/>
          <a:stretch>
            <a:fillRect/>
          </a:stretch>
        </p:blipFill>
        <p:spPr>
          <a:xfrm>
            <a:off x="7542158" y="2623950"/>
            <a:ext cx="1601840" cy="2071875"/>
          </a:xfrm>
          <a:prstGeom prst="rect">
            <a:avLst/>
          </a:prstGeom>
        </p:spPr>
      </p:pic>
      <p:sp>
        <p:nvSpPr>
          <p:cNvPr id="11" name="10 Dikdörtgen"/>
          <p:cNvSpPr/>
          <p:nvPr/>
        </p:nvSpPr>
        <p:spPr>
          <a:xfrm>
            <a:off x="7857114" y="1627017"/>
            <a:ext cx="1115434" cy="507831"/>
          </a:xfrm>
          <a:prstGeom prst="rect">
            <a:avLst/>
          </a:prstGeom>
        </p:spPr>
        <p:txBody>
          <a:bodyPr wrap="none">
            <a:spAutoFit/>
          </a:bodyPr>
          <a:lstStyle/>
          <a:p>
            <a:r>
              <a:rPr lang="tr-TR" dirty="0" err="1"/>
              <a:t>Neil</a:t>
            </a:r>
            <a:r>
              <a:rPr lang="tr-TR" dirty="0"/>
              <a:t> </a:t>
            </a:r>
            <a:r>
              <a:rPr lang="tr-TR" dirty="0" err="1"/>
              <a:t>Postman</a:t>
            </a:r>
            <a:endParaRPr lang="tr-TR" dirty="0"/>
          </a:p>
          <a:p>
            <a:pPr algn="ctr"/>
            <a:r>
              <a:rPr lang="tr-TR" dirty="0"/>
              <a:t>(1931-2003)</a:t>
            </a:r>
          </a:p>
        </p:txBody>
      </p:sp>
    </p:spTree>
    <p:extLst>
      <p:ext uri="{BB962C8B-B14F-4D97-AF65-F5344CB8AC3E}">
        <p14:creationId xmlns:p14="http://schemas.microsoft.com/office/powerpoint/2010/main" xmlns="" val="2130907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graphicFrame>
        <p:nvGraphicFramePr>
          <p:cNvPr id="7" name="6 Diyagram"/>
          <p:cNvGraphicFramePr/>
          <p:nvPr>
            <p:extLst>
              <p:ext uri="{D42A27DB-BD31-4B8C-83A1-F6EECF244321}">
                <p14:modId xmlns:p14="http://schemas.microsoft.com/office/powerpoint/2010/main" xmlns="" val="1495064465"/>
              </p:ext>
            </p:extLst>
          </p:nvPr>
        </p:nvGraphicFramePr>
        <p:xfrm>
          <a:off x="266701" y="590551"/>
          <a:ext cx="8372474" cy="33090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6257" name="Rectangle 1"/>
          <p:cNvSpPr>
            <a:spLocks noChangeArrowheads="1"/>
          </p:cNvSpPr>
          <p:nvPr/>
        </p:nvSpPr>
        <p:spPr bwMode="auto">
          <a:xfrm>
            <a:off x="1466850" y="3714952"/>
            <a:ext cx="69723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800" b="0" i="0" u="none" strike="noStrike" cap="none" normalizeH="0" baseline="0" dirty="0">
                <a:ln>
                  <a:noFill/>
                </a:ln>
                <a:solidFill>
                  <a:srgbClr val="000000"/>
                </a:solidFill>
                <a:effectLst/>
                <a:latin typeface="Arial" pitchFamily="34" charset="0"/>
                <a:cs typeface="Arial" pitchFamily="34" charset="0"/>
              </a:rPr>
              <a:t>Şekil 1: İletişim Araçları Tablosu</a:t>
            </a:r>
            <a:endParaRPr kumimoji="0" lang="tr-T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30907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pic>
        <p:nvPicPr>
          <p:cNvPr id="15" name="14 Resim" descr="collection-free-computer-clipart-32.jpg"/>
          <p:cNvPicPr>
            <a:picLocks noChangeAspect="1"/>
          </p:cNvPicPr>
          <p:nvPr/>
        </p:nvPicPr>
        <p:blipFill>
          <a:blip r:embed="rId3"/>
          <a:stretch>
            <a:fillRect/>
          </a:stretch>
        </p:blipFill>
        <p:spPr>
          <a:xfrm>
            <a:off x="7851278" y="3758809"/>
            <a:ext cx="1127543" cy="1200150"/>
          </a:xfrm>
          <a:prstGeom prst="rect">
            <a:avLst/>
          </a:prstGeom>
        </p:spPr>
      </p:pic>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304800" y="1104900"/>
            <a:ext cx="5810250" cy="3505200"/>
          </a:xfrm>
          <a:prstGeom prst="rect">
            <a:avLst/>
          </a:prstGeom>
        </p:spPr>
        <p:txBody>
          <a:bodyPr vert="horz" lIns="91440" tIns="45720" rIns="91440" bIns="45720" rtlCol="0">
            <a:normAutofit lnSpcReduction="10000"/>
          </a:bodyPr>
          <a:lstStyle/>
          <a:p>
            <a:pPr algn="just"/>
            <a:r>
              <a:rPr lang="tr-TR" sz="2000" dirty="0"/>
              <a:t>İnsanlığın kültür tarihine bakıldığında önce söz, sonra yazı ile iletişim kurulduğunu görüyoruz. Yazı, insanın iletişim kurma isteğinin bir yansımasıdır. İnsanlar önceleri mağara duvarlarına, taşlara, tabletlere yazmaya başlamış; papirüs, parşömen gibi malzemeleri kullanmıştır. Kâğıdın icadı ve yaygınlaşması ise basılı kültürün yaygınlaşmasını sağlamıştır. Telgraf, telefon, radyo, televizyon gibi araçlar da insanın yazıyla ilişkisini değiştiren kitle iletişim araçları olarak dünya iletişim tarihinde önemli roller üstlenmiştir. 20.yüzyılın ikinci yarısında ise internet yaşamımızda etkili olmaya başlamıştır. </a:t>
            </a:r>
          </a:p>
        </p:txBody>
      </p:sp>
      <p:pic>
        <p:nvPicPr>
          <p:cNvPr id="94210" name="Picture 2" descr="Papirus Clipart | Free Images at Clker.com - vector clip art online,  royalty free &amp;amp; public domain"/>
          <p:cNvPicPr>
            <a:picLocks noChangeAspect="1" noChangeArrowheads="1"/>
          </p:cNvPicPr>
          <p:nvPr/>
        </p:nvPicPr>
        <p:blipFill>
          <a:blip r:embed="rId4"/>
          <a:srcRect r="13899" b="6281"/>
          <a:stretch>
            <a:fillRect/>
          </a:stretch>
        </p:blipFill>
        <p:spPr bwMode="auto">
          <a:xfrm>
            <a:off x="6853911" y="1378555"/>
            <a:ext cx="889913" cy="1026834"/>
          </a:xfrm>
          <a:prstGeom prst="rect">
            <a:avLst/>
          </a:prstGeom>
          <a:noFill/>
        </p:spPr>
      </p:pic>
      <p:sp>
        <p:nvSpPr>
          <p:cNvPr id="94212" name="AutoShape 4" descr="Çalan telefona Küçük Resim Bedava İndir"/>
          <p:cNvSpPr>
            <a:spLocks noChangeAspect="1" noChangeArrowheads="1"/>
          </p:cNvSpPr>
          <p:nvPr/>
        </p:nvSpPr>
        <p:spPr bwMode="auto">
          <a:xfrm>
            <a:off x="155575" y="-822325"/>
            <a:ext cx="1762125" cy="1714500"/>
          </a:xfrm>
          <a:prstGeom prst="rect">
            <a:avLst/>
          </a:prstGeom>
          <a:noFill/>
        </p:spPr>
        <p:txBody>
          <a:bodyPr vert="horz" wrap="square" lIns="91440" tIns="45720" rIns="91440" bIns="45720" numCol="1" anchor="t" anchorCtr="0" compatLnSpc="1">
            <a:prstTxWarp prst="textNoShape">
              <a:avLst/>
            </a:prstTxWarp>
          </a:bodyPr>
          <a:lstStyle/>
          <a:p>
            <a:endParaRPr lang="tr-TR"/>
          </a:p>
        </p:txBody>
      </p:sp>
      <p:sp>
        <p:nvSpPr>
          <p:cNvPr id="94214" name="AutoShape 6" descr="Çalan telefona Küçük Resim Bedava İndir"/>
          <p:cNvSpPr>
            <a:spLocks noChangeAspect="1" noChangeArrowheads="1"/>
          </p:cNvSpPr>
          <p:nvPr/>
        </p:nvSpPr>
        <p:spPr bwMode="auto">
          <a:xfrm>
            <a:off x="155575" y="-822325"/>
            <a:ext cx="1762125" cy="1714500"/>
          </a:xfrm>
          <a:prstGeom prst="rect">
            <a:avLst/>
          </a:prstGeom>
          <a:noFill/>
        </p:spPr>
        <p:txBody>
          <a:bodyPr vert="horz" wrap="square" lIns="91440" tIns="45720" rIns="91440" bIns="45720" numCol="1" anchor="t" anchorCtr="0" compatLnSpc="1">
            <a:prstTxWarp prst="textNoShape">
              <a:avLst/>
            </a:prstTxWarp>
          </a:bodyPr>
          <a:lstStyle/>
          <a:p>
            <a:endParaRPr lang="tr-TR"/>
          </a:p>
        </p:txBody>
      </p:sp>
      <p:sp>
        <p:nvSpPr>
          <p:cNvPr id="94216" name="AutoShape 8" descr="Çalan telefona Küçük Resim Bedava İndir"/>
          <p:cNvSpPr>
            <a:spLocks noChangeAspect="1" noChangeArrowheads="1"/>
          </p:cNvSpPr>
          <p:nvPr/>
        </p:nvSpPr>
        <p:spPr bwMode="auto">
          <a:xfrm>
            <a:off x="155575" y="-822325"/>
            <a:ext cx="1762125" cy="1714500"/>
          </a:xfrm>
          <a:prstGeom prst="rect">
            <a:avLst/>
          </a:prstGeom>
          <a:noFill/>
        </p:spPr>
        <p:txBody>
          <a:bodyPr vert="horz" wrap="square" lIns="91440" tIns="45720" rIns="91440" bIns="45720" numCol="1" anchor="t" anchorCtr="0" compatLnSpc="1">
            <a:prstTxWarp prst="textNoShape">
              <a:avLst/>
            </a:prstTxWarp>
          </a:bodyPr>
          <a:lstStyle/>
          <a:p>
            <a:endParaRPr lang="tr-TR"/>
          </a:p>
        </p:txBody>
      </p:sp>
      <p:sp>
        <p:nvSpPr>
          <p:cNvPr id="94218" name="AutoShape 10" descr="Free Pictures Of The Telephone, Download Free Pictures Of The Telephone png  images, Free ClipArts on Clipart Library"/>
          <p:cNvSpPr>
            <a:spLocks noChangeAspect="1" noChangeArrowheads="1"/>
          </p:cNvSpPr>
          <p:nvPr/>
        </p:nvSpPr>
        <p:spPr bwMode="auto">
          <a:xfrm>
            <a:off x="155575" y="-852488"/>
            <a:ext cx="1485900" cy="1790701"/>
          </a:xfrm>
          <a:prstGeom prst="rect">
            <a:avLst/>
          </a:prstGeom>
          <a:noFill/>
        </p:spPr>
        <p:txBody>
          <a:bodyPr vert="horz" wrap="square" lIns="91440" tIns="45720" rIns="91440" bIns="45720" numCol="1" anchor="t" anchorCtr="0" compatLnSpc="1">
            <a:prstTxWarp prst="textNoShape">
              <a:avLst/>
            </a:prstTxWarp>
          </a:bodyPr>
          <a:lstStyle/>
          <a:p>
            <a:endParaRPr lang="tr-TR"/>
          </a:p>
        </p:txBody>
      </p:sp>
      <p:sp>
        <p:nvSpPr>
          <p:cNvPr id="94220" name="AutoShape 12" descr="Free Pictures Of The Telephone, Download Free Pictures Of The Telephone png  images, Free ClipArts on Clipart Librar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tr-TR"/>
          </a:p>
        </p:txBody>
      </p:sp>
      <p:pic>
        <p:nvPicPr>
          <p:cNvPr id="13" name="12 Resim" descr="index.png"/>
          <p:cNvPicPr>
            <a:picLocks noChangeAspect="1"/>
          </p:cNvPicPr>
          <p:nvPr/>
        </p:nvPicPr>
        <p:blipFill>
          <a:blip r:embed="rId5"/>
          <a:stretch>
            <a:fillRect/>
          </a:stretch>
        </p:blipFill>
        <p:spPr>
          <a:xfrm>
            <a:off x="8164526" y="2620899"/>
            <a:ext cx="802958" cy="963549"/>
          </a:xfrm>
          <a:prstGeom prst="rect">
            <a:avLst/>
          </a:prstGeom>
        </p:spPr>
      </p:pic>
      <p:pic>
        <p:nvPicPr>
          <p:cNvPr id="14" name="13 Resim" descr="boombox-clip-art-free-cliparts-radio-stereo-electronics-tape-player-transparent-png-1697318.png"/>
          <p:cNvPicPr>
            <a:picLocks noChangeAspect="1"/>
          </p:cNvPicPr>
          <p:nvPr/>
        </p:nvPicPr>
        <p:blipFill>
          <a:blip r:embed="rId6"/>
          <a:srcRect l="22013" r="18618"/>
          <a:stretch>
            <a:fillRect/>
          </a:stretch>
        </p:blipFill>
        <p:spPr>
          <a:xfrm>
            <a:off x="8164526" y="1104900"/>
            <a:ext cx="949297" cy="1026833"/>
          </a:xfrm>
          <a:prstGeom prst="rect">
            <a:avLst/>
          </a:prstGeom>
        </p:spPr>
      </p:pic>
      <p:pic>
        <p:nvPicPr>
          <p:cNvPr id="16" name="15 Resim" descr="index.png"/>
          <p:cNvPicPr>
            <a:picLocks noChangeAspect="1"/>
          </p:cNvPicPr>
          <p:nvPr/>
        </p:nvPicPr>
        <p:blipFill>
          <a:blip r:embed="rId7"/>
          <a:stretch>
            <a:fillRect/>
          </a:stretch>
        </p:blipFill>
        <p:spPr>
          <a:xfrm>
            <a:off x="7014132" y="2830568"/>
            <a:ext cx="1150394" cy="861685"/>
          </a:xfrm>
          <a:prstGeom prst="rect">
            <a:avLst/>
          </a:prstGeom>
        </p:spPr>
      </p:pic>
    </p:spTree>
    <p:extLst>
      <p:ext uri="{BB962C8B-B14F-4D97-AF65-F5344CB8AC3E}">
        <p14:creationId xmlns:p14="http://schemas.microsoft.com/office/powerpoint/2010/main" xmlns="" val="2130907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57250" y="3267076"/>
            <a:ext cx="7105650" cy="1563886"/>
          </a:xfrm>
          <a:prstGeom prst="rect">
            <a:avLst/>
          </a:prstGeom>
        </p:spPr>
        <p:txBody>
          <a:bodyPr vert="horz" lIns="91440" tIns="45720" rIns="91440" bIns="45720" rtlCol="0">
            <a:normAutofit lnSpcReduction="10000"/>
          </a:bodyPr>
          <a:lstStyle/>
          <a:p>
            <a:pPr algn="just"/>
            <a:r>
              <a:rPr lang="tr-TR" sz="2000" dirty="0"/>
              <a:t>“Basılı/yazılı kültürün meşakkatli kültürlenme sürecine karşılık internet kolaylıkla tüketilebilen, sözde bilgece, kalıp içerikler sunar. Bugün ayaklı kütüphanelerden tarama motorlarına geçiş dönemi yaşanmaktadır.”</a:t>
            </a:r>
          </a:p>
          <a:p>
            <a:pPr algn="r"/>
            <a:r>
              <a:rPr lang="tr-TR" sz="2000" dirty="0"/>
              <a:t>Nebi Özdemir</a:t>
            </a:r>
          </a:p>
        </p:txBody>
      </p:sp>
      <p:pic>
        <p:nvPicPr>
          <p:cNvPr id="7" name="6 Resim" descr="arama-motoru-cesitleri-nelerdir.jpg"/>
          <p:cNvPicPr>
            <a:picLocks noChangeAspect="1"/>
          </p:cNvPicPr>
          <p:nvPr/>
        </p:nvPicPr>
        <p:blipFill>
          <a:blip r:embed="rId3"/>
          <a:stretch>
            <a:fillRect/>
          </a:stretch>
        </p:blipFill>
        <p:spPr>
          <a:xfrm>
            <a:off x="4486276" y="990925"/>
            <a:ext cx="3638549" cy="1839643"/>
          </a:xfrm>
          <a:prstGeom prst="rect">
            <a:avLst/>
          </a:prstGeom>
        </p:spPr>
      </p:pic>
      <p:pic>
        <p:nvPicPr>
          <p:cNvPr id="11" name="10 Resim" descr="download-library-black-and-white-clipart-library-clipart-black-and-white-1300_1092.jpg"/>
          <p:cNvPicPr>
            <a:picLocks noChangeAspect="1"/>
          </p:cNvPicPr>
          <p:nvPr/>
        </p:nvPicPr>
        <p:blipFill>
          <a:blip r:embed="rId4"/>
          <a:srcRect l="6743" t="9693" b="10216"/>
          <a:stretch>
            <a:fillRect/>
          </a:stretch>
        </p:blipFill>
        <p:spPr>
          <a:xfrm>
            <a:off x="857250" y="990925"/>
            <a:ext cx="2986445" cy="2154436"/>
          </a:xfrm>
          <a:prstGeom prst="rect">
            <a:avLst/>
          </a:prstGeom>
        </p:spPr>
      </p:pic>
    </p:spTree>
    <p:extLst>
      <p:ext uri="{BB962C8B-B14F-4D97-AF65-F5344CB8AC3E}">
        <p14:creationId xmlns:p14="http://schemas.microsoft.com/office/powerpoint/2010/main" xmlns="" val="2130907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400925" cy="2647950"/>
          </a:xfrm>
          <a:prstGeom prst="rect">
            <a:avLst/>
          </a:prstGeom>
        </p:spPr>
        <p:txBody>
          <a:bodyPr vert="horz" lIns="91440" tIns="45720" rIns="91440" bIns="45720" rtlCol="0">
            <a:normAutofit lnSpcReduction="10000"/>
          </a:bodyPr>
          <a:lstStyle/>
          <a:p>
            <a:pPr algn="just"/>
            <a:r>
              <a:rPr lang="tr-TR" sz="2000" b="1" dirty="0"/>
              <a:t>Sıra Sizde</a:t>
            </a:r>
            <a:r>
              <a:rPr lang="tr-TR" sz="2000" dirty="0"/>
              <a:t>:</a:t>
            </a:r>
          </a:p>
          <a:p>
            <a:pPr algn="just"/>
            <a:endParaRPr lang="tr-TR" sz="2000" dirty="0"/>
          </a:p>
          <a:p>
            <a:pPr algn="just"/>
            <a:r>
              <a:rPr lang="tr-TR" sz="2000" dirty="0"/>
              <a:t>21. yüzyılda yazma alışkanlıkları teknolojik gelişmelerden nasıl etkilenmiştir?</a:t>
            </a:r>
          </a:p>
          <a:p>
            <a:pPr algn="just"/>
            <a:r>
              <a:rPr lang="tr-TR" sz="2000" dirty="0"/>
              <a:t>Sanal mecralarda yazarken nelere dikkat etmeliyiz? </a:t>
            </a:r>
          </a:p>
          <a:p>
            <a:pPr algn="just"/>
            <a:endParaRPr lang="tr-TR" sz="2000" dirty="0"/>
          </a:p>
          <a:p>
            <a:pPr algn="just"/>
            <a:r>
              <a:rPr lang="tr-TR" sz="2000" dirty="0"/>
              <a:t>Günümüzde sanal ortamlarda, sosyal medya araçlarında yazı yazmaya devam ediyoruz. Kâğıdın yarattığı basılı kültürün yanı sıra dijital ortamlarda da yazı yazılmaya devam ediliyor. </a:t>
            </a:r>
          </a:p>
          <a:p>
            <a:pPr algn="just"/>
            <a:endParaRPr lang="tr-TR" sz="2000" dirty="0"/>
          </a:p>
        </p:txBody>
      </p:sp>
    </p:spTree>
    <p:extLst>
      <p:ext uri="{BB962C8B-B14F-4D97-AF65-F5344CB8AC3E}">
        <p14:creationId xmlns:p14="http://schemas.microsoft.com/office/powerpoint/2010/main" xmlns="" val="213090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347726" y="2428875"/>
            <a:ext cx="5024374" cy="2298094"/>
          </a:xfrm>
          <a:prstGeom prst="rect">
            <a:avLst/>
          </a:prstGeom>
        </p:spPr>
        <p:txBody>
          <a:bodyPr vert="horz" lIns="91440" tIns="45720" rIns="91440" bIns="45720" rtlCol="0">
            <a:normAutofit lnSpcReduction="10000"/>
          </a:bodyPr>
          <a:lstStyle/>
          <a:p>
            <a:pPr algn="just"/>
            <a:r>
              <a:rPr lang="tr-TR" sz="2000" b="1" dirty="0"/>
              <a:t>Yazmak Eyleminin Tanımı</a:t>
            </a:r>
          </a:p>
          <a:p>
            <a:pPr algn="just"/>
            <a:r>
              <a:rPr lang="tr-TR" sz="2000" i="1" dirty="0"/>
              <a:t>Güncel Türkçe </a:t>
            </a:r>
            <a:r>
              <a:rPr lang="tr-TR" sz="2000" i="1" dirty="0" err="1"/>
              <a:t>Sözlük</a:t>
            </a:r>
            <a:r>
              <a:rPr lang="tr-TR" sz="2000" dirty="0" err="1"/>
              <a:t>’te</a:t>
            </a:r>
            <a:r>
              <a:rPr lang="tr-TR" sz="2000" dirty="0"/>
              <a:t>, “yazmak”, “söz ve düşünceyi özel işaret veya harflerle anlatmak” şeklinde tanımlanmıştır. Yazma, “bilişsel, sosyal, fiziksel ve psikolojik süreçlerden” (Tiryaki,  2021, s.132) oluşan bir eylemdir. Alanyazında farklı araştırmacıların yaptıkları tanımlar da vardır.</a:t>
            </a:r>
          </a:p>
        </p:txBody>
      </p:sp>
      <p:pic>
        <p:nvPicPr>
          <p:cNvPr id="7" name="6 Resim" descr="istockphoto-938415086-612x612.jpg"/>
          <p:cNvPicPr>
            <a:picLocks noChangeAspect="1"/>
          </p:cNvPicPr>
          <p:nvPr/>
        </p:nvPicPr>
        <p:blipFill>
          <a:blip r:embed="rId3"/>
          <a:stretch>
            <a:fillRect/>
          </a:stretch>
        </p:blipFill>
        <p:spPr>
          <a:xfrm>
            <a:off x="5664804" y="1083281"/>
            <a:ext cx="3326794" cy="3326794"/>
          </a:xfrm>
          <a:prstGeom prst="rect">
            <a:avLst/>
          </a:prstGeom>
        </p:spPr>
      </p:pic>
      <p:pic>
        <p:nvPicPr>
          <p:cNvPr id="11" name="10 Resim" descr="istockphoto-1281246443-612x612.jpg"/>
          <p:cNvPicPr>
            <a:picLocks noChangeAspect="1"/>
          </p:cNvPicPr>
          <p:nvPr/>
        </p:nvPicPr>
        <p:blipFill>
          <a:blip r:embed="rId4"/>
          <a:stretch>
            <a:fillRect/>
          </a:stretch>
        </p:blipFill>
        <p:spPr>
          <a:xfrm>
            <a:off x="142875" y="621921"/>
            <a:ext cx="2075687" cy="1383791"/>
          </a:xfrm>
          <a:prstGeom prst="rect">
            <a:avLst/>
          </a:prstGeom>
        </p:spPr>
      </p:pic>
      <p:pic>
        <p:nvPicPr>
          <p:cNvPr id="59394" name="Picture 2" descr="Çocuk, çocuk, çocuk, kafasında ara bağlantılar olan kişi silueti. Yaratıcılık, eğitim kavramı. Vektör çizimi vektör sanat illüstrasyonu"/>
          <p:cNvPicPr>
            <a:picLocks noChangeAspect="1" noChangeArrowheads="1"/>
          </p:cNvPicPr>
          <p:nvPr/>
        </p:nvPicPr>
        <p:blipFill>
          <a:blip r:embed="rId5"/>
          <a:srcRect/>
          <a:stretch>
            <a:fillRect/>
          </a:stretch>
        </p:blipFill>
        <p:spPr bwMode="auto">
          <a:xfrm>
            <a:off x="4291182" y="743804"/>
            <a:ext cx="1080918" cy="1261908"/>
          </a:xfrm>
          <a:prstGeom prst="rect">
            <a:avLst/>
          </a:prstGeom>
          <a:noFill/>
        </p:spPr>
      </p:pic>
      <p:sp>
        <p:nvSpPr>
          <p:cNvPr id="59398" name="AutoShape 6" descr="Free Writing Book Cliparts, Download Free Writing Book Cliparts png images, Free  ClipArts on Clipart Librar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tr-TR"/>
          </a:p>
        </p:txBody>
      </p:sp>
      <p:pic>
        <p:nvPicPr>
          <p:cNvPr id="13" name="12 Resim" descr="index.jpg"/>
          <p:cNvPicPr>
            <a:picLocks noChangeAspect="1"/>
          </p:cNvPicPr>
          <p:nvPr/>
        </p:nvPicPr>
        <p:blipFill>
          <a:blip r:embed="rId6"/>
          <a:stretch>
            <a:fillRect/>
          </a:stretch>
        </p:blipFill>
        <p:spPr>
          <a:xfrm>
            <a:off x="2401097" y="650287"/>
            <a:ext cx="1723228" cy="1355425"/>
          </a:xfrm>
          <a:prstGeom prst="rect">
            <a:avLst/>
          </a:prstGeom>
        </p:spPr>
      </p:pic>
    </p:spTree>
    <p:extLst>
      <p:ext uri="{BB962C8B-B14F-4D97-AF65-F5344CB8AC3E}">
        <p14:creationId xmlns:p14="http://schemas.microsoft.com/office/powerpoint/2010/main" xmlns="" val="2130907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772400" cy="3333750"/>
          </a:xfrm>
          <a:prstGeom prst="rect">
            <a:avLst/>
          </a:prstGeom>
        </p:spPr>
        <p:txBody>
          <a:bodyPr vert="horz" lIns="91440" tIns="45720" rIns="91440" bIns="45720" rtlCol="0">
            <a:normAutofit/>
          </a:bodyPr>
          <a:lstStyle/>
          <a:p>
            <a:pPr algn="just"/>
            <a:r>
              <a:rPr lang="tr-TR" sz="2000" dirty="0"/>
              <a:t>Özetle “</a:t>
            </a:r>
            <a:r>
              <a:rPr lang="tr-TR" sz="2000" dirty="0" err="1"/>
              <a:t>yazma”yı</a:t>
            </a:r>
            <a:r>
              <a:rPr lang="tr-TR" sz="2000" dirty="0"/>
              <a:t>, insanın duygu ve düşüncelerini aktardığı, bilişsel ve duyuşsal süreçlerin işlediği bir eylem süreci olarak tanımlayabiliriz. Yazı bir sistem olarak tanımlanırsa yazmak da duygu ve düşüncelerin organize edilerek bu sistemle yansıtılması ve görünür kılınmasıdır. </a:t>
            </a:r>
          </a:p>
          <a:p>
            <a:pPr algn="just"/>
            <a:endParaRPr lang="tr-TR" sz="2000" dirty="0"/>
          </a:p>
          <a:p>
            <a:pPr algn="just"/>
            <a:r>
              <a:rPr lang="tr-TR" sz="2000" dirty="0"/>
              <a:t>Yazma öğretiminde amaç bireyin duygularını, düşüncelerini ve konuya dair görüşlerini nasıl yansıtacağını göstermektir. Yazma becerisi öğretilirken kişinin kendi ihtiyaçları doğrultusunda hangi türde yazabileceği, nasıl bir yazı yazacağı, hangi amaçla ve niçin yazdığı gibi konularda farkındalık kazandırılmalıdır. </a:t>
            </a:r>
          </a:p>
        </p:txBody>
      </p:sp>
    </p:spTree>
    <p:extLst>
      <p:ext uri="{BB962C8B-B14F-4D97-AF65-F5344CB8AC3E}">
        <p14:creationId xmlns:p14="http://schemas.microsoft.com/office/powerpoint/2010/main" xmlns="" val="2130907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342900" y="1257300"/>
            <a:ext cx="8486775" cy="2647950"/>
          </a:xfrm>
          <a:prstGeom prst="rect">
            <a:avLst/>
          </a:prstGeom>
        </p:spPr>
        <p:txBody>
          <a:bodyPr vert="horz" lIns="91440" tIns="45720" rIns="91440" bIns="45720" rtlCol="0">
            <a:normAutofit fontScale="85000" lnSpcReduction="10000"/>
          </a:bodyPr>
          <a:lstStyle/>
          <a:p>
            <a:pPr algn="just"/>
            <a:r>
              <a:rPr lang="tr-TR" sz="2000" dirty="0"/>
              <a:t>Yazmak, dil becerilerinin son halkasıdır. Konuşma, dinleme, okuma becerilerinden sonra gelir; bu üç beceri de yazma becerisinin inşasında etkilidir. İnsan, başka insanların görüşlerini ve bakış açılarını dinleyerek kendi bilgilerini zenginleştirebilir; farklı yaşta, meslekte insanların hayata bakış açılarından olumlu ya da olumsuz düşünceleri dinleyerek kendi bakış açısını geliştirebilir. </a:t>
            </a:r>
          </a:p>
          <a:p>
            <a:pPr algn="just"/>
            <a:endParaRPr lang="tr-TR" sz="2000" dirty="0"/>
          </a:p>
          <a:p>
            <a:pPr algn="just"/>
            <a:r>
              <a:rPr lang="tr-TR" sz="2000" dirty="0"/>
              <a:t>Okuma becerisi de insanın zihin gelişimini, sözcük bilgisini ve yazı bilgisini artırır. Konuşmak, doğru sözcükleri seçerek etkili bir anlatım sahibi olmak da yine yazma becerisinde etkilidir. İyi bir konuşmacı, dinleyici ya da okur, her zaman yazma becerisinde daha iyi olacak anlamına </a:t>
            </a:r>
            <a:r>
              <a:rPr lang="tr-TR" sz="2000" dirty="0" smtClean="0"/>
              <a:t>gelmez </a:t>
            </a:r>
            <a:r>
              <a:rPr lang="tr-TR" sz="2000" dirty="0"/>
              <a:t>bu, </a:t>
            </a:r>
            <a:r>
              <a:rPr lang="tr-TR" sz="2000" dirty="0" smtClean="0"/>
              <a:t>ancak söz </a:t>
            </a:r>
            <a:r>
              <a:rPr lang="tr-TR" sz="2000" dirty="0"/>
              <a:t>ve sözün etki gücüne varan birey dil becerileri üzerinde belirli bir yetkinlik kazanmış ise yazma becerisinde gerekli alt yapıyı kazanmış sayılır. </a:t>
            </a:r>
          </a:p>
        </p:txBody>
      </p:sp>
    </p:spTree>
    <p:extLst>
      <p:ext uri="{BB962C8B-B14F-4D97-AF65-F5344CB8AC3E}">
        <p14:creationId xmlns:p14="http://schemas.microsoft.com/office/powerpoint/2010/main" xmlns="" val="2130907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372350" cy="2647950"/>
          </a:xfrm>
          <a:prstGeom prst="rect">
            <a:avLst/>
          </a:prstGeom>
        </p:spPr>
        <p:txBody>
          <a:bodyPr vert="horz" lIns="91440" tIns="45720" rIns="91440" bIns="45720" rtlCol="0">
            <a:normAutofit/>
          </a:bodyPr>
          <a:lstStyle/>
          <a:p>
            <a:pPr algn="just"/>
            <a:r>
              <a:rPr lang="tr-TR" sz="2000" dirty="0"/>
              <a:t>Dilbilgisi kurallarını bilmek, doğru cümle kurmak, deyim ve atasözleri bilgisi fazla olmak gibi nedenler önemli olsa da kişiyi yazmaya iten belirli anlamlı bir amaç olmalıdır. </a:t>
            </a:r>
          </a:p>
          <a:p>
            <a:pPr algn="just"/>
            <a:endParaRPr lang="tr-TR" sz="2000" dirty="0"/>
          </a:p>
          <a:p>
            <a:pPr algn="just"/>
            <a:r>
              <a:rPr lang="tr-TR" sz="2000" dirty="0"/>
              <a:t>Yazarlar kendi yazma süreçleri ile ilgili farklı görüşler ortaya koymuşlardır. Bu örneklere bakalım. </a:t>
            </a:r>
          </a:p>
        </p:txBody>
      </p:sp>
    </p:spTree>
    <p:extLst>
      <p:ext uri="{BB962C8B-B14F-4D97-AF65-F5344CB8AC3E}">
        <p14:creationId xmlns:p14="http://schemas.microsoft.com/office/powerpoint/2010/main" xmlns="" val="2130907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2486025" y="849219"/>
            <a:ext cx="3724275" cy="3751356"/>
          </a:xfrm>
          <a:prstGeom prst="rect">
            <a:avLst/>
          </a:prstGeom>
        </p:spPr>
        <p:txBody>
          <a:bodyPr vert="horz" lIns="91440" tIns="45720" rIns="91440" bIns="45720" rtlCol="0">
            <a:normAutofit/>
          </a:bodyPr>
          <a:lstStyle/>
          <a:p>
            <a:pPr algn="just"/>
            <a:r>
              <a:rPr lang="tr-TR" sz="2000" dirty="0"/>
              <a:t>Örneğin, </a:t>
            </a:r>
            <a:r>
              <a:rPr lang="tr-TR" sz="2000" b="1" dirty="0"/>
              <a:t>Memduh Şevket Esendal</a:t>
            </a:r>
            <a:r>
              <a:rPr lang="tr-TR" sz="2000" dirty="0"/>
              <a:t>, insanın dünyada yaşadığı inkisarlar, üzüntüler nedeniyle kendini avutma isteğinin onu yazmaya ittiğini belirtir.</a:t>
            </a:r>
          </a:p>
          <a:p>
            <a:pPr algn="just"/>
            <a:endParaRPr lang="tr-TR" sz="2000" dirty="0"/>
          </a:p>
          <a:p>
            <a:pPr algn="just"/>
            <a:r>
              <a:rPr lang="tr-TR" sz="2000" b="1" dirty="0"/>
              <a:t>Sait Faik </a:t>
            </a:r>
            <a:r>
              <a:rPr lang="tr-TR" sz="2000" dirty="0"/>
              <a:t>ise </a:t>
            </a:r>
            <a:r>
              <a:rPr lang="tr-TR" sz="2000" i="1" dirty="0"/>
              <a:t>Son Kuşlar</a:t>
            </a:r>
            <a:r>
              <a:rPr lang="tr-TR" sz="2000" dirty="0"/>
              <a:t> öykü kitabında yer alan “Haritada Bir Nokta” adlı öyküsünde “Yazmasam deli olacaktım” (Abasıyanık, 2017, s.73) diyerek kendi yazma nedenini açıklar. </a:t>
            </a:r>
          </a:p>
        </p:txBody>
      </p:sp>
      <p:pic>
        <p:nvPicPr>
          <p:cNvPr id="2050" name="Picture 2" descr="Sait Faik Abasıyanık - Vikipedi"/>
          <p:cNvPicPr>
            <a:picLocks noChangeAspect="1" noChangeArrowheads="1"/>
          </p:cNvPicPr>
          <p:nvPr/>
        </p:nvPicPr>
        <p:blipFill>
          <a:blip r:embed="rId3"/>
          <a:srcRect/>
          <a:stretch>
            <a:fillRect/>
          </a:stretch>
        </p:blipFill>
        <p:spPr bwMode="auto">
          <a:xfrm>
            <a:off x="6386576" y="849219"/>
            <a:ext cx="2381250" cy="3236856"/>
          </a:xfrm>
          <a:prstGeom prst="rect">
            <a:avLst/>
          </a:prstGeom>
          <a:noFill/>
        </p:spPr>
      </p:pic>
      <p:sp>
        <p:nvSpPr>
          <p:cNvPr id="11" name="2 İçerik Yer Tutucusu"/>
          <p:cNvSpPr txBox="1">
            <a:spLocks/>
          </p:cNvSpPr>
          <p:nvPr/>
        </p:nvSpPr>
        <p:spPr>
          <a:xfrm>
            <a:off x="6991350" y="4086075"/>
            <a:ext cx="1647825" cy="342901"/>
          </a:xfrm>
          <a:prstGeom prst="rect">
            <a:avLst/>
          </a:prstGeom>
        </p:spPr>
        <p:txBody>
          <a:bodyPr vert="horz" lIns="91440" tIns="45720" rIns="91440" bIns="45720" rtlCol="0">
            <a:normAutofit fontScale="92500" lnSpcReduction="20000"/>
          </a:bodyPr>
          <a:lstStyle/>
          <a:p>
            <a:pPr algn="ctr"/>
            <a:r>
              <a:rPr lang="tr-TR" sz="2000" dirty="0"/>
              <a:t>(1906-1954)</a:t>
            </a:r>
          </a:p>
        </p:txBody>
      </p:sp>
      <p:pic>
        <p:nvPicPr>
          <p:cNvPr id="2052" name="Picture 4" descr="Memduh Şevket Esendal - Vikipedi"/>
          <p:cNvPicPr>
            <a:picLocks noChangeAspect="1" noChangeArrowheads="1"/>
          </p:cNvPicPr>
          <p:nvPr/>
        </p:nvPicPr>
        <p:blipFill>
          <a:blip r:embed="rId4"/>
          <a:srcRect/>
          <a:stretch>
            <a:fillRect/>
          </a:stretch>
        </p:blipFill>
        <p:spPr bwMode="auto">
          <a:xfrm>
            <a:off x="250825" y="1172919"/>
            <a:ext cx="2235200" cy="2913156"/>
          </a:xfrm>
          <a:prstGeom prst="rect">
            <a:avLst/>
          </a:prstGeom>
          <a:noFill/>
        </p:spPr>
      </p:pic>
      <p:sp>
        <p:nvSpPr>
          <p:cNvPr id="12" name="2 İçerik Yer Tutucusu"/>
          <p:cNvSpPr txBox="1">
            <a:spLocks/>
          </p:cNvSpPr>
          <p:nvPr/>
        </p:nvSpPr>
        <p:spPr>
          <a:xfrm>
            <a:off x="490601" y="4086075"/>
            <a:ext cx="1647825" cy="342901"/>
          </a:xfrm>
          <a:prstGeom prst="rect">
            <a:avLst/>
          </a:prstGeom>
        </p:spPr>
        <p:txBody>
          <a:bodyPr vert="horz" lIns="91440" tIns="45720" rIns="91440" bIns="45720" rtlCol="0">
            <a:normAutofit fontScale="92500" lnSpcReduction="20000"/>
          </a:bodyPr>
          <a:lstStyle/>
          <a:p>
            <a:pPr algn="ctr"/>
            <a:r>
              <a:rPr lang="tr-TR" sz="2000" dirty="0"/>
              <a:t>(1883-1952)</a:t>
            </a:r>
          </a:p>
        </p:txBody>
      </p:sp>
    </p:spTree>
    <p:extLst>
      <p:ext uri="{BB962C8B-B14F-4D97-AF65-F5344CB8AC3E}">
        <p14:creationId xmlns:p14="http://schemas.microsoft.com/office/powerpoint/2010/main" xmlns="" val="213090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2505075" y="849219"/>
            <a:ext cx="4391025" cy="2647950"/>
          </a:xfrm>
          <a:prstGeom prst="rect">
            <a:avLst/>
          </a:prstGeom>
        </p:spPr>
        <p:txBody>
          <a:bodyPr vert="horz" lIns="91440" tIns="45720" rIns="91440" bIns="45720" rtlCol="0">
            <a:normAutofit fontScale="85000" lnSpcReduction="10000"/>
          </a:bodyPr>
          <a:lstStyle/>
          <a:p>
            <a:pPr algn="just"/>
            <a:r>
              <a:rPr lang="tr-TR" sz="2000" b="1" dirty="0"/>
              <a:t>Aziz Nesin</a:t>
            </a:r>
            <a:r>
              <a:rPr lang="tr-TR" sz="2000" dirty="0"/>
              <a:t>, niçin yazıyorsunuz sorusuna “Kendim için yazıyorum” diye cevap verir, “Bir yazarın kendisi için yazmış olması, kendisi bütünüyle halksa, halkıyla bütünleşmişse, halk için yazmasına ters düşmez” şeklinde bu kendilik kavramını açıklar.</a:t>
            </a:r>
          </a:p>
          <a:p>
            <a:pPr algn="just"/>
            <a:endParaRPr lang="tr-TR" sz="2000" dirty="0"/>
          </a:p>
          <a:p>
            <a:pPr algn="just"/>
            <a:r>
              <a:rPr lang="tr-TR" sz="2000" b="1" dirty="0"/>
              <a:t>Tomris Uyar</a:t>
            </a:r>
            <a:r>
              <a:rPr lang="tr-TR" sz="2000" dirty="0"/>
              <a:t>’a göre “Yazı yazmak, iç dünyayı dış dünyaya açmak demekse, gerçek kimliğiniz ancak yazdığınız dünyadan çıkartılabilir.”</a:t>
            </a:r>
          </a:p>
        </p:txBody>
      </p:sp>
      <p:pic>
        <p:nvPicPr>
          <p:cNvPr id="4098" name="Picture 2" descr="Aziz Nesin kimdir? Aziz Nesin&amp;#39;in hayatı"/>
          <p:cNvPicPr>
            <a:picLocks noChangeAspect="1" noChangeArrowheads="1"/>
          </p:cNvPicPr>
          <p:nvPr/>
        </p:nvPicPr>
        <p:blipFill>
          <a:blip r:embed="rId3"/>
          <a:srcRect l="11599" r="11285"/>
          <a:stretch>
            <a:fillRect/>
          </a:stretch>
        </p:blipFill>
        <p:spPr bwMode="auto">
          <a:xfrm>
            <a:off x="161925" y="1218313"/>
            <a:ext cx="2343150" cy="2278856"/>
          </a:xfrm>
          <a:prstGeom prst="rect">
            <a:avLst/>
          </a:prstGeom>
          <a:noFill/>
        </p:spPr>
      </p:pic>
      <p:sp>
        <p:nvSpPr>
          <p:cNvPr id="11" name="2 İçerik Yer Tutucusu"/>
          <p:cNvSpPr txBox="1">
            <a:spLocks/>
          </p:cNvSpPr>
          <p:nvPr/>
        </p:nvSpPr>
        <p:spPr>
          <a:xfrm>
            <a:off x="490601" y="3752850"/>
            <a:ext cx="1647825" cy="342901"/>
          </a:xfrm>
          <a:prstGeom prst="rect">
            <a:avLst/>
          </a:prstGeom>
        </p:spPr>
        <p:txBody>
          <a:bodyPr vert="horz" lIns="91440" tIns="45720" rIns="91440" bIns="45720" rtlCol="0">
            <a:normAutofit fontScale="92500" lnSpcReduction="20000"/>
          </a:bodyPr>
          <a:lstStyle/>
          <a:p>
            <a:pPr algn="ctr"/>
            <a:r>
              <a:rPr lang="tr-TR" sz="2000" dirty="0"/>
              <a:t>(1915-1995)</a:t>
            </a:r>
          </a:p>
        </p:txBody>
      </p:sp>
      <p:pic>
        <p:nvPicPr>
          <p:cNvPr id="12" name="Picture 6" descr="Tomris Hanım&amp;#39;ın çok da gizli olmayan edebi hayatı"/>
          <p:cNvPicPr>
            <a:picLocks noChangeAspect="1" noChangeArrowheads="1"/>
          </p:cNvPicPr>
          <p:nvPr/>
        </p:nvPicPr>
        <p:blipFill>
          <a:blip r:embed="rId4"/>
          <a:srcRect b="18705"/>
          <a:stretch>
            <a:fillRect/>
          </a:stretch>
        </p:blipFill>
        <p:spPr bwMode="auto">
          <a:xfrm>
            <a:off x="7209097" y="1218313"/>
            <a:ext cx="1770322" cy="2152650"/>
          </a:xfrm>
          <a:prstGeom prst="rect">
            <a:avLst/>
          </a:prstGeom>
          <a:noFill/>
        </p:spPr>
      </p:pic>
      <p:sp>
        <p:nvSpPr>
          <p:cNvPr id="13" name="2 İçerik Yer Tutucusu"/>
          <p:cNvSpPr txBox="1">
            <a:spLocks/>
          </p:cNvSpPr>
          <p:nvPr/>
        </p:nvSpPr>
        <p:spPr>
          <a:xfrm>
            <a:off x="7209097" y="3409949"/>
            <a:ext cx="1647825" cy="342901"/>
          </a:xfrm>
          <a:prstGeom prst="rect">
            <a:avLst/>
          </a:prstGeom>
        </p:spPr>
        <p:txBody>
          <a:bodyPr vert="horz" lIns="91440" tIns="45720" rIns="91440" bIns="45720" rtlCol="0">
            <a:normAutofit fontScale="92500" lnSpcReduction="20000"/>
          </a:bodyPr>
          <a:lstStyle/>
          <a:p>
            <a:pPr algn="ctr"/>
            <a:r>
              <a:rPr lang="tr-TR" sz="2000" dirty="0"/>
              <a:t>(1941-2003)</a:t>
            </a:r>
          </a:p>
        </p:txBody>
      </p:sp>
    </p:spTree>
    <p:extLst>
      <p:ext uri="{BB962C8B-B14F-4D97-AF65-F5344CB8AC3E}">
        <p14:creationId xmlns:p14="http://schemas.microsoft.com/office/powerpoint/2010/main" xmlns="" val="2130907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639050" cy="2647950"/>
          </a:xfrm>
          <a:prstGeom prst="rect">
            <a:avLst/>
          </a:prstGeom>
        </p:spPr>
        <p:txBody>
          <a:bodyPr vert="horz" lIns="91440" tIns="45720" rIns="91440" bIns="45720" rtlCol="0">
            <a:normAutofit/>
          </a:bodyPr>
          <a:lstStyle/>
          <a:p>
            <a:pPr algn="just"/>
            <a:r>
              <a:rPr lang="tr-TR" sz="2000" dirty="0"/>
              <a:t>Dünya edebiyatında da yazarlar faklı nedenlerle yazdıklarını izah ederler. </a:t>
            </a:r>
            <a:r>
              <a:rPr lang="tr-TR" sz="2000" dirty="0" err="1"/>
              <a:t>Umberto</a:t>
            </a:r>
            <a:r>
              <a:rPr lang="tr-TR" sz="2000" dirty="0"/>
              <a:t> </a:t>
            </a:r>
            <a:r>
              <a:rPr lang="tr-TR" sz="2000" dirty="0" err="1"/>
              <a:t>Eco</a:t>
            </a:r>
            <a:r>
              <a:rPr lang="tr-TR" sz="2000" dirty="0"/>
              <a:t>, “Çocuklarım büyümüştü, artık kime öykü anlatacağımı bilemiyordum”, </a:t>
            </a:r>
            <a:r>
              <a:rPr lang="tr-TR" sz="2000" dirty="0" err="1"/>
              <a:t>Milan</a:t>
            </a:r>
            <a:r>
              <a:rPr lang="tr-TR" sz="2000" dirty="0"/>
              <a:t> </a:t>
            </a:r>
            <a:r>
              <a:rPr lang="tr-TR" sz="2000" dirty="0" err="1"/>
              <a:t>Kundera</a:t>
            </a:r>
            <a:r>
              <a:rPr lang="tr-TR" sz="2000" dirty="0"/>
              <a:t>, “Kimsenin söylemediğini söylemek zorunda olduğumuz için yazıyorum” derken; William </a:t>
            </a:r>
            <a:r>
              <a:rPr lang="tr-TR" sz="2000" dirty="0" err="1"/>
              <a:t>Golding</a:t>
            </a:r>
            <a:r>
              <a:rPr lang="tr-TR" sz="2000" dirty="0"/>
              <a:t> neden yazdığını “Son elli altmış yıl içinde , bu konuda kesin bir cevap vermek benim için zorlaştı diyebilirim” cümlesiyle ifade eder (Tosun, 2018).</a:t>
            </a:r>
          </a:p>
        </p:txBody>
      </p:sp>
    </p:spTree>
    <p:extLst>
      <p:ext uri="{BB962C8B-B14F-4D97-AF65-F5344CB8AC3E}">
        <p14:creationId xmlns:p14="http://schemas.microsoft.com/office/powerpoint/2010/main" xmlns="" val="2130907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299"/>
            <a:ext cx="7505700" cy="3324225"/>
          </a:xfrm>
          <a:prstGeom prst="rect">
            <a:avLst/>
          </a:prstGeom>
        </p:spPr>
        <p:txBody>
          <a:bodyPr vert="horz" lIns="91440" tIns="45720" rIns="91440" bIns="45720" rtlCol="0">
            <a:normAutofit fontScale="92500" lnSpcReduction="10000"/>
          </a:bodyPr>
          <a:lstStyle/>
          <a:p>
            <a:pPr algn="just"/>
            <a:r>
              <a:rPr lang="tr-TR" sz="2000" dirty="0"/>
              <a:t>Yazmak, bireyin yaşamında olduğu kadar toplumun yaşamında da önemlidir. Okuma ve yazma eylemlerinin toplumsal anlamda gelişmişliğin ve ilerlemenin anahtarı olduğu da açıktır. Yazının kendini ifade etme aracı olduğu düşünülürse bireyin kendini ifade edebildiği bir yapıda yaratıcı faaliyetler artar, iletişim kuvvetlenir. Sosyal bilimlerden fen bilimlerine, günlük yaşamdan akademik hayata geniş bir yelpazede yazma ihtiyacı toplumsal yaşamın bir parçasıdır. Dijital ortamlarda </a:t>
            </a:r>
            <a:r>
              <a:rPr lang="tr-TR" sz="2000" dirty="0" err="1"/>
              <a:t>whatsapp</a:t>
            </a:r>
            <a:r>
              <a:rPr lang="tr-TR" sz="2000" dirty="0"/>
              <a:t>, facebook, twitter vs. gibi mecralarda  yazma becerisinin yeni araçlarla devam ettiğini görüyoruz. Yazma ve okuma becerisinin öneminin arttığı ve haberleşmenin hızının arttığı bu yeni kültür ortamında okuduğunu anlamak kadar okuduğuna cevaben doğru, anlaşılır, meramını yansıtacak bir dil ve üslup ile yazmak da önem kazanmıştır.</a:t>
            </a:r>
          </a:p>
        </p:txBody>
      </p:sp>
    </p:spTree>
    <p:extLst>
      <p:ext uri="{BB962C8B-B14F-4D97-AF65-F5344CB8AC3E}">
        <p14:creationId xmlns:p14="http://schemas.microsoft.com/office/powerpoint/2010/main" xmlns="" val="2130907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610475" cy="2647950"/>
          </a:xfrm>
          <a:prstGeom prst="rect">
            <a:avLst/>
          </a:prstGeom>
        </p:spPr>
        <p:txBody>
          <a:bodyPr vert="horz" lIns="91440" tIns="45720" rIns="91440" bIns="45720" rtlCol="0">
            <a:normAutofit/>
          </a:bodyPr>
          <a:lstStyle/>
          <a:p>
            <a:pPr algn="just"/>
            <a:r>
              <a:rPr lang="tr-TR" sz="2000" b="1" dirty="0"/>
              <a:t>Yazma Becerisi, Yazmanın Fiziksel ve Zihinsel Süreçleri</a:t>
            </a:r>
          </a:p>
          <a:p>
            <a:pPr algn="just"/>
            <a:r>
              <a:rPr lang="tr-TR" sz="2000" dirty="0"/>
              <a:t>Yazma becerisi “dilin semantik yönünün dizgesel biçimde kâğıda aktarılmasıdır” (Tiryaki, 2021, s.131). Yazma becerisi bilişsel ve duyuşsal süreçlerin işlediği bir beceri türüdür. Bilişsel süreçleri zihinsel eylemler şeklinde tanımlayabiliriz. </a:t>
            </a:r>
          </a:p>
          <a:p>
            <a:pPr algn="just"/>
            <a:endParaRPr lang="tr-TR" sz="2000" dirty="0"/>
          </a:p>
          <a:p>
            <a:pPr algn="just"/>
            <a:r>
              <a:rPr lang="tr-TR" sz="2000" dirty="0"/>
              <a:t>Pekiyi bu </a:t>
            </a:r>
            <a:r>
              <a:rPr lang="tr-TR" sz="2000" b="1" dirty="0"/>
              <a:t>bilişsel</a:t>
            </a:r>
            <a:r>
              <a:rPr lang="tr-TR" sz="2000" dirty="0"/>
              <a:t> ve </a:t>
            </a:r>
            <a:r>
              <a:rPr lang="tr-TR" sz="2000" b="1" dirty="0"/>
              <a:t>duyuşsal</a:t>
            </a:r>
            <a:r>
              <a:rPr lang="tr-TR" sz="2000" dirty="0"/>
              <a:t> süreçleri hangi kavramlarla tanımlayabiliriz? </a:t>
            </a:r>
          </a:p>
        </p:txBody>
      </p:sp>
    </p:spTree>
    <p:extLst>
      <p:ext uri="{BB962C8B-B14F-4D97-AF65-F5344CB8AC3E}">
        <p14:creationId xmlns:p14="http://schemas.microsoft.com/office/powerpoint/2010/main" xmlns="" val="2130907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553325" cy="2647950"/>
          </a:xfrm>
          <a:prstGeom prst="rect">
            <a:avLst/>
          </a:prstGeom>
        </p:spPr>
        <p:txBody>
          <a:bodyPr vert="horz" lIns="91440" tIns="45720" rIns="91440" bIns="45720" rtlCol="0">
            <a:normAutofit/>
          </a:bodyPr>
          <a:lstStyle/>
          <a:p>
            <a:pPr algn="just"/>
            <a:r>
              <a:rPr lang="tr-TR" sz="2000" dirty="0"/>
              <a:t>Bilişsel süreçleri “algılama, akıl yürütme, hatırlama, soyutlama ve hayal etme” gibi; duyuşsal süreçleri “acı, sevgi, saygı, korku, coşku ve kıskançlık” (Yıldırım, 2019) gibi davranışlar oluşturur. </a:t>
            </a:r>
          </a:p>
          <a:p>
            <a:pPr algn="just"/>
            <a:endParaRPr lang="tr-TR" sz="2000" dirty="0"/>
          </a:p>
        </p:txBody>
      </p:sp>
    </p:spTree>
    <p:extLst>
      <p:ext uri="{BB962C8B-B14F-4D97-AF65-F5344CB8AC3E}">
        <p14:creationId xmlns:p14="http://schemas.microsoft.com/office/powerpoint/2010/main" xmlns="" val="2130907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371475" y="1257300"/>
            <a:ext cx="8267700" cy="2990850"/>
          </a:xfrm>
          <a:prstGeom prst="rect">
            <a:avLst/>
          </a:prstGeom>
        </p:spPr>
        <p:txBody>
          <a:bodyPr vert="horz" lIns="91440" tIns="45720" rIns="91440" bIns="45720" rtlCol="0">
            <a:normAutofit fontScale="92500"/>
          </a:bodyPr>
          <a:lstStyle/>
          <a:p>
            <a:pPr algn="just"/>
            <a:r>
              <a:rPr lang="tr-TR" sz="2000" dirty="0"/>
              <a:t>Yazının bileşenlerini şöyle sıralayabiliriz: harf, sözcük, sözcük dağarcığı, tümce, tümce bilgisi, paragraf, paragraf bilgisi, konu, konuyu sınırlandırma, yazım ve noktalama vs. Yazmak eyleminin bileşenlerini bilmek, yazmanın gerçekleşmesi için yeterli değildir. Yazmak için zihinsel, sosyal, bilişsel, duyuşsal, fiziksel süreçlerin işlemesi gerekir. Bu işlemlerin geçekleşmesinde </a:t>
            </a:r>
            <a:r>
              <a:rPr lang="tr-TR" sz="2000" b="1" dirty="0"/>
              <a:t>belleğin</a:t>
            </a:r>
            <a:r>
              <a:rPr lang="tr-TR" sz="2000" dirty="0"/>
              <a:t> rolü vardır. Yazma becerisinde bellekteki bilgilerden, gözlemlerden, duyuşlardan, hatıralardan yararlanılabilir. Yaratıcılığın önplanda olduğu hikâye, şiir, roman gibi türlerden bilginin önplanda olduğu makale, tez gibi türlerde dahi okuma amacının anlamlandırılması gibi noktalarda yaşantılardan izler vardır. Konu seçimi, araştırma merakı gibi unsurlar hayatımızda var olan koşullar ve çevremizden etkilenir.</a:t>
            </a:r>
          </a:p>
        </p:txBody>
      </p:sp>
    </p:spTree>
    <p:extLst>
      <p:ext uri="{BB962C8B-B14F-4D97-AF65-F5344CB8AC3E}">
        <p14:creationId xmlns:p14="http://schemas.microsoft.com/office/powerpoint/2010/main" xmlns="" val="2130907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772400" cy="2647950"/>
          </a:xfrm>
          <a:prstGeom prst="rect">
            <a:avLst/>
          </a:prstGeom>
        </p:spPr>
        <p:txBody>
          <a:bodyPr vert="horz" lIns="91440" tIns="45720" rIns="91440" bIns="45720" rtlCol="0">
            <a:normAutofit fontScale="92500" lnSpcReduction="20000"/>
          </a:bodyPr>
          <a:lstStyle/>
          <a:p>
            <a:pPr algn="just"/>
            <a:r>
              <a:rPr lang="tr-TR" sz="2000" dirty="0"/>
              <a:t>Yazma becerisi öğrenilebilen bir beceridir. Yazma, “mekanik değil zihinsel” (</a:t>
            </a:r>
            <a:r>
              <a:rPr lang="tr-TR" sz="2100" dirty="0"/>
              <a:t>Demir, 2013; Tok ve Potur, 2015’ten </a:t>
            </a:r>
            <a:r>
              <a:rPr lang="tr-TR" sz="2100" dirty="0" err="1"/>
              <a:t>akt</a:t>
            </a:r>
            <a:r>
              <a:rPr lang="tr-TR" sz="2100" dirty="0"/>
              <a:t>. Maden, 2021, s. 85) bir süreç izler. Mekanik ifadesi burada kast edilen düşünmeden yapılan kısacası makine gibi anlamındadır. Yazmak için anlamlı bir nedenin yanı sıra yazmanın gerekli bileşenleri </a:t>
            </a:r>
            <a:r>
              <a:rPr lang="tr-TR" sz="2000" dirty="0"/>
              <a:t>konusunda yeterli bilgi donanımına sahip olmak ve nasıl yazılabileceği üzerine gerekli bilgilere vâkıf olmak önemlidir. Sözdizimini, dilbilgisi kurallarını bilmek yazma becerisinde ön koşul olarak önemlidir; ancak yazmak için gerekli zihinsel ve fiziksel süreçlerin işletilmesi gereklidir. Bellek, insanın farkında olduğu ya da olmadığı bilgileri depolayan bir hafıza kartı gibi düşünülebilir. </a:t>
            </a:r>
          </a:p>
        </p:txBody>
      </p:sp>
    </p:spTree>
    <p:extLst>
      <p:ext uri="{BB962C8B-B14F-4D97-AF65-F5344CB8AC3E}">
        <p14:creationId xmlns:p14="http://schemas.microsoft.com/office/powerpoint/2010/main" xmlns="" val="2130907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676275" y="1257299"/>
            <a:ext cx="7620000" cy="3190875"/>
          </a:xfrm>
          <a:prstGeom prst="rect">
            <a:avLst/>
          </a:prstGeom>
          <a:solidFill>
            <a:schemeClr val="bg1"/>
          </a:solidFill>
        </p:spPr>
        <p:txBody>
          <a:bodyPr vert="horz" lIns="91440" tIns="45720" rIns="91440" bIns="45720" rtlCol="0">
            <a:normAutofit fontScale="92500" lnSpcReduction="10000"/>
          </a:bodyPr>
          <a:lstStyle/>
          <a:p>
            <a:pPr algn="just"/>
            <a:r>
              <a:rPr lang="tr-TR" sz="2000" dirty="0"/>
              <a:t>Belleğin depoladığı bilgilerin zihinsel işlemlerden geçirerek yazma sürecinde kullanılması ve anlatma sürecinde belleğin bilişsel işlemlerle ilgili rolü göz önünde alındığında belleğin yazma sürecindeki önemi daha iyi anlaşılır. Belleğin işlevlerini </a:t>
            </a:r>
            <a:r>
              <a:rPr lang="tr-TR" sz="2000" b="1" dirty="0"/>
              <a:t>kodlama</a:t>
            </a:r>
            <a:r>
              <a:rPr lang="tr-TR" sz="2000" dirty="0"/>
              <a:t>, </a:t>
            </a:r>
            <a:r>
              <a:rPr lang="tr-TR" sz="2000" b="1" dirty="0"/>
              <a:t>depolama</a:t>
            </a:r>
            <a:r>
              <a:rPr lang="tr-TR" sz="2000" dirty="0"/>
              <a:t> ve </a:t>
            </a:r>
            <a:r>
              <a:rPr lang="tr-TR" sz="2000" b="1" dirty="0"/>
              <a:t>geri getirme</a:t>
            </a:r>
            <a:r>
              <a:rPr lang="tr-TR" sz="2000" dirty="0"/>
              <a:t> olarak tanımlayabiliriz. </a:t>
            </a:r>
            <a:r>
              <a:rPr lang="tr-TR" sz="2000" b="1" i="1" dirty="0"/>
              <a:t>Kodlama</a:t>
            </a:r>
            <a:r>
              <a:rPr lang="tr-TR" sz="2000" dirty="0"/>
              <a:t> aşamasını bilginin belleğe yerleştirilmesi, dosyalama olarak düşünebiliriz. Kodlama bilginin daha sonra kullanılabilecek şekilde dönüştürülerek </a:t>
            </a:r>
            <a:r>
              <a:rPr lang="tr-TR" sz="2100" dirty="0"/>
              <a:t>kaydedilmesidir. </a:t>
            </a:r>
            <a:r>
              <a:rPr lang="tr-TR" sz="2100" b="1" dirty="0"/>
              <a:t>Depolama</a:t>
            </a:r>
            <a:r>
              <a:rPr lang="tr-TR" sz="2100" dirty="0"/>
              <a:t>  gereksinim duyuluncaya kadar bilginin saklanması, </a:t>
            </a:r>
            <a:r>
              <a:rPr lang="tr-TR" sz="2100" b="1" dirty="0"/>
              <a:t>geri getirme/çağırma </a:t>
            </a:r>
            <a:r>
              <a:rPr lang="tr-TR" sz="2100" dirty="0"/>
              <a:t>aşamasında ise bilginin yeniden toplanması olarak açıklanmaktadır. </a:t>
            </a:r>
            <a:r>
              <a:rPr lang="tr-TR" sz="2000" dirty="0"/>
              <a:t>Bilginin işlenme sürecinde üç tür bellekten söz edilebilir: </a:t>
            </a:r>
            <a:r>
              <a:rPr lang="tr-TR" sz="2000" b="1" i="1" dirty="0"/>
              <a:t>duyusal bellek</a:t>
            </a:r>
            <a:r>
              <a:rPr lang="tr-TR" sz="2000" b="1" dirty="0"/>
              <a:t>, </a:t>
            </a:r>
            <a:r>
              <a:rPr lang="tr-TR" sz="2000" b="1" i="1" dirty="0"/>
              <a:t>kısa süreli bellek</a:t>
            </a:r>
            <a:r>
              <a:rPr lang="tr-TR" sz="2000" b="1" dirty="0"/>
              <a:t>, </a:t>
            </a:r>
            <a:r>
              <a:rPr lang="tr-TR" sz="2000" b="1" i="1" dirty="0"/>
              <a:t>uzun süreli bellek.</a:t>
            </a:r>
            <a:endParaRPr lang="tr-TR" sz="2000" b="1" dirty="0"/>
          </a:p>
        </p:txBody>
      </p:sp>
    </p:spTree>
    <p:extLst>
      <p:ext uri="{BB962C8B-B14F-4D97-AF65-F5344CB8AC3E}">
        <p14:creationId xmlns:p14="http://schemas.microsoft.com/office/powerpoint/2010/main" xmlns="" val="2130907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581900" cy="2647950"/>
          </a:xfrm>
          <a:prstGeom prst="rect">
            <a:avLst/>
          </a:prstGeom>
        </p:spPr>
        <p:txBody>
          <a:bodyPr vert="horz" lIns="91440" tIns="45720" rIns="91440" bIns="45720" rtlCol="0">
            <a:normAutofit/>
          </a:bodyPr>
          <a:lstStyle/>
          <a:p>
            <a:pPr algn="just"/>
            <a:r>
              <a:rPr lang="tr-TR" sz="2000" b="1" dirty="0"/>
              <a:t>Duyusal </a:t>
            </a:r>
            <a:r>
              <a:rPr lang="tr-TR" sz="2000" dirty="0"/>
              <a:t>bellek duyu organlarımız aracılığıyla uyarıcıları algıladığımız bellek türüdür, bazı araştırmacılar duyusal belleğin kısa süreli belleğin bir bölümü olduğuna dair görüşler öne sürmüştür. Bu tartışmalara literatürde yer verilmiştir  (</a:t>
            </a:r>
            <a:r>
              <a:rPr lang="tr-TR" sz="2000" dirty="0" err="1"/>
              <a:t>Cüceloğlu</a:t>
            </a:r>
            <a:r>
              <a:rPr lang="tr-TR" sz="2000" dirty="0"/>
              <a:t>, 2010’dan </a:t>
            </a:r>
            <a:r>
              <a:rPr lang="tr-TR" sz="2000" dirty="0" err="1"/>
              <a:t>akt</a:t>
            </a:r>
            <a:r>
              <a:rPr lang="tr-TR" sz="2000" dirty="0"/>
              <a:t>. Maden, 2021, s.88). Bu bellek türünde algı ön plandadır ve görmek, duymak, işitmek, koklamak ve dokunmak ile ilgili veriler bellekte işlenir. </a:t>
            </a:r>
          </a:p>
        </p:txBody>
      </p:sp>
    </p:spTree>
    <p:extLst>
      <p:ext uri="{BB962C8B-B14F-4D97-AF65-F5344CB8AC3E}">
        <p14:creationId xmlns:p14="http://schemas.microsoft.com/office/powerpoint/2010/main" xmlns="" val="2130907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733425" y="1257300"/>
            <a:ext cx="7905750" cy="3105150"/>
          </a:xfrm>
          <a:prstGeom prst="rect">
            <a:avLst/>
          </a:prstGeom>
        </p:spPr>
        <p:txBody>
          <a:bodyPr vert="horz" lIns="91440" tIns="45720" rIns="91440" bIns="45720" rtlCol="0">
            <a:normAutofit fontScale="92500" lnSpcReduction="20000"/>
          </a:bodyPr>
          <a:lstStyle/>
          <a:p>
            <a:pPr algn="just"/>
            <a:r>
              <a:rPr lang="tr-TR" sz="2000" dirty="0"/>
              <a:t>Kısa süreli belleğe, duyusal kayıta gelen sınırsız uyarıcıdan yalnızca dikkatin verildiği ve kişinin beklentilerine uygun az sayıda uyarıcı seçilerek gönderilir. </a:t>
            </a:r>
            <a:r>
              <a:rPr lang="tr-TR" sz="2000" b="1" dirty="0"/>
              <a:t>Kısa süreli bellek </a:t>
            </a:r>
            <a:r>
              <a:rPr lang="tr-TR" sz="2000" dirty="0"/>
              <a:t>diğer adıyla işleyen belleğin iki önemli işlevi vardır. Birincisi kısa süreli de olsa bilgiyi depolamak, ikincisi ise bilginin uzun süreli bellekte depolanmasını sağlayıp geri getirmek için gerekli zihinsel işlemleri yürütmektir (</a:t>
            </a:r>
            <a:r>
              <a:rPr lang="tr-TR" sz="2000" dirty="0" err="1"/>
              <a:t>Senemoğlu</a:t>
            </a:r>
            <a:r>
              <a:rPr lang="tr-TR" sz="2000" dirty="0"/>
              <a:t> ve </a:t>
            </a:r>
            <a:r>
              <a:rPr lang="tr-TR" sz="2000" dirty="0" err="1"/>
              <a:t>diğ</a:t>
            </a:r>
            <a:r>
              <a:rPr lang="tr-TR" sz="2000" dirty="0"/>
              <a:t>. 2001’den </a:t>
            </a:r>
            <a:r>
              <a:rPr lang="tr-TR" sz="2000" dirty="0" err="1"/>
              <a:t>akt</a:t>
            </a:r>
            <a:r>
              <a:rPr lang="tr-TR" sz="2000" dirty="0"/>
              <a:t>. Maden, 2021, s. 89). </a:t>
            </a:r>
            <a:r>
              <a:rPr lang="tr-TR" sz="2000" b="1" dirty="0"/>
              <a:t>Uzun süreli bellek</a:t>
            </a:r>
            <a:r>
              <a:rPr lang="tr-TR" sz="2000" dirty="0"/>
              <a:t>, yeni öğrenilen </a:t>
            </a:r>
            <a:r>
              <a:rPr lang="tr-TR" sz="2100" dirty="0"/>
              <a:t>bilginin öncekilerle bağlantılarının kurulduğu  ve saklandığı beyin bölümüdür. Bu açıdan bakıldığında Aslı Maden, uzun süreli belleği;, kapasitesini göz önünde tutarak bilginin organize edilerek depolanıp saklanması açısından “kütüphane”ye benzetir. </a:t>
            </a:r>
            <a:r>
              <a:rPr lang="tr-TR" sz="2000" dirty="0"/>
              <a:t>Anısal, anlamsal ve işlemsel olmak üzere bilgi üç aşamada uzun süreli bellekte saklanır (</a:t>
            </a:r>
            <a:r>
              <a:rPr lang="tr-TR" sz="2000" dirty="0" err="1"/>
              <a:t>Kardaş</a:t>
            </a:r>
            <a:r>
              <a:rPr lang="tr-TR" sz="2000" dirty="0"/>
              <a:t> ve </a:t>
            </a:r>
            <a:r>
              <a:rPr lang="tr-TR" sz="2000" dirty="0" err="1"/>
              <a:t>Esendemir</a:t>
            </a:r>
            <a:r>
              <a:rPr lang="tr-TR" sz="2000" dirty="0"/>
              <a:t>, 2020; </a:t>
            </a:r>
            <a:r>
              <a:rPr lang="tr-TR" sz="2000" dirty="0" err="1"/>
              <a:t>McNamara</a:t>
            </a:r>
            <a:r>
              <a:rPr lang="tr-TR" sz="2000" dirty="0"/>
              <a:t>, </a:t>
            </a:r>
            <a:r>
              <a:rPr lang="tr-TR" sz="2000" dirty="0" err="1"/>
              <a:t>Scott</a:t>
            </a:r>
            <a:r>
              <a:rPr lang="tr-TR" sz="2000" dirty="0"/>
              <a:t> &amp;</a:t>
            </a:r>
            <a:r>
              <a:rPr lang="tr-TR" sz="2000" dirty="0" err="1"/>
              <a:t>Bess</a:t>
            </a:r>
            <a:r>
              <a:rPr lang="tr-TR" sz="2000" dirty="0"/>
              <a:t>, 2000; Selçuk, 2018; </a:t>
            </a:r>
            <a:r>
              <a:rPr lang="tr-TR" sz="2000" dirty="0" err="1"/>
              <a:t>Senemoğlu</a:t>
            </a:r>
            <a:r>
              <a:rPr lang="tr-TR" sz="2000" dirty="0"/>
              <a:t>, 2012; Yılmaz, 2005’ten </a:t>
            </a:r>
            <a:r>
              <a:rPr lang="tr-TR" sz="2000" dirty="0" err="1"/>
              <a:t>akt</a:t>
            </a:r>
            <a:r>
              <a:rPr lang="tr-TR" sz="2000" dirty="0"/>
              <a:t>. Maden, 2021, s.91). </a:t>
            </a:r>
          </a:p>
        </p:txBody>
      </p:sp>
    </p:spTree>
    <p:extLst>
      <p:ext uri="{BB962C8B-B14F-4D97-AF65-F5344CB8AC3E}">
        <p14:creationId xmlns:p14="http://schemas.microsoft.com/office/powerpoint/2010/main" xmlns="" val="2130907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610475" cy="2647950"/>
          </a:xfrm>
          <a:prstGeom prst="rect">
            <a:avLst/>
          </a:prstGeom>
        </p:spPr>
        <p:txBody>
          <a:bodyPr vert="horz" lIns="91440" tIns="45720" rIns="91440" bIns="45720" rtlCol="0">
            <a:normAutofit/>
          </a:bodyPr>
          <a:lstStyle/>
          <a:p>
            <a:pPr algn="just"/>
            <a:r>
              <a:rPr lang="tr-TR" sz="2000" dirty="0"/>
              <a:t>Yazma becerisinde fiziksel süreçler ve zihinsel süreçler söz konusudur. Fiziksel süreçler, “göz, eller, parmaklar ve el-göz koordinasyonu” (</a:t>
            </a:r>
            <a:r>
              <a:rPr lang="tr-TR" sz="2000" dirty="0" err="1"/>
              <a:t>Tunagür</a:t>
            </a:r>
            <a:r>
              <a:rPr lang="tr-TR" sz="2000" dirty="0"/>
              <a:t> ve </a:t>
            </a:r>
            <a:r>
              <a:rPr lang="tr-TR" sz="2000" dirty="0" err="1"/>
              <a:t>Kardaş</a:t>
            </a:r>
            <a:r>
              <a:rPr lang="tr-TR" sz="2000" dirty="0"/>
              <a:t>, 2021, s. 61)  olarak tanımlanabilir. Göz, gelişmiş bir </a:t>
            </a:r>
            <a:r>
              <a:rPr lang="tr-TR" sz="2000" b="1" dirty="0"/>
              <a:t>fotoğraf makinesi </a:t>
            </a:r>
            <a:r>
              <a:rPr lang="tr-TR" sz="2000" dirty="0"/>
              <a:t>gibidir. İsviçre’de CERN Laboratuvarında yapılan araştırmalar, göze benzer bir fotoğraf makinesi meydana getirebilmenin  68 milyon dolara mal olacağını ortaya koymuştur (</a:t>
            </a:r>
            <a:r>
              <a:rPr lang="tr-TR" sz="2000" dirty="0" err="1"/>
              <a:t>Buzan</a:t>
            </a:r>
            <a:r>
              <a:rPr lang="tr-TR" sz="2000" dirty="0"/>
              <a:t> &amp;</a:t>
            </a:r>
            <a:r>
              <a:rPr lang="tr-TR" sz="2000" dirty="0" err="1"/>
              <a:t>Keene</a:t>
            </a:r>
            <a:r>
              <a:rPr lang="tr-TR" sz="2000" dirty="0"/>
              <a:t>, 1996, s.40’tan </a:t>
            </a:r>
            <a:r>
              <a:rPr lang="tr-TR" sz="2000" dirty="0" err="1"/>
              <a:t>akt</a:t>
            </a:r>
            <a:r>
              <a:rPr lang="tr-TR" sz="2000" dirty="0"/>
              <a:t>. </a:t>
            </a:r>
            <a:r>
              <a:rPr lang="tr-TR" sz="2000" dirty="0" err="1"/>
              <a:t>Tunagür</a:t>
            </a:r>
            <a:r>
              <a:rPr lang="tr-TR" sz="2000" dirty="0"/>
              <a:t> ve </a:t>
            </a:r>
            <a:r>
              <a:rPr lang="tr-TR" sz="2000" dirty="0" err="1"/>
              <a:t>Kardaş</a:t>
            </a:r>
            <a:r>
              <a:rPr lang="tr-TR" sz="2000" dirty="0"/>
              <a:t>, 2021, s.63).</a:t>
            </a:r>
          </a:p>
        </p:txBody>
      </p:sp>
    </p:spTree>
    <p:extLst>
      <p:ext uri="{BB962C8B-B14F-4D97-AF65-F5344CB8AC3E}">
        <p14:creationId xmlns:p14="http://schemas.microsoft.com/office/powerpoint/2010/main" xmlns="" val="2130907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772400" cy="2647950"/>
          </a:xfrm>
          <a:prstGeom prst="rect">
            <a:avLst/>
          </a:prstGeom>
        </p:spPr>
        <p:txBody>
          <a:bodyPr vert="horz" lIns="91440" tIns="45720" rIns="91440" bIns="45720" rtlCol="0">
            <a:normAutofit fontScale="92500" lnSpcReduction="10000"/>
          </a:bodyPr>
          <a:lstStyle/>
          <a:p>
            <a:pPr algn="just"/>
            <a:r>
              <a:rPr lang="tr-TR" sz="2000" b="1" dirty="0"/>
              <a:t>Motor becerileri </a:t>
            </a:r>
            <a:r>
              <a:rPr lang="tr-TR" sz="2000" dirty="0"/>
              <a:t>kaba ve ince olmak üzere iki başlık altında ele alabiliriz. Büyük kaslarda </a:t>
            </a:r>
            <a:r>
              <a:rPr lang="tr-TR" sz="2000" b="1" dirty="0"/>
              <a:t>kaba motor beceriler </a:t>
            </a:r>
            <a:r>
              <a:rPr lang="tr-TR" sz="2000" dirty="0"/>
              <a:t>(yürümek, koşmak, ayakta durmak, vücut duruşu, zıplamak vs.), </a:t>
            </a:r>
            <a:r>
              <a:rPr lang="tr-TR" sz="2000" b="1" dirty="0"/>
              <a:t>ince motor beceriler </a:t>
            </a:r>
            <a:r>
              <a:rPr lang="tr-TR" sz="2000" dirty="0"/>
              <a:t>(el-göz koordinasyonu, resim yapma, bir nesneyi kavrama, dikiş-nakış vs.) ise ince kaslarda oluşur (</a:t>
            </a:r>
            <a:r>
              <a:rPr lang="tr-TR" sz="2000" dirty="0" err="1"/>
              <a:t>Winnick</a:t>
            </a:r>
            <a:r>
              <a:rPr lang="tr-TR" sz="2000" dirty="0"/>
              <a:t>, 2005; </a:t>
            </a:r>
            <a:r>
              <a:rPr lang="tr-TR" sz="2000" dirty="0" err="1"/>
              <a:t>Pedük</a:t>
            </a:r>
            <a:r>
              <a:rPr lang="tr-TR" sz="2000" dirty="0"/>
              <a:t>, 2011’den </a:t>
            </a:r>
            <a:r>
              <a:rPr lang="tr-TR" sz="2000" dirty="0" err="1"/>
              <a:t>akt</a:t>
            </a:r>
            <a:r>
              <a:rPr lang="tr-TR" sz="2000" dirty="0"/>
              <a:t>. </a:t>
            </a:r>
            <a:r>
              <a:rPr lang="tr-TR" sz="2000" dirty="0" err="1"/>
              <a:t>Tunagür</a:t>
            </a:r>
            <a:r>
              <a:rPr lang="tr-TR" sz="2000" dirty="0"/>
              <a:t> ve </a:t>
            </a:r>
            <a:r>
              <a:rPr lang="tr-TR" sz="2000" dirty="0" err="1"/>
              <a:t>Kardaş</a:t>
            </a:r>
            <a:r>
              <a:rPr lang="tr-TR" sz="2000" dirty="0"/>
              <a:t>, 2021, s.64). İnce motor becerileri bilişsel gelişim ile doğrudan ilgilidir ve çizim becerileri, el-göz koordinasyonu ve bu beceriler gerçekleştirilirken ihtiyaç duyulan dikkat, bellek, odaklanma ve planlama gibi yeteneklerin kullanılması bilişsel süreçler kapsamında yer alır (</a:t>
            </a:r>
            <a:r>
              <a:rPr lang="tr-TR" sz="2000" dirty="0" err="1"/>
              <a:t>Skinner</a:t>
            </a:r>
            <a:r>
              <a:rPr lang="tr-TR" sz="2000" dirty="0"/>
              <a:t>, 2005’ten </a:t>
            </a:r>
            <a:r>
              <a:rPr lang="tr-TR" sz="2000" dirty="0" err="1"/>
              <a:t>akt</a:t>
            </a:r>
            <a:r>
              <a:rPr lang="tr-TR" sz="2000" dirty="0"/>
              <a:t>. </a:t>
            </a:r>
            <a:r>
              <a:rPr lang="tr-TR" sz="2000" dirty="0" err="1"/>
              <a:t>Tunagür</a:t>
            </a:r>
            <a:r>
              <a:rPr lang="tr-TR" sz="2000" dirty="0"/>
              <a:t> ve </a:t>
            </a:r>
            <a:r>
              <a:rPr lang="tr-TR" sz="2000" dirty="0" err="1"/>
              <a:t>Kardaş</a:t>
            </a:r>
            <a:r>
              <a:rPr lang="tr-TR" sz="2000" dirty="0"/>
              <a:t>, 2021, s.65). </a:t>
            </a:r>
          </a:p>
        </p:txBody>
      </p:sp>
    </p:spTree>
    <p:extLst>
      <p:ext uri="{BB962C8B-B14F-4D97-AF65-F5344CB8AC3E}">
        <p14:creationId xmlns:p14="http://schemas.microsoft.com/office/powerpoint/2010/main" xmlns="" val="2130907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639050" cy="2647950"/>
          </a:xfrm>
          <a:prstGeom prst="rect">
            <a:avLst/>
          </a:prstGeom>
        </p:spPr>
        <p:txBody>
          <a:bodyPr vert="horz" lIns="91440" tIns="45720" rIns="91440" bIns="45720" rtlCol="0">
            <a:normAutofit/>
          </a:bodyPr>
          <a:lstStyle/>
          <a:p>
            <a:pPr algn="just"/>
            <a:r>
              <a:rPr lang="tr-TR" sz="2000" dirty="0"/>
              <a:t>Dil becerilerinin gerçekleşmesi için beyin ve dil arasında sağlıklı bir koordinasyon gereklidir. Dil ve yazma ile ilgili fonksiyonlar beynin sol bölümündedir; yazma eyleminde beynin </a:t>
            </a:r>
            <a:r>
              <a:rPr lang="tr-TR" sz="2000" i="1" dirty="0" err="1"/>
              <a:t>oksital</a:t>
            </a:r>
            <a:r>
              <a:rPr lang="tr-TR" sz="2000" i="1" dirty="0"/>
              <a:t> lob</a:t>
            </a:r>
            <a:r>
              <a:rPr lang="tr-TR" sz="2000" dirty="0"/>
              <a:t>, </a:t>
            </a:r>
            <a:r>
              <a:rPr lang="tr-TR" sz="2000" i="1" dirty="0" err="1"/>
              <a:t>parietal</a:t>
            </a:r>
            <a:r>
              <a:rPr lang="tr-TR" sz="2000" i="1" dirty="0"/>
              <a:t> lob</a:t>
            </a:r>
            <a:r>
              <a:rPr lang="tr-TR" sz="2000" dirty="0"/>
              <a:t> ve </a:t>
            </a:r>
            <a:r>
              <a:rPr lang="tr-TR" sz="2000" i="1" dirty="0" err="1"/>
              <a:t>angüler</a:t>
            </a:r>
            <a:r>
              <a:rPr lang="tr-TR" sz="2000" i="1" dirty="0"/>
              <a:t> </a:t>
            </a:r>
            <a:r>
              <a:rPr lang="tr-TR" sz="2000" i="1" dirty="0" err="1"/>
              <a:t>girüs</a:t>
            </a:r>
            <a:r>
              <a:rPr lang="tr-TR" sz="2000" dirty="0"/>
              <a:t> alanları etkilidir. Sınıflama, sıralama, analiz, düşüncelerin organizasyonu, eleştirel düşünme ve sentez gibi becerilerin </a:t>
            </a:r>
            <a:r>
              <a:rPr lang="tr-TR" sz="2000" dirty="0" err="1"/>
              <a:t>kullamında</a:t>
            </a:r>
            <a:r>
              <a:rPr lang="tr-TR" sz="2000" dirty="0"/>
              <a:t> beyin dinamik ve etkili bir biçimde çalışır (</a:t>
            </a:r>
            <a:r>
              <a:rPr lang="tr-TR" sz="2000" dirty="0" err="1"/>
              <a:t>Tunagür</a:t>
            </a:r>
            <a:r>
              <a:rPr lang="tr-TR" sz="2000" dirty="0"/>
              <a:t> ve </a:t>
            </a:r>
            <a:r>
              <a:rPr lang="tr-TR" sz="2000" dirty="0" err="1"/>
              <a:t>Kardaş</a:t>
            </a:r>
            <a:r>
              <a:rPr lang="tr-TR" sz="2000" dirty="0"/>
              <a:t>, 2021, s.78).</a:t>
            </a:r>
          </a:p>
        </p:txBody>
      </p:sp>
    </p:spTree>
    <p:extLst>
      <p:ext uri="{BB962C8B-B14F-4D97-AF65-F5344CB8AC3E}">
        <p14:creationId xmlns:p14="http://schemas.microsoft.com/office/powerpoint/2010/main" xmlns="" val="2130907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439025" cy="2647950"/>
          </a:xfrm>
          <a:prstGeom prst="rect">
            <a:avLst/>
          </a:prstGeom>
        </p:spPr>
        <p:txBody>
          <a:bodyPr vert="horz" lIns="91440" tIns="45720" rIns="91440" bIns="45720" rtlCol="0">
            <a:normAutofit/>
          </a:bodyPr>
          <a:lstStyle/>
          <a:p>
            <a:pPr algn="just"/>
            <a:r>
              <a:rPr lang="tr-TR" sz="2000" dirty="0"/>
              <a:t>Yazma becerisi görüldüğü üzere karmaşık süreçleri içerir. Fiziksel ve zihinsel süreçlerin birlikte şekillendiği bu beceride bilişsel, duyuşsal, devinişsel işlemler devrededir. Bellek, yazma becerisinde öğrenilenlerin hatırlanması ve geri getirilmesi gibi işlemlerde kullanılır. Beyin, bilgisayar gibi çalışan bir organ değildir; işleyiş süreci açısından beynin depolama, bilgiyi </a:t>
            </a:r>
            <a:r>
              <a:rPr lang="tr-TR" sz="2000" dirty="0" err="1"/>
              <a:t>alımlaması</a:t>
            </a:r>
            <a:r>
              <a:rPr lang="tr-TR" sz="2000" dirty="0"/>
              <a:t> gibi insan hayatındaki rolü bazı açılardan bilgisayara benzetilebilirse de insan yaşamında duyuşsal süreçler etkilidir.</a:t>
            </a:r>
          </a:p>
        </p:txBody>
      </p:sp>
    </p:spTree>
    <p:extLst>
      <p:ext uri="{BB962C8B-B14F-4D97-AF65-F5344CB8AC3E}">
        <p14:creationId xmlns:p14="http://schemas.microsoft.com/office/powerpoint/2010/main" xmlns="" val="2130907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490601" y="1257300"/>
            <a:ext cx="8148574" cy="3333750"/>
          </a:xfrm>
          <a:prstGeom prst="rect">
            <a:avLst/>
          </a:prstGeom>
        </p:spPr>
        <p:txBody>
          <a:bodyPr vert="horz" lIns="91440" tIns="45720" rIns="91440" bIns="45720" rtlCol="0">
            <a:normAutofit fontScale="92500" lnSpcReduction="20000"/>
          </a:bodyPr>
          <a:lstStyle/>
          <a:p>
            <a:pPr algn="just"/>
            <a:r>
              <a:rPr lang="tr-TR" sz="2000" b="1" dirty="0"/>
              <a:t>Yazma Eğitiminin Temel Kavramları</a:t>
            </a:r>
          </a:p>
          <a:p>
            <a:pPr algn="just"/>
            <a:r>
              <a:rPr lang="tr-TR" sz="2000" dirty="0"/>
              <a:t>Yazma eğitiminin temel kavramları </a:t>
            </a:r>
            <a:r>
              <a:rPr lang="tr-TR" sz="2000" dirty="0" err="1"/>
              <a:t>alanyazında</a:t>
            </a:r>
            <a:r>
              <a:rPr lang="tr-TR" sz="2000" dirty="0"/>
              <a:t> farklı başlıklar altında alınmaktadır. Temel olarak yazma eğitiminin temel kavramları harf, alfabe, sözcük, sözcük hazinesi, tümce, paragraf, başlık, imla, noktalama işaretleri, konu, tema, metin, metin yapısı, metinsellik, metin türleri, yazı dili, işlek yazı, yazma tutukluğu, yazma kaygısı, </a:t>
            </a:r>
            <a:r>
              <a:rPr lang="tr-TR" sz="2000" dirty="0" err="1"/>
              <a:t>yetizleme</a:t>
            </a:r>
            <a:r>
              <a:rPr lang="tr-TR" sz="2000" dirty="0"/>
              <a:t>, yol gösterimli yazma, işlek yazma, plan, planlı yazma, süreç temelli yazma, ürün odaklı yazma, taslak oluşturma, uyarıcı yazma, redaksiyon, yaratıcı yazma (</a:t>
            </a:r>
            <a:r>
              <a:rPr lang="tr-TR" sz="2000" dirty="0" err="1"/>
              <a:t>Kardaş</a:t>
            </a:r>
            <a:r>
              <a:rPr lang="tr-TR" sz="2000" dirty="0"/>
              <a:t>, </a:t>
            </a:r>
            <a:r>
              <a:rPr lang="tr-TR" sz="2000" dirty="0" err="1"/>
              <a:t>Esendemir</a:t>
            </a:r>
            <a:r>
              <a:rPr lang="tr-TR" sz="2000" dirty="0"/>
              <a:t> ve </a:t>
            </a:r>
            <a:r>
              <a:rPr lang="tr-TR" sz="2000" dirty="0" err="1"/>
              <a:t>Kardaş</a:t>
            </a:r>
            <a:r>
              <a:rPr lang="tr-TR" sz="2000" dirty="0"/>
              <a:t>, 2021, s.16-20) gibi başlıklar altında incelenebilir. </a:t>
            </a:r>
          </a:p>
          <a:p>
            <a:pPr algn="just"/>
            <a:endParaRPr lang="tr-TR" sz="2000" dirty="0"/>
          </a:p>
          <a:p>
            <a:pPr algn="just"/>
            <a:r>
              <a:rPr lang="tr-TR" sz="2000" dirty="0"/>
              <a:t>Bu başlıklardan bazılarını açıklamaya çalışalım.</a:t>
            </a:r>
          </a:p>
          <a:p>
            <a:pPr algn="just"/>
            <a:endParaRPr lang="tr-TR" sz="2000" dirty="0"/>
          </a:p>
          <a:p>
            <a:pPr algn="just"/>
            <a:r>
              <a:rPr lang="tr-TR" sz="2000" dirty="0"/>
              <a:t> </a:t>
            </a:r>
          </a:p>
        </p:txBody>
      </p:sp>
    </p:spTree>
    <p:extLst>
      <p:ext uri="{BB962C8B-B14F-4D97-AF65-F5344CB8AC3E}">
        <p14:creationId xmlns:p14="http://schemas.microsoft.com/office/powerpoint/2010/main" xmlns="" val="2130907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619125" y="1257300"/>
            <a:ext cx="7877175" cy="2647950"/>
          </a:xfrm>
          <a:prstGeom prst="rect">
            <a:avLst/>
          </a:prstGeom>
        </p:spPr>
        <p:txBody>
          <a:bodyPr vert="horz" lIns="91440" tIns="45720" rIns="91440" bIns="45720" rtlCol="0">
            <a:normAutofit/>
          </a:bodyPr>
          <a:lstStyle/>
          <a:p>
            <a:pPr algn="just"/>
            <a:r>
              <a:rPr lang="tr-TR" sz="2000" b="1" i="1" dirty="0" err="1"/>
              <a:t>Yetizleme</a:t>
            </a:r>
            <a:r>
              <a:rPr lang="tr-TR" sz="2000" dirty="0"/>
              <a:t>, sınıfta öğrencilerle okunan metinden yola çıkarak başka metin ve bilim dallarından yararlanılarak metin oluşturma çalışmalarına verilen addır. </a:t>
            </a:r>
            <a:r>
              <a:rPr lang="tr-TR" sz="2000" dirty="0" err="1"/>
              <a:t>Yetizleme</a:t>
            </a:r>
            <a:r>
              <a:rPr lang="tr-TR" sz="2000" dirty="0"/>
              <a:t>, bir konuyu değerlendirmek amacıyla oluşturulan metindeki izlekten hareketle tarih, dilbilim, toplumbilim gibi diğer bilim dallarından yararlanılarak öğrenciden yazması beklenen kanıtlayıcı, betimleyici veya açıklayıcı nitelikteki metin türünü ifade eder (Göçer, 2013, s.6).</a:t>
            </a:r>
          </a:p>
        </p:txBody>
      </p:sp>
    </p:spTree>
    <p:extLst>
      <p:ext uri="{BB962C8B-B14F-4D97-AF65-F5344CB8AC3E}">
        <p14:creationId xmlns:p14="http://schemas.microsoft.com/office/powerpoint/2010/main" xmlns="" val="2130907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299"/>
            <a:ext cx="7772400" cy="3152775"/>
          </a:xfrm>
          <a:prstGeom prst="rect">
            <a:avLst/>
          </a:prstGeom>
        </p:spPr>
        <p:txBody>
          <a:bodyPr vert="horz" lIns="91440" tIns="45720" rIns="91440" bIns="45720" rtlCol="0">
            <a:normAutofit fontScale="92500" lnSpcReduction="10000"/>
          </a:bodyPr>
          <a:lstStyle/>
          <a:p>
            <a:pPr algn="just"/>
            <a:r>
              <a:rPr lang="tr-TR" sz="2000" b="1" dirty="0"/>
              <a:t>Metinsellik</a:t>
            </a:r>
            <a:r>
              <a:rPr lang="tr-TR" sz="2000" dirty="0"/>
              <a:t> teriminden önce </a:t>
            </a:r>
            <a:r>
              <a:rPr lang="tr-TR" sz="2000" b="1" i="1" dirty="0"/>
              <a:t>metin</a:t>
            </a:r>
            <a:r>
              <a:rPr lang="tr-TR" sz="2000" dirty="0"/>
              <a:t> kavramının tanımına bakmak gerekir. Metin ifadesi, “</a:t>
            </a:r>
            <a:r>
              <a:rPr lang="tr-TR" sz="2100" dirty="0"/>
              <a:t>bir </a:t>
            </a:r>
            <a:r>
              <a:rPr lang="tr-TR" sz="2100" dirty="0" smtClean="0"/>
              <a:t>kitabın </a:t>
            </a:r>
            <a:r>
              <a:rPr lang="tr-TR" sz="2100" dirty="0"/>
              <a:t>içindeki  </a:t>
            </a:r>
            <a:r>
              <a:rPr lang="tr-TR" sz="2000" dirty="0"/>
              <a:t>kısımları, başlı başına tek bir konuyu, makaleyi veya paragraftan oluşan ve bir ana fikre sahip” yazıları anlatmak için kullanılır (</a:t>
            </a:r>
            <a:r>
              <a:rPr lang="tr-TR" sz="2000" dirty="0" err="1"/>
              <a:t>Akyol</a:t>
            </a:r>
            <a:r>
              <a:rPr lang="tr-TR" sz="2000" dirty="0"/>
              <a:t>, 2006, s.203’ten </a:t>
            </a:r>
            <a:r>
              <a:rPr lang="tr-TR" sz="2000" dirty="0" err="1"/>
              <a:t>akt</a:t>
            </a:r>
            <a:r>
              <a:rPr lang="tr-TR" sz="2000" dirty="0"/>
              <a:t>. Göçer, 2013, s.7). Emin Özdemir’e göre ise basılı ve yazılı okumaya konu olan anlam ve anlatım açısından bütünlük taşıyan her şey geniş anlamda bir metindir (Özdemir, 2000, s.36’dan </a:t>
            </a:r>
            <a:r>
              <a:rPr lang="tr-TR" sz="2000" dirty="0" err="1"/>
              <a:t>akt</a:t>
            </a:r>
            <a:r>
              <a:rPr lang="tr-TR" sz="2000" dirty="0"/>
              <a:t>. Göçer, 2013, s.7). </a:t>
            </a:r>
          </a:p>
          <a:p>
            <a:pPr algn="just"/>
            <a:endParaRPr lang="tr-TR" sz="2000" b="1" i="1" dirty="0"/>
          </a:p>
          <a:p>
            <a:pPr algn="just"/>
            <a:r>
              <a:rPr lang="tr-TR" sz="2000" b="1" i="1" dirty="0"/>
              <a:t>Metinsellik</a:t>
            </a:r>
            <a:r>
              <a:rPr lang="tr-TR" sz="2000" dirty="0"/>
              <a:t> terimi ise bir metni, metin olmayan tümce veya söz gruplarından ayırabilmek için başvurulan ölçütleri, metnin oluşmasını sağlayan gerekli koşulları ifade eder (</a:t>
            </a:r>
            <a:r>
              <a:rPr lang="tr-TR" sz="2000" dirty="0" err="1"/>
              <a:t>Kardaş</a:t>
            </a:r>
            <a:r>
              <a:rPr lang="tr-TR" sz="2000" dirty="0"/>
              <a:t>, </a:t>
            </a:r>
            <a:r>
              <a:rPr lang="tr-TR" sz="2000" dirty="0" err="1"/>
              <a:t>Esendemir</a:t>
            </a:r>
            <a:r>
              <a:rPr lang="tr-TR" sz="2000" dirty="0"/>
              <a:t> ve </a:t>
            </a:r>
            <a:r>
              <a:rPr lang="tr-TR" sz="2000" dirty="0" err="1"/>
              <a:t>Kardaş</a:t>
            </a:r>
            <a:r>
              <a:rPr lang="tr-TR" sz="2000" dirty="0"/>
              <a:t>, 2021, s.17). </a:t>
            </a:r>
          </a:p>
        </p:txBody>
      </p:sp>
    </p:spTree>
    <p:extLst>
      <p:ext uri="{BB962C8B-B14F-4D97-AF65-F5344CB8AC3E}">
        <p14:creationId xmlns:p14="http://schemas.microsoft.com/office/powerpoint/2010/main" xmlns="" val="21309073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515225" cy="2647950"/>
          </a:xfrm>
          <a:prstGeom prst="rect">
            <a:avLst/>
          </a:prstGeom>
        </p:spPr>
        <p:txBody>
          <a:bodyPr vert="horz" lIns="91440" tIns="45720" rIns="91440" bIns="45720" rtlCol="0">
            <a:normAutofit fontScale="85000" lnSpcReduction="20000"/>
          </a:bodyPr>
          <a:lstStyle/>
          <a:p>
            <a:pPr algn="just"/>
            <a:r>
              <a:rPr lang="tr-TR" sz="2000" dirty="0"/>
              <a:t>De </a:t>
            </a:r>
            <a:r>
              <a:rPr lang="tr-TR" sz="2000" dirty="0" err="1"/>
              <a:t>Beaugrande</a:t>
            </a:r>
            <a:r>
              <a:rPr lang="tr-TR" sz="2000" dirty="0"/>
              <a:t> ve </a:t>
            </a:r>
            <a:r>
              <a:rPr lang="tr-TR" sz="2000" dirty="0" err="1"/>
              <a:t>Dressler</a:t>
            </a:r>
            <a:r>
              <a:rPr lang="tr-TR" sz="2000" dirty="0"/>
              <a:t>, dile ait bir ürünün  metin olarak değerlendirilmesi için gerekli özellikleri yedi başlıkta ele almıştır:</a:t>
            </a:r>
          </a:p>
          <a:p>
            <a:pPr algn="just"/>
            <a:endParaRPr lang="tr-TR" sz="2000" dirty="0"/>
          </a:p>
          <a:p>
            <a:pPr algn="just"/>
            <a:r>
              <a:rPr lang="tr-TR" sz="2000" b="1" dirty="0"/>
              <a:t>bağdaşıklık </a:t>
            </a:r>
            <a:r>
              <a:rPr lang="tr-TR" sz="2000" dirty="0"/>
              <a:t>(</a:t>
            </a:r>
            <a:r>
              <a:rPr lang="tr-TR" sz="2000" dirty="0" err="1"/>
              <a:t>cohesion</a:t>
            </a:r>
            <a:r>
              <a:rPr lang="tr-TR" sz="2000" dirty="0"/>
              <a:t>), </a:t>
            </a:r>
          </a:p>
          <a:p>
            <a:pPr algn="just"/>
            <a:r>
              <a:rPr lang="tr-TR" sz="2000" b="1" dirty="0"/>
              <a:t>tutarlılık </a:t>
            </a:r>
            <a:r>
              <a:rPr lang="tr-TR" sz="2000" dirty="0"/>
              <a:t>(</a:t>
            </a:r>
            <a:r>
              <a:rPr lang="tr-TR" sz="2000" dirty="0" err="1"/>
              <a:t>coherence</a:t>
            </a:r>
            <a:r>
              <a:rPr lang="tr-TR" sz="2000" dirty="0"/>
              <a:t>), </a:t>
            </a:r>
          </a:p>
          <a:p>
            <a:pPr algn="just"/>
            <a:r>
              <a:rPr lang="tr-TR" sz="2000" b="1" dirty="0"/>
              <a:t>bilgilendiricilik</a:t>
            </a:r>
            <a:r>
              <a:rPr lang="tr-TR" sz="2000" dirty="0"/>
              <a:t> (</a:t>
            </a:r>
            <a:r>
              <a:rPr lang="tr-TR" sz="2000" dirty="0" err="1"/>
              <a:t>informativity</a:t>
            </a:r>
            <a:r>
              <a:rPr lang="tr-TR" sz="2000" dirty="0"/>
              <a:t>), </a:t>
            </a:r>
          </a:p>
          <a:p>
            <a:pPr algn="just"/>
            <a:r>
              <a:rPr lang="tr-TR" sz="2000" b="1" dirty="0"/>
              <a:t>amaçlılık </a:t>
            </a:r>
            <a:r>
              <a:rPr lang="tr-TR" sz="2000" dirty="0"/>
              <a:t>(</a:t>
            </a:r>
            <a:r>
              <a:rPr lang="tr-TR" sz="2000" dirty="0" err="1"/>
              <a:t>intentionality</a:t>
            </a:r>
            <a:r>
              <a:rPr lang="tr-TR" sz="2000" dirty="0"/>
              <a:t>), </a:t>
            </a:r>
          </a:p>
          <a:p>
            <a:pPr algn="just"/>
            <a:r>
              <a:rPr lang="tr-TR" sz="2000" b="1" dirty="0"/>
              <a:t>duruma uygun olma </a:t>
            </a:r>
            <a:r>
              <a:rPr lang="tr-TR" sz="2000" dirty="0"/>
              <a:t>(</a:t>
            </a:r>
            <a:r>
              <a:rPr lang="tr-TR" sz="2000" dirty="0" err="1"/>
              <a:t>situationality</a:t>
            </a:r>
            <a:r>
              <a:rPr lang="tr-TR" sz="2000" dirty="0"/>
              <a:t>), </a:t>
            </a:r>
          </a:p>
          <a:p>
            <a:pPr algn="just"/>
            <a:r>
              <a:rPr lang="tr-TR" sz="2000" b="1" dirty="0"/>
              <a:t>kabul edilebilirlik </a:t>
            </a:r>
            <a:r>
              <a:rPr lang="tr-TR" sz="2000" dirty="0"/>
              <a:t>(</a:t>
            </a:r>
            <a:r>
              <a:rPr lang="tr-TR" sz="2000" dirty="0" err="1"/>
              <a:t>acceptibility</a:t>
            </a:r>
            <a:r>
              <a:rPr lang="tr-TR" sz="2000" dirty="0"/>
              <a:t>) </a:t>
            </a:r>
          </a:p>
          <a:p>
            <a:pPr algn="just"/>
            <a:r>
              <a:rPr lang="tr-TR" sz="2000" b="1" dirty="0"/>
              <a:t>metinler </a:t>
            </a:r>
            <a:r>
              <a:rPr lang="tr-TR" sz="2000" b="1" dirty="0" err="1"/>
              <a:t>arasılık</a:t>
            </a:r>
            <a:r>
              <a:rPr lang="tr-TR" sz="2000" b="1" dirty="0"/>
              <a:t> </a:t>
            </a:r>
            <a:r>
              <a:rPr lang="tr-TR" sz="2000" dirty="0"/>
              <a:t>(</a:t>
            </a:r>
            <a:r>
              <a:rPr lang="tr-TR" sz="2000" dirty="0" err="1"/>
              <a:t>intertextuality</a:t>
            </a:r>
            <a:r>
              <a:rPr lang="tr-TR" sz="2000" dirty="0"/>
              <a:t>).</a:t>
            </a:r>
          </a:p>
          <a:p>
            <a:pPr algn="just"/>
            <a:r>
              <a:rPr lang="tr-TR" sz="2000" dirty="0"/>
              <a:t> </a:t>
            </a:r>
          </a:p>
        </p:txBody>
      </p:sp>
    </p:spTree>
    <p:extLst>
      <p:ext uri="{BB962C8B-B14F-4D97-AF65-F5344CB8AC3E}">
        <p14:creationId xmlns:p14="http://schemas.microsoft.com/office/powerpoint/2010/main" xmlns="" val="2130907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704850" y="1257300"/>
            <a:ext cx="7934325" cy="2647950"/>
          </a:xfrm>
          <a:prstGeom prst="rect">
            <a:avLst/>
          </a:prstGeom>
        </p:spPr>
        <p:txBody>
          <a:bodyPr vert="horz" lIns="91440" tIns="45720" rIns="91440" bIns="45720" rtlCol="0">
            <a:normAutofit fontScale="85000" lnSpcReduction="20000"/>
          </a:bodyPr>
          <a:lstStyle/>
          <a:p>
            <a:pPr algn="just"/>
            <a:r>
              <a:rPr lang="tr-TR" sz="2000" b="1" i="1" dirty="0"/>
              <a:t>Süreç temelli yazma</a:t>
            </a:r>
            <a:r>
              <a:rPr lang="tr-TR" sz="2000" dirty="0"/>
              <a:t>da, öğrencilerin bilişsel farkındalık sahibi olmaları ve onları aktif (</a:t>
            </a:r>
            <a:r>
              <a:rPr lang="tr-TR" sz="2000" dirty="0" err="1"/>
              <a:t>Kardaş</a:t>
            </a:r>
            <a:r>
              <a:rPr lang="tr-TR" sz="2000" dirty="0"/>
              <a:t>, </a:t>
            </a:r>
            <a:r>
              <a:rPr lang="tr-TR" sz="2000" dirty="0" err="1"/>
              <a:t>Esendemir</a:t>
            </a:r>
            <a:r>
              <a:rPr lang="tr-TR" sz="2000" dirty="0"/>
              <a:t> ve </a:t>
            </a:r>
            <a:r>
              <a:rPr lang="tr-TR" sz="2000" dirty="0" err="1"/>
              <a:t>Kardaş</a:t>
            </a:r>
            <a:r>
              <a:rPr lang="tr-TR" sz="2000" dirty="0"/>
              <a:t>, 2021, s.19) hâle getirmek amaçtır. Süreç, yani gelişen olaylar dizisinde düzenleme, sıralama, tekrar gibi her aşamada öğrencinin konsantrasyon sağlaması beklenir. Süreç, </a:t>
            </a:r>
            <a:r>
              <a:rPr lang="tr-TR" sz="2000" i="1" dirty="0"/>
              <a:t> İngilizce-Türkçe </a:t>
            </a:r>
            <a:r>
              <a:rPr lang="tr-TR" sz="2000" i="1" dirty="0" err="1"/>
              <a:t>Sözlük</a:t>
            </a:r>
            <a:r>
              <a:rPr lang="tr-TR" sz="2000" dirty="0" err="1"/>
              <a:t>’te</a:t>
            </a:r>
            <a:r>
              <a:rPr lang="tr-TR" sz="2000" dirty="0"/>
              <a:t> İngilizce “</a:t>
            </a:r>
            <a:r>
              <a:rPr lang="tr-TR" sz="2000" dirty="0" err="1"/>
              <a:t>process</a:t>
            </a:r>
            <a:r>
              <a:rPr lang="tr-TR" sz="2000" dirty="0"/>
              <a:t>”; işlem, işlemek sözcüklerinin karşılığı olarak kullanılmaktadır. İşlemek, bu bağlamda yazma becerisinde ayırt etmek, seçmek, elemek, düzenlemek, sıralamak gibi eylemleri kapsar. </a:t>
            </a:r>
          </a:p>
          <a:p>
            <a:endParaRPr lang="tr-TR" sz="2000" dirty="0"/>
          </a:p>
          <a:p>
            <a:pPr algn="just"/>
            <a:r>
              <a:rPr lang="tr-TR" sz="2000" b="1" i="1" dirty="0"/>
              <a:t>Ürün odaklı yazma</a:t>
            </a:r>
            <a:r>
              <a:rPr lang="tr-TR" sz="2000" dirty="0"/>
              <a:t>da ise süreç değil ortaya çıkan sonuç, kısacası “ürün” önemlidir. </a:t>
            </a:r>
            <a:r>
              <a:rPr lang="tr-TR" sz="2000" dirty="0" err="1"/>
              <a:t>Kardaş</a:t>
            </a:r>
            <a:r>
              <a:rPr lang="tr-TR" sz="2000" dirty="0"/>
              <a:t>, bu yazma modelinde öğretmen merkezli oluşun altını çizer ve bireysel farklılıkların dikkate alınmadığını vurgular. Biçimsel ögeler ön plandadır (</a:t>
            </a:r>
            <a:r>
              <a:rPr lang="tr-TR" sz="2000" dirty="0" err="1"/>
              <a:t>Kardaş</a:t>
            </a:r>
            <a:r>
              <a:rPr lang="tr-TR" sz="2000" dirty="0"/>
              <a:t>, </a:t>
            </a:r>
            <a:r>
              <a:rPr lang="tr-TR" sz="2000" dirty="0" err="1"/>
              <a:t>Esendemir</a:t>
            </a:r>
            <a:r>
              <a:rPr lang="tr-TR" sz="2000" dirty="0"/>
              <a:t> ve </a:t>
            </a:r>
            <a:r>
              <a:rPr lang="tr-TR" sz="2000" dirty="0" err="1"/>
              <a:t>Kardaş</a:t>
            </a:r>
            <a:r>
              <a:rPr lang="tr-TR" sz="2000" dirty="0"/>
              <a:t>, 2021, s. 19). </a:t>
            </a:r>
          </a:p>
        </p:txBody>
      </p:sp>
    </p:spTree>
    <p:extLst>
      <p:ext uri="{BB962C8B-B14F-4D97-AF65-F5344CB8AC3E}">
        <p14:creationId xmlns:p14="http://schemas.microsoft.com/office/powerpoint/2010/main" xmlns="" val="2130907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6448425" cy="2647950"/>
          </a:xfrm>
          <a:prstGeom prst="rect">
            <a:avLst/>
          </a:prstGeom>
        </p:spPr>
        <p:txBody>
          <a:bodyPr vert="horz" lIns="91440" tIns="45720" rIns="91440" bIns="45720" rtlCol="0">
            <a:normAutofit/>
          </a:bodyPr>
          <a:lstStyle/>
          <a:p>
            <a:r>
              <a:rPr lang="tr-TR" sz="2000" b="1" dirty="0"/>
              <a:t>Sıra Sizde:</a:t>
            </a:r>
          </a:p>
          <a:p>
            <a:pPr algn="ctr"/>
            <a:r>
              <a:rPr lang="tr-TR" sz="2000" dirty="0"/>
              <a:t>Yazma stratejileri nelerdir? </a:t>
            </a:r>
          </a:p>
          <a:p>
            <a:pPr algn="ctr"/>
            <a:r>
              <a:rPr lang="tr-TR" sz="2000" dirty="0"/>
              <a:t>Birlikte düşünelim. </a:t>
            </a:r>
          </a:p>
        </p:txBody>
      </p:sp>
    </p:spTree>
    <p:extLst>
      <p:ext uri="{BB962C8B-B14F-4D97-AF65-F5344CB8AC3E}">
        <p14:creationId xmlns:p14="http://schemas.microsoft.com/office/powerpoint/2010/main" xmlns="" val="2130907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361950" y="1257300"/>
            <a:ext cx="8639175" cy="2990850"/>
          </a:xfrm>
          <a:prstGeom prst="rect">
            <a:avLst/>
          </a:prstGeom>
        </p:spPr>
        <p:txBody>
          <a:bodyPr vert="horz" lIns="91440" tIns="45720" rIns="91440" bIns="45720" rtlCol="0">
            <a:normAutofit fontScale="92500" lnSpcReduction="10000"/>
          </a:bodyPr>
          <a:lstStyle/>
          <a:p>
            <a:r>
              <a:rPr lang="tr-TR" sz="2000" b="1" dirty="0"/>
              <a:t>Yazma Stratejileri</a:t>
            </a:r>
          </a:p>
          <a:p>
            <a:pPr algn="just"/>
            <a:r>
              <a:rPr lang="tr-TR" sz="2000" dirty="0"/>
              <a:t>Yazmak genel olarak bakıldığında bir düşünme biçimidir. Doğuştan değil de öğrenim ve zamanla kazanılabilecek bir beceridir. İlk öğrenimde başlayan fiziksel temel bir beceri iken ilerleyen sınıflarda bireyin bu beceride kademeli olarak gelişim göstermesi beklenir. </a:t>
            </a:r>
          </a:p>
          <a:p>
            <a:pPr algn="just"/>
            <a:endParaRPr lang="tr-TR" sz="2000" dirty="0"/>
          </a:p>
          <a:p>
            <a:pPr algn="just"/>
            <a:r>
              <a:rPr lang="tr-TR" sz="2000" dirty="0"/>
              <a:t>Kişi üzerinde çalıştıkça bu beceri üzerinde yetkinlik kazanabileceğini görebilir. Hangi meslekte olursa olsun özellikle günümüzde artan yazma ortamları, yazma becerisinin 21.yüzyılda öneminin artarak devam edeceğini gösteriyor. Yazma becerisinin stratejileri nelerdir ve  hangi stratejileri kullanarak kişi bu yetiyi kazanabilir sorularını yanıtlamaya çalışalım.</a:t>
            </a:r>
          </a:p>
          <a:p>
            <a:pPr algn="just"/>
            <a:endParaRPr lang="tr-TR" sz="2000" dirty="0"/>
          </a:p>
        </p:txBody>
      </p:sp>
    </p:spTree>
    <p:extLst>
      <p:ext uri="{BB962C8B-B14F-4D97-AF65-F5344CB8AC3E}">
        <p14:creationId xmlns:p14="http://schemas.microsoft.com/office/powerpoint/2010/main" xmlns="" val="2130907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609601" y="1257300"/>
            <a:ext cx="8029574" cy="3333750"/>
          </a:xfrm>
          <a:prstGeom prst="rect">
            <a:avLst/>
          </a:prstGeom>
        </p:spPr>
        <p:txBody>
          <a:bodyPr vert="horz" lIns="91440" tIns="45720" rIns="91440" bIns="45720" rtlCol="0">
            <a:normAutofit/>
          </a:bodyPr>
          <a:lstStyle/>
          <a:p>
            <a:pPr algn="just"/>
            <a:r>
              <a:rPr lang="tr-TR" sz="2000" dirty="0"/>
              <a:t>Yazma öğretimimin </a:t>
            </a:r>
            <a:r>
              <a:rPr lang="tr-TR" sz="2000" b="1" dirty="0"/>
              <a:t>gelişimsel </a:t>
            </a:r>
            <a:r>
              <a:rPr lang="tr-TR" sz="2000" dirty="0"/>
              <a:t>ve </a:t>
            </a:r>
            <a:r>
              <a:rPr lang="tr-TR" sz="2000" b="1" dirty="0"/>
              <a:t>süreç</a:t>
            </a:r>
            <a:r>
              <a:rPr lang="tr-TR" sz="2000" dirty="0"/>
              <a:t> olmak üzere iki asıl boyutu vardır. Gelişimsel boyutta öğrencinin sınıf düzeyine göre belirli konu bilgisini öğrenmesi ve gereken becerileri kazanması beklenir. Süreç boyutunda ise öğrenci, yazma eyleminin üzerinde çalıştıkça yetkinleşebildiği ve zenginleşen bir eylem süreci olduğunu kavramalıdır. </a:t>
            </a:r>
          </a:p>
          <a:p>
            <a:pPr algn="just"/>
            <a:endParaRPr lang="tr-TR" sz="2000" dirty="0"/>
          </a:p>
          <a:p>
            <a:pPr algn="just"/>
            <a:r>
              <a:rPr lang="tr-TR" sz="2000" dirty="0" err="1"/>
              <a:t>Tompkins’den</a:t>
            </a:r>
            <a:r>
              <a:rPr lang="tr-TR" sz="2000" dirty="0"/>
              <a:t> hareketle yazma sürecini şöyle tanımlayabiliriz: </a:t>
            </a:r>
            <a:r>
              <a:rPr lang="tr-TR" sz="2000" b="1" i="1" dirty="0"/>
              <a:t>hazırlık</a:t>
            </a:r>
            <a:r>
              <a:rPr lang="tr-TR" sz="2000" b="1" dirty="0"/>
              <a:t>, </a:t>
            </a:r>
            <a:r>
              <a:rPr lang="tr-TR" sz="2000" b="1" i="1" dirty="0"/>
              <a:t>taslak oluşturma</a:t>
            </a:r>
            <a:r>
              <a:rPr lang="tr-TR" sz="2000" b="1" dirty="0"/>
              <a:t>, </a:t>
            </a:r>
            <a:r>
              <a:rPr lang="tr-TR" sz="2000" b="1" i="1" dirty="0"/>
              <a:t>gözden geçirip düzenleyerek yazma</a:t>
            </a:r>
            <a:r>
              <a:rPr lang="tr-TR" sz="2000" b="1" dirty="0"/>
              <a:t>, </a:t>
            </a:r>
            <a:r>
              <a:rPr lang="tr-TR" sz="2000" b="1" i="1" dirty="0"/>
              <a:t>redaksiyon</a:t>
            </a:r>
            <a:r>
              <a:rPr lang="tr-TR" sz="2000" b="1" dirty="0"/>
              <a:t>, </a:t>
            </a:r>
            <a:r>
              <a:rPr lang="tr-TR" sz="2000" b="1" i="1" dirty="0"/>
              <a:t>yayınlama</a:t>
            </a:r>
            <a:r>
              <a:rPr lang="tr-TR" sz="2000" dirty="0"/>
              <a:t> (Yıldız, 2018, s.7-9).</a:t>
            </a:r>
          </a:p>
        </p:txBody>
      </p:sp>
    </p:spTree>
    <p:extLst>
      <p:ext uri="{BB962C8B-B14F-4D97-AF65-F5344CB8AC3E}">
        <p14:creationId xmlns:p14="http://schemas.microsoft.com/office/powerpoint/2010/main" xmlns="" val="2130907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457324"/>
            <a:ext cx="7772400" cy="2447925"/>
          </a:xfrm>
          <a:prstGeom prst="rect">
            <a:avLst/>
          </a:prstGeom>
        </p:spPr>
        <p:txBody>
          <a:bodyPr vert="horz" lIns="91440" tIns="45720" rIns="91440" bIns="45720" rtlCol="0">
            <a:normAutofit/>
          </a:bodyPr>
          <a:lstStyle/>
          <a:p>
            <a:pPr algn="just"/>
            <a:r>
              <a:rPr lang="tr-TR" sz="2000" dirty="0"/>
              <a:t>Yazma aşamalarında farklı stratejiler kullanılır. Yazma aşamalarının her birinde farklı stratejiler kullanılır. </a:t>
            </a:r>
            <a:r>
              <a:rPr lang="tr-TR" sz="2000" b="1" dirty="0"/>
              <a:t>Strateji</a:t>
            </a:r>
            <a:r>
              <a:rPr lang="tr-TR" sz="2000" dirty="0"/>
              <a:t>, </a:t>
            </a:r>
            <a:r>
              <a:rPr lang="tr-TR" sz="2000" i="1" dirty="0"/>
              <a:t>TDK Güncel Türkçe </a:t>
            </a:r>
            <a:r>
              <a:rPr lang="tr-TR" sz="2000" i="1" dirty="0" err="1"/>
              <a:t>Sözlük</a:t>
            </a:r>
            <a:r>
              <a:rPr lang="tr-TR" sz="2000" dirty="0" err="1"/>
              <a:t>’te</a:t>
            </a:r>
            <a:r>
              <a:rPr lang="tr-TR" sz="2000" dirty="0"/>
              <a:t> “</a:t>
            </a:r>
            <a:r>
              <a:rPr lang="tr-TR" sz="2000" b="1" dirty="0"/>
              <a:t>izlem</a:t>
            </a:r>
            <a:r>
              <a:rPr lang="tr-TR" sz="2000" dirty="0"/>
              <a:t>” olarak ifade edilmektedir. “Önceden belirlenen bir amaca ulaşmak için tutulan yol” diye açıklanan izlem sözcüğü, İngilizcede  </a:t>
            </a:r>
            <a:r>
              <a:rPr lang="tr-TR" sz="2000" i="1" dirty="0"/>
              <a:t>İngilizce-Türkçe </a:t>
            </a:r>
            <a:r>
              <a:rPr lang="tr-TR" sz="2000" i="1" dirty="0" err="1"/>
              <a:t>Sözlük</a:t>
            </a:r>
            <a:r>
              <a:rPr lang="tr-TR" sz="2000" dirty="0" err="1"/>
              <a:t>’te</a:t>
            </a:r>
            <a:r>
              <a:rPr lang="tr-TR" sz="2000" dirty="0"/>
              <a:t> ise farklı anlamlarının yanı sıra “</a:t>
            </a:r>
            <a:r>
              <a:rPr lang="tr-TR" sz="2000" b="1" dirty="0"/>
              <a:t>taktik</a:t>
            </a:r>
            <a:r>
              <a:rPr lang="tr-TR" sz="2000" dirty="0"/>
              <a:t>” olarak açıklanmaktadır. </a:t>
            </a:r>
          </a:p>
        </p:txBody>
      </p:sp>
    </p:spTree>
    <p:extLst>
      <p:ext uri="{BB962C8B-B14F-4D97-AF65-F5344CB8AC3E}">
        <p14:creationId xmlns:p14="http://schemas.microsoft.com/office/powerpoint/2010/main" xmlns="" val="2130907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490601" y="1268468"/>
            <a:ext cx="7600950" cy="3124200"/>
          </a:xfrm>
          <a:prstGeom prst="rect">
            <a:avLst/>
          </a:prstGeom>
        </p:spPr>
        <p:txBody>
          <a:bodyPr vert="horz" lIns="91440" tIns="45720" rIns="91440" bIns="45720" rtlCol="0">
            <a:normAutofit/>
          </a:bodyPr>
          <a:lstStyle/>
          <a:p>
            <a:pPr algn="just"/>
            <a:endParaRPr lang="tr-TR" sz="2000" dirty="0"/>
          </a:p>
          <a:p>
            <a:pPr algn="just"/>
            <a:r>
              <a:rPr lang="tr-TR" sz="2000" dirty="0"/>
              <a:t>“Savaş, oyun, yarışma gibi belirli bir aktivitede başarı veya avantaj kazanmak için yapılan özel plan” olarak Türkçeye çevirebiliriz.</a:t>
            </a:r>
          </a:p>
          <a:p>
            <a:pPr algn="just"/>
            <a:endParaRPr lang="tr-TR" sz="2000" dirty="0"/>
          </a:p>
          <a:p>
            <a:pPr algn="just"/>
            <a:endParaRPr lang="tr-TR" sz="2000" dirty="0"/>
          </a:p>
          <a:p>
            <a:pPr algn="just"/>
            <a:r>
              <a:rPr lang="tr-TR" sz="2000" b="1"/>
              <a:t>Strateji </a:t>
            </a:r>
            <a:r>
              <a:rPr lang="tr-TR" sz="2000"/>
              <a:t>kısaca, </a:t>
            </a:r>
            <a:r>
              <a:rPr lang="tr-TR" sz="2000" dirty="0"/>
              <a:t>izlenmesi gereken yol, takip edildiğinde bireyi başarıya götürecek plan olarak açıklanabilir.</a:t>
            </a:r>
          </a:p>
          <a:p>
            <a:pPr algn="just"/>
            <a:endParaRPr lang="tr-TR" sz="2000" dirty="0">
              <a:highlight>
                <a:srgbClr val="00FF00"/>
              </a:highlight>
            </a:endParaRPr>
          </a:p>
          <a:p>
            <a:pPr algn="just"/>
            <a:r>
              <a:rPr lang="tr-TR" sz="2000" dirty="0"/>
              <a:t> </a:t>
            </a:r>
          </a:p>
        </p:txBody>
      </p:sp>
    </p:spTree>
    <p:extLst>
      <p:ext uri="{BB962C8B-B14F-4D97-AF65-F5344CB8AC3E}">
        <p14:creationId xmlns:p14="http://schemas.microsoft.com/office/powerpoint/2010/main" xmlns="" val="21309073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105650" cy="2647950"/>
          </a:xfrm>
          <a:prstGeom prst="rect">
            <a:avLst/>
          </a:prstGeom>
        </p:spPr>
        <p:txBody>
          <a:bodyPr vert="horz" lIns="91440" tIns="45720" rIns="91440" bIns="45720" rtlCol="0">
            <a:normAutofit/>
          </a:bodyPr>
          <a:lstStyle/>
          <a:p>
            <a:pPr algn="just"/>
            <a:r>
              <a:rPr lang="tr-TR" sz="2000" dirty="0"/>
              <a:t>Stratejiler, yazma becerisinde olduğu gibi diğer dil becerilerinde de bireyi geliştirir ve kendine güveni artırır; «başarılı öğrenciler de bilerek veya bilmeyerek birçok stratejiyi kullanırlar» (</a:t>
            </a:r>
            <a:r>
              <a:rPr lang="tr-TR" sz="2000" dirty="0" err="1"/>
              <a:t>Topuzkanamış</a:t>
            </a:r>
            <a:r>
              <a:rPr lang="tr-TR" sz="2000" dirty="0"/>
              <a:t>, 2014, s.277). </a:t>
            </a:r>
          </a:p>
          <a:p>
            <a:pPr algn="just"/>
            <a:endParaRPr lang="tr-TR" sz="2000" dirty="0"/>
          </a:p>
          <a:p>
            <a:pPr algn="just"/>
            <a:r>
              <a:rPr lang="tr-TR" sz="2000" dirty="0"/>
              <a:t>Yazma öncesi, yazma ânı ve yazma sonrasında kullanılan stratejiler sayesinde yazma becerisinde yetkinlik kazanılmaya çalışılır. </a:t>
            </a:r>
          </a:p>
        </p:txBody>
      </p:sp>
    </p:spTree>
    <p:extLst>
      <p:ext uri="{BB962C8B-B14F-4D97-AF65-F5344CB8AC3E}">
        <p14:creationId xmlns:p14="http://schemas.microsoft.com/office/powerpoint/2010/main" xmlns="" val="21309073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000875" cy="2647950"/>
          </a:xfrm>
          <a:prstGeom prst="rect">
            <a:avLst/>
          </a:prstGeom>
        </p:spPr>
        <p:txBody>
          <a:bodyPr vert="horz" lIns="91440" tIns="45720" rIns="91440" bIns="45720" rtlCol="0">
            <a:normAutofit/>
          </a:bodyPr>
          <a:lstStyle/>
          <a:p>
            <a:pPr algn="just"/>
            <a:r>
              <a:rPr lang="tr-TR" sz="2000" dirty="0"/>
              <a:t>Bu stratejileri şöyle sıralayabiliriz: “amaç belirleme, bilgi toplama, serbest yazma, kümeleme/salkım yöntemi, beyin fırtınası, konuyu değişik açılardan irdeleme, kendi tecrübelerinden yararlanma, kendini değerlendirme, başkalarıyla konuyla ilgili tartışma gibi” (</a:t>
            </a:r>
            <a:r>
              <a:rPr lang="tr-TR" sz="2000" dirty="0" err="1"/>
              <a:t>Leki</a:t>
            </a:r>
            <a:r>
              <a:rPr lang="tr-TR" sz="2000" dirty="0"/>
              <a:t>, 2002; </a:t>
            </a:r>
            <a:r>
              <a:rPr lang="tr-TR" sz="2000" dirty="0" err="1"/>
              <a:t>Clouse</a:t>
            </a:r>
            <a:r>
              <a:rPr lang="tr-TR" sz="2000" dirty="0"/>
              <a:t>, 2005; </a:t>
            </a:r>
            <a:r>
              <a:rPr lang="tr-TR" sz="2000" dirty="0" err="1"/>
              <a:t>Savage</a:t>
            </a:r>
            <a:r>
              <a:rPr lang="tr-TR" sz="2000" dirty="0"/>
              <a:t> ve </a:t>
            </a:r>
            <a:r>
              <a:rPr lang="tr-TR" sz="2000" dirty="0" err="1"/>
              <a:t>Mayer</a:t>
            </a:r>
            <a:r>
              <a:rPr lang="tr-TR" sz="2000" dirty="0"/>
              <a:t>, 2006; Hart, 2007; </a:t>
            </a:r>
            <a:r>
              <a:rPr lang="tr-TR" sz="2000" dirty="0" err="1"/>
              <a:t>Harris</a:t>
            </a:r>
            <a:r>
              <a:rPr lang="tr-TR" sz="2000" dirty="0"/>
              <a:t>, </a:t>
            </a:r>
            <a:r>
              <a:rPr lang="tr-TR" sz="2000" dirty="0" err="1"/>
              <a:t>Santangelo</a:t>
            </a:r>
            <a:r>
              <a:rPr lang="tr-TR" sz="2000" dirty="0"/>
              <a:t> ve </a:t>
            </a:r>
            <a:r>
              <a:rPr lang="tr-TR" sz="2000" dirty="0" err="1"/>
              <a:t>Graham</a:t>
            </a:r>
            <a:r>
              <a:rPr lang="tr-TR" sz="2000" dirty="0"/>
              <a:t>, 2010; </a:t>
            </a:r>
            <a:r>
              <a:rPr lang="tr-TR" sz="2000" dirty="0" err="1"/>
              <a:t>Savage</a:t>
            </a:r>
            <a:r>
              <a:rPr lang="tr-TR" sz="2000" dirty="0"/>
              <a:t> ve </a:t>
            </a:r>
            <a:r>
              <a:rPr lang="tr-TR" sz="2000" dirty="0" err="1"/>
              <a:t>Shafiei</a:t>
            </a:r>
            <a:r>
              <a:rPr lang="tr-TR" sz="2000" dirty="0"/>
              <a:t>, 2012’den </a:t>
            </a:r>
            <a:r>
              <a:rPr lang="tr-TR" sz="2000" dirty="0" err="1"/>
              <a:t>atk</a:t>
            </a:r>
            <a:r>
              <a:rPr lang="tr-TR" sz="2000" dirty="0"/>
              <a:t>. </a:t>
            </a:r>
            <a:r>
              <a:rPr lang="tr-TR" sz="2000" dirty="0" err="1"/>
              <a:t>Topuzkanamış</a:t>
            </a:r>
            <a:r>
              <a:rPr lang="tr-TR" sz="2000" dirty="0"/>
              <a:t>, 2014, s.277) farklı stratejilerden bahsedilebilir. </a:t>
            </a:r>
          </a:p>
        </p:txBody>
      </p:sp>
    </p:spTree>
    <p:extLst>
      <p:ext uri="{BB962C8B-B14F-4D97-AF65-F5344CB8AC3E}">
        <p14:creationId xmlns:p14="http://schemas.microsoft.com/office/powerpoint/2010/main" xmlns="" val="21309073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458075" cy="3448050"/>
          </a:xfrm>
          <a:prstGeom prst="rect">
            <a:avLst/>
          </a:prstGeom>
        </p:spPr>
        <p:txBody>
          <a:bodyPr vert="horz" lIns="91440" tIns="45720" rIns="91440" bIns="45720" rtlCol="0">
            <a:normAutofit fontScale="92500" lnSpcReduction="10000"/>
          </a:bodyPr>
          <a:lstStyle/>
          <a:p>
            <a:r>
              <a:rPr lang="tr-TR" sz="2100" dirty="0" err="1"/>
              <a:t>Graham</a:t>
            </a:r>
            <a:r>
              <a:rPr lang="tr-TR" sz="2100" dirty="0"/>
              <a:t> (2008, s.2), etkili yazı yazmak için bütün öğrencilere yönelik temelde yedi stratejiden bahseder:</a:t>
            </a:r>
          </a:p>
          <a:p>
            <a:r>
              <a:rPr lang="tr-TR" sz="2000" dirty="0"/>
              <a:t> </a:t>
            </a:r>
          </a:p>
          <a:p>
            <a:r>
              <a:rPr lang="tr-TR" sz="2000" dirty="0"/>
              <a:t>1. Müfredat boyunca gerçekleşen yazmaya zaman ayırın </a:t>
            </a:r>
            <a:r>
              <a:rPr lang="tr-TR" sz="2100" dirty="0"/>
              <a:t>ve öğrencilerin farklı yazma biçimlerinde çalışmalarını sağlayın.</a:t>
            </a:r>
          </a:p>
          <a:p>
            <a:r>
              <a:rPr lang="tr-TR" sz="2100" dirty="0"/>
              <a:t>2. Öğrencilerin yazma konusundaki bilgilerini artırın. </a:t>
            </a:r>
          </a:p>
          <a:p>
            <a:r>
              <a:rPr lang="tr-TR" sz="2000" dirty="0"/>
              <a:t>3. Öğrencilerin ilgisini, zevkini ve yazma motivasyonunu teşvik edin. </a:t>
            </a:r>
          </a:p>
          <a:p>
            <a:r>
              <a:rPr lang="tr-TR" sz="2000" dirty="0"/>
              <a:t>4. Öğrencilerin stratejik yazar olmalarına yardımcı olun. </a:t>
            </a:r>
          </a:p>
          <a:p>
            <a:r>
              <a:rPr lang="tr-TR" sz="2000" dirty="0"/>
              <a:t>5. Ustalık kazanmak için temel yazma becerilerini öğretin. </a:t>
            </a:r>
          </a:p>
          <a:p>
            <a:r>
              <a:rPr lang="tr-TR" sz="2000" dirty="0"/>
              <a:t>6. Teknolojik yazı araçlarından yararlanın. </a:t>
            </a:r>
          </a:p>
          <a:p>
            <a:r>
              <a:rPr lang="tr-TR" sz="2000" dirty="0"/>
              <a:t>7. Öğrencilerin ilerlemesini ve ihtiyaçlarını ölçmek için değerlendirmeyi kullanın. </a:t>
            </a:r>
          </a:p>
        </p:txBody>
      </p:sp>
    </p:spTree>
    <p:extLst>
      <p:ext uri="{BB962C8B-B14F-4D97-AF65-F5344CB8AC3E}">
        <p14:creationId xmlns:p14="http://schemas.microsoft.com/office/powerpoint/2010/main" xmlns="" val="2130907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772400" cy="2647950"/>
          </a:xfrm>
          <a:prstGeom prst="rect">
            <a:avLst/>
          </a:prstGeom>
        </p:spPr>
        <p:txBody>
          <a:bodyPr vert="horz" lIns="91440" tIns="45720" rIns="91440" bIns="45720" rtlCol="0">
            <a:normAutofit fontScale="70000" lnSpcReduction="20000"/>
          </a:bodyPr>
          <a:lstStyle/>
          <a:p>
            <a:pPr algn="just"/>
            <a:r>
              <a:rPr lang="tr-TR" sz="2000" dirty="0"/>
              <a:t>Yazma öncesinde araştırma yapmak, konuya dair bilgi toplamak, yazılacak konuya ilişkin gazeteci, sosyolog gibi farklı kişilerle görüşmek, toplanan bilgilerin seçilmesi, elenmesi ve nasıl kullanılacağı üzerinde düşünmek, yazma ortamına karar vermek, yazının kısalığına ve uzunluğuna göre yazının amacı da göz önünde tutularak bilginin organize edilmesi hakkında planlama yapmak, yazının amacı doğrultusunda söz, tümce, paragraf, metin bütünlüğünü kurmak, metni belirli bir zaman en az üç gün dinlendirerek yazıyı tekrar gözden geçirerek mantıksal tutarlılık, anlatım bozukluğu, yazım ve imla konusunda düzeltmek gerekir. </a:t>
            </a:r>
          </a:p>
          <a:p>
            <a:pPr algn="just"/>
            <a:endParaRPr lang="tr-TR" sz="2000" dirty="0"/>
          </a:p>
          <a:p>
            <a:pPr algn="just"/>
            <a:r>
              <a:rPr lang="tr-TR" sz="2000" dirty="0"/>
              <a:t>Yazma süreci, yazının yayımlanmasıyla tamamlanır. Yazı, basılı ya da elektronik ortamlarda yayımlanabilir. Akademik ya da popüler ortamların dil kullanımı birbirinden farklıdır. Yazının yayımlanacağı mecra ne olursa olsun yazının okunurluğu ancak yazma stratejilerinin başarılı kullanımı ile orantılıdır. Elektronik ortamlarda hız unsuru öne çıkarken kitap, dergi gibi basılı ürünlerde hızın bu anlamda daha geri atılması söz konusudur. Bununla birlikte, yazıdaki akıcılık, anlamda tutarlık, etkili anlatım ve örnekler vs. yazının okurla buluşmasını sağlayacaktır.</a:t>
            </a:r>
          </a:p>
        </p:txBody>
      </p:sp>
    </p:spTree>
    <p:extLst>
      <p:ext uri="{BB962C8B-B14F-4D97-AF65-F5344CB8AC3E}">
        <p14:creationId xmlns:p14="http://schemas.microsoft.com/office/powerpoint/2010/main" xmlns="" val="2130907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490601" y="1607156"/>
            <a:ext cx="8148574" cy="1223412"/>
          </a:xfrm>
          <a:prstGeom prst="rect">
            <a:avLst/>
          </a:prstGeom>
        </p:spPr>
        <p:txBody>
          <a:bodyPr wrap="square">
            <a:spAutoFit/>
          </a:bodyPr>
          <a:lstStyle/>
          <a:p>
            <a:endParaRPr lang="tr-TR" dirty="0"/>
          </a:p>
          <a:p>
            <a:endParaRPr lang="en-US" sz="2000" dirty="0"/>
          </a:p>
          <a:p>
            <a:endParaRPr lang="tr-TR" sz="2000" dirty="0"/>
          </a:p>
          <a:p>
            <a:endParaRPr lang="tr-TR" sz="2000" dirty="0"/>
          </a:p>
        </p:txBody>
      </p:sp>
      <p:sp>
        <p:nvSpPr>
          <p:cNvPr id="10" name="2 İçerik Yer Tutucusu"/>
          <p:cNvSpPr txBox="1">
            <a:spLocks/>
          </p:cNvSpPr>
          <p:nvPr/>
        </p:nvSpPr>
        <p:spPr>
          <a:xfrm>
            <a:off x="866775" y="1257300"/>
            <a:ext cx="7334250" cy="3048000"/>
          </a:xfrm>
          <a:prstGeom prst="rect">
            <a:avLst/>
          </a:prstGeom>
        </p:spPr>
        <p:txBody>
          <a:bodyPr vert="horz" lIns="91440" tIns="45720" rIns="91440" bIns="45720" rtlCol="0">
            <a:normAutofit/>
          </a:bodyPr>
          <a:lstStyle/>
          <a:p>
            <a:r>
              <a:rPr lang="tr-TR" sz="2000" b="1" dirty="0"/>
              <a:t>Yazma Öğretiminde Teori ve Modeller</a:t>
            </a:r>
          </a:p>
          <a:p>
            <a:pPr algn="just"/>
            <a:r>
              <a:rPr lang="tr-TR" sz="2000" dirty="0"/>
              <a:t>Yazma öğretiminde farklı teoriler ile modeller vardır. Bu noktada Beyhan Can’ın dikkat çektiği teori ile model kavramlarına bakmak gerekir. Teori kavramının «öğrenme, motivasyon, hafıza, başarı, zekâ ve eğitime özgü başka olguların açıklanması için </a:t>
            </a:r>
            <a:r>
              <a:rPr lang="tr-TR" sz="2000" dirty="0" err="1"/>
              <a:t>kullanıldığı»nın</a:t>
            </a:r>
            <a:r>
              <a:rPr lang="tr-TR" sz="2000" dirty="0"/>
              <a:t> altını çizer. Model, teoriden farklıdır. Bir modelin bilimsel olarak değerlendirilmesi için birtakım özellikleri olması gereklidir. Bir öğretim modeli bir ya da birkaç teoriye dair olmalı ve alandaki bilgi ve becerileri kapsamalıdır.</a:t>
            </a:r>
          </a:p>
          <a:p>
            <a:endParaRPr lang="tr-TR" sz="2000" b="1" dirty="0"/>
          </a:p>
          <a:p>
            <a:endParaRPr lang="tr-TR" sz="2000" dirty="0"/>
          </a:p>
        </p:txBody>
      </p:sp>
      <p:sp>
        <p:nvSpPr>
          <p:cNvPr id="7" name="6 Dikdörtgen"/>
          <p:cNvSpPr/>
          <p:nvPr/>
        </p:nvSpPr>
        <p:spPr>
          <a:xfrm>
            <a:off x="490601" y="2213960"/>
            <a:ext cx="6367399" cy="300082"/>
          </a:xfrm>
          <a:prstGeom prst="rect">
            <a:avLst/>
          </a:prstGeom>
        </p:spPr>
        <p:txBody>
          <a:bodyPr wrap="square">
            <a:spAutoFit/>
          </a:bodyPr>
          <a:lstStyle/>
          <a:p>
            <a:endParaRPr lang="tr-TR" dirty="0"/>
          </a:p>
        </p:txBody>
      </p:sp>
    </p:spTree>
    <p:extLst>
      <p:ext uri="{BB962C8B-B14F-4D97-AF65-F5344CB8AC3E}">
        <p14:creationId xmlns:p14="http://schemas.microsoft.com/office/powerpoint/2010/main" xmlns="" val="21309073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561975" y="1104901"/>
            <a:ext cx="8048625" cy="3785652"/>
          </a:xfrm>
          <a:prstGeom prst="rect">
            <a:avLst/>
          </a:prstGeom>
        </p:spPr>
        <p:txBody>
          <a:bodyPr wrap="square">
            <a:spAutoFit/>
          </a:bodyPr>
          <a:lstStyle/>
          <a:p>
            <a:pPr algn="just"/>
            <a:r>
              <a:rPr lang="tr-TR" sz="2400" dirty="0"/>
              <a:t>Teori ve modeller dil öğreniminde oldukça önemlidir. Yazma becerisi ilkokulda “sistemli” (Can, 2018, s.30) bir şekle bürünür. Yazma becerisinde sistemli bir gelişimin ortaya çıkması için eğitim-öğretim ortamlarının düzenlenmesi, öğrencilerin eksiklerinin tespit edilmesi, öğrenme ortamlarının koşullar dâhilinde düzenlenmesi gereklidir. Eğitmenler ihtiyaçlar doğrultusunda farklı teori ve modellerden yararlanabilir. Yazma becerisinin öğrenilebilir ve sistemli olarak hayat boyu geliştirilebilir bir beceri olduğu unutulmamalıdır. </a:t>
            </a:r>
          </a:p>
          <a:p>
            <a:pPr algn="just"/>
            <a:endParaRPr lang="tr-TR" sz="2400" dirty="0"/>
          </a:p>
        </p:txBody>
      </p:sp>
    </p:spTree>
    <p:extLst>
      <p:ext uri="{BB962C8B-B14F-4D97-AF65-F5344CB8AC3E}">
        <p14:creationId xmlns:p14="http://schemas.microsoft.com/office/powerpoint/2010/main" xmlns="" val="1994271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95350" y="1104901"/>
            <a:ext cx="6762750" cy="2677656"/>
          </a:xfrm>
          <a:prstGeom prst="rect">
            <a:avLst/>
          </a:prstGeom>
        </p:spPr>
        <p:txBody>
          <a:bodyPr wrap="square">
            <a:spAutoFit/>
          </a:bodyPr>
          <a:lstStyle/>
          <a:p>
            <a:r>
              <a:rPr lang="tr-TR" sz="2400" dirty="0"/>
              <a:t>Yazma becerisinde kullanılabilecek bazı teoriler şunlardır: </a:t>
            </a:r>
          </a:p>
          <a:p>
            <a:r>
              <a:rPr lang="tr-TR" sz="2400" dirty="0"/>
              <a:t>1. Bilişsel gelişim teorisi ve yazma: Jean </a:t>
            </a:r>
            <a:r>
              <a:rPr lang="tr-TR" sz="2400" dirty="0" err="1"/>
              <a:t>Piaget</a:t>
            </a:r>
            <a:endParaRPr lang="tr-TR" sz="2400" dirty="0"/>
          </a:p>
          <a:p>
            <a:r>
              <a:rPr lang="tr-TR" sz="2400" dirty="0"/>
              <a:t>2. Sosyokültürel teori ve yazma: </a:t>
            </a:r>
            <a:r>
              <a:rPr lang="tr-TR" sz="2400" dirty="0" err="1"/>
              <a:t>Lev</a:t>
            </a:r>
            <a:r>
              <a:rPr lang="tr-TR" sz="2400" dirty="0"/>
              <a:t> </a:t>
            </a:r>
            <a:r>
              <a:rPr lang="tr-TR" sz="2400" dirty="0" err="1"/>
              <a:t>Vygotsky</a:t>
            </a:r>
            <a:endParaRPr lang="tr-TR" sz="2400" dirty="0"/>
          </a:p>
          <a:p>
            <a:r>
              <a:rPr lang="tr-TR" sz="2400" dirty="0"/>
              <a:t>3. Yapısalcı teori ve yazma: </a:t>
            </a:r>
            <a:r>
              <a:rPr lang="tr-TR" sz="2400" dirty="0" err="1"/>
              <a:t>Jerome</a:t>
            </a:r>
            <a:r>
              <a:rPr lang="tr-TR" sz="2400" dirty="0"/>
              <a:t> </a:t>
            </a:r>
            <a:r>
              <a:rPr lang="tr-TR" sz="2400" dirty="0" err="1"/>
              <a:t>Bruner</a:t>
            </a:r>
            <a:endParaRPr lang="tr-TR" sz="2400" dirty="0"/>
          </a:p>
          <a:p>
            <a:r>
              <a:rPr lang="tr-TR" sz="2400" dirty="0"/>
              <a:t>4. Yazma gelişim teorisi-modeli: </a:t>
            </a:r>
            <a:r>
              <a:rPr lang="tr-TR" sz="2400" dirty="0" err="1"/>
              <a:t>Emilia</a:t>
            </a:r>
            <a:r>
              <a:rPr lang="tr-TR" sz="2400" dirty="0"/>
              <a:t> </a:t>
            </a:r>
            <a:r>
              <a:rPr lang="tr-TR" sz="2400" dirty="0" err="1"/>
              <a:t>Ferreiro</a:t>
            </a:r>
            <a:endParaRPr lang="tr-TR" sz="2400" dirty="0"/>
          </a:p>
          <a:p>
            <a:r>
              <a:rPr lang="tr-TR" sz="2400" dirty="0"/>
              <a:t>Bu teorileri kısaca özetleyelim.</a:t>
            </a:r>
          </a:p>
        </p:txBody>
      </p:sp>
    </p:spTree>
    <p:extLst>
      <p:ext uri="{BB962C8B-B14F-4D97-AF65-F5344CB8AC3E}">
        <p14:creationId xmlns:p14="http://schemas.microsoft.com/office/powerpoint/2010/main" xmlns="" val="1994271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Dikdörtgen"/>
          <p:cNvSpPr/>
          <p:nvPr/>
        </p:nvSpPr>
        <p:spPr>
          <a:xfrm>
            <a:off x="561975" y="1724025"/>
            <a:ext cx="6296025" cy="300082"/>
          </a:xfrm>
          <a:prstGeom prst="rect">
            <a:avLst/>
          </a:prstGeom>
        </p:spPr>
        <p:txBody>
          <a:bodyPr wrap="square">
            <a:spAutoFit/>
          </a:bodyPr>
          <a:lstStyle/>
          <a:p>
            <a:r>
              <a:rPr lang="tr-TR" dirty="0"/>
              <a:t>.</a:t>
            </a:r>
            <a:endParaRPr lang="en-US" dirty="0"/>
          </a:p>
        </p:txBody>
      </p:sp>
      <p:sp>
        <p:nvSpPr>
          <p:cNvPr id="6" name="5 Dikdörtgen"/>
          <p:cNvSpPr/>
          <p:nvPr/>
        </p:nvSpPr>
        <p:spPr>
          <a:xfrm>
            <a:off x="409575" y="1104901"/>
            <a:ext cx="8286749" cy="3477875"/>
          </a:xfrm>
          <a:prstGeom prst="rect">
            <a:avLst/>
          </a:prstGeom>
        </p:spPr>
        <p:txBody>
          <a:bodyPr wrap="square">
            <a:spAutoFit/>
          </a:bodyPr>
          <a:lstStyle/>
          <a:p>
            <a:pPr algn="just"/>
            <a:r>
              <a:rPr lang="tr-TR" sz="2000" b="1" dirty="0"/>
              <a:t>1. Bilişsel gelişim teorisi ve yazma: Jean </a:t>
            </a:r>
            <a:r>
              <a:rPr lang="tr-TR" sz="2000" b="1" dirty="0" err="1"/>
              <a:t>Piaget</a:t>
            </a:r>
            <a:r>
              <a:rPr lang="tr-TR" sz="2000" b="1" dirty="0"/>
              <a:t>:</a:t>
            </a:r>
            <a:r>
              <a:rPr lang="tr-TR" sz="2000" dirty="0"/>
              <a:t> Bilişsel gelişim teorisinde adından da anlaşılacağı üzere bilişsel gelişim önemlidir. Bilişsel gelişim, zihinsel süreçleri içeren ögelerdir. Bireyin çevresini algılaması, dünyaya ve kendine bakışı, çevresinde olup bitenleri yorumlaması olarak tanımlanabilir. “</a:t>
            </a:r>
            <a:r>
              <a:rPr lang="tr-TR" sz="2000" dirty="0" err="1"/>
              <a:t>Piaget’ye</a:t>
            </a:r>
            <a:r>
              <a:rPr lang="tr-TR" sz="2000" dirty="0"/>
              <a:t> göre çocuk yaparak öğrenir” (Can, 2018, s.32). Çocuk yaparak öğrenir, ancak çocuğun biyolojik gelişimi ile dil gelişimi arasındaki ilişki gözetilmeli ve çocuğun bilişsel gelişimine uygun çalışmalar yapılmalıdır. “Öğretmen bir yargıç gibi yazılanları yargılamaktan ziyade” (</a:t>
            </a:r>
            <a:r>
              <a:rPr lang="tr-TR" sz="2000" dirty="0" err="1"/>
              <a:t>Cheatham</a:t>
            </a:r>
            <a:r>
              <a:rPr lang="tr-TR" sz="2000" dirty="0"/>
              <a:t>, 1989’dan </a:t>
            </a:r>
            <a:r>
              <a:rPr lang="tr-TR" sz="2000" dirty="0" err="1"/>
              <a:t>akt</a:t>
            </a:r>
            <a:r>
              <a:rPr lang="tr-TR" sz="2000" dirty="0"/>
              <a:t>. Can, 2018, s. 32) öğrencinin taslak hazırlamasına, yazma becerisini geliştirmesine yardım etmelidir. Bu teoride biyolojik gelişim ile dil becerisi arasındaki koşutluk gözden kaçırılmamalıdır. </a:t>
            </a:r>
          </a:p>
        </p:txBody>
      </p:sp>
    </p:spTree>
    <p:extLst>
      <p:ext uri="{BB962C8B-B14F-4D97-AF65-F5344CB8AC3E}">
        <p14:creationId xmlns:p14="http://schemas.microsoft.com/office/powerpoint/2010/main" xmlns="" val="1994271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295275" y="1001833"/>
            <a:ext cx="8686800" cy="3139321"/>
          </a:xfrm>
          <a:prstGeom prst="rect">
            <a:avLst/>
          </a:prstGeom>
        </p:spPr>
        <p:txBody>
          <a:bodyPr wrap="square" numCol="1">
            <a:spAutoFit/>
          </a:bodyPr>
          <a:lstStyle/>
          <a:p>
            <a:r>
              <a:rPr lang="tr-TR" sz="1800" b="1" dirty="0"/>
              <a:t>2. Sosyokültürel teori ve yazma: </a:t>
            </a:r>
            <a:r>
              <a:rPr lang="tr-TR" sz="1800" b="1" dirty="0" err="1"/>
              <a:t>Lev</a:t>
            </a:r>
            <a:r>
              <a:rPr lang="tr-TR" sz="1800" b="1" dirty="0"/>
              <a:t> </a:t>
            </a:r>
            <a:r>
              <a:rPr lang="tr-TR" sz="1800" b="1" dirty="0" err="1"/>
              <a:t>Vygotsky</a:t>
            </a:r>
            <a:r>
              <a:rPr lang="tr-TR" sz="1800" b="1" dirty="0"/>
              <a:t>: </a:t>
            </a:r>
            <a:r>
              <a:rPr lang="tr-TR" sz="1800" dirty="0" err="1"/>
              <a:t>Vygotsky</a:t>
            </a:r>
            <a:r>
              <a:rPr lang="tr-TR" sz="1800" dirty="0"/>
              <a:t>, sosyal ve kültürel süreçlerin insanların öğrenmelerinde etkili olduğunu vurgular. “Sosyokültürel etkileşimlerin öğrenmede kritik rolü” (Can, 2018, s. 33) üzerinde durur. </a:t>
            </a:r>
          </a:p>
          <a:p>
            <a:pPr algn="just"/>
            <a:r>
              <a:rPr lang="tr-TR" sz="1800" dirty="0"/>
              <a:t>Sosyal etkileşim nasıl gerçekleşir? Öğrenme çerçevesi ve olası gelişim alanı olarak iki şekilde gerçekleşir. Öğrenme çerçevesi öğrencinin öğretmen ve yetişkinler tarafından desteklenmesi (</a:t>
            </a:r>
            <a:r>
              <a:rPr lang="tr-TR" sz="1800" dirty="0" err="1"/>
              <a:t>Tompkins</a:t>
            </a:r>
            <a:r>
              <a:rPr lang="tr-TR" sz="1800" dirty="0"/>
              <a:t>, 2006, s.14’ten </a:t>
            </a:r>
            <a:r>
              <a:rPr lang="tr-TR" sz="1800" dirty="0" err="1"/>
              <a:t>akt</a:t>
            </a:r>
            <a:r>
              <a:rPr lang="tr-TR" sz="1800" dirty="0"/>
              <a:t>. Can, 2018, s. 33); gelişim alanı ise öğrencinin kendi kendine ortaya koyabileceği gelişim seviyesi ile akranlarıyla işbirliğine giderek gösterebileceği kendi potansiyel gelişimi arasındaki mesafe olarak (</a:t>
            </a:r>
            <a:r>
              <a:rPr lang="tr-TR" sz="1800" dirty="0" err="1"/>
              <a:t>Barnard</a:t>
            </a:r>
            <a:r>
              <a:rPr lang="tr-TR" sz="1800" dirty="0"/>
              <a:t> ve </a:t>
            </a:r>
            <a:r>
              <a:rPr lang="tr-TR" sz="1800" dirty="0" err="1"/>
              <a:t>Campell</a:t>
            </a:r>
            <a:r>
              <a:rPr lang="tr-TR" sz="1800" dirty="0"/>
              <a:t>, 2005’ten </a:t>
            </a:r>
            <a:r>
              <a:rPr lang="tr-TR" sz="1800" dirty="0" err="1"/>
              <a:t>akt</a:t>
            </a:r>
            <a:r>
              <a:rPr lang="tr-TR" sz="1800" dirty="0"/>
              <a:t>. Can, 2018, s.33) açıklanmaktadır. Bu teoride öğretmenin rehberliği önemlidir. Öğretmenin yol gösterici rolü kadar öğrencinin yazı sürecindeki hâkimiyeti ve öğrenme ortamının etkisi öne çıkar. </a:t>
            </a:r>
          </a:p>
        </p:txBody>
      </p:sp>
    </p:spTree>
    <p:extLst>
      <p:ext uri="{BB962C8B-B14F-4D97-AF65-F5344CB8AC3E}">
        <p14:creationId xmlns:p14="http://schemas.microsoft.com/office/powerpoint/2010/main" xmlns="" val="19942719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828675" y="1343025"/>
            <a:ext cx="7629525" cy="3170099"/>
          </a:xfrm>
          <a:prstGeom prst="rect">
            <a:avLst/>
          </a:prstGeom>
        </p:spPr>
        <p:txBody>
          <a:bodyPr wrap="square" numCol="1">
            <a:spAutoFit/>
          </a:bodyPr>
          <a:lstStyle/>
          <a:p>
            <a:pPr algn="just"/>
            <a:r>
              <a:rPr lang="tr-TR" sz="2000" b="1" dirty="0"/>
              <a:t>3. Yapısalcı teori ve yazma: </a:t>
            </a:r>
            <a:r>
              <a:rPr lang="tr-TR" sz="2000" b="1" dirty="0" err="1"/>
              <a:t>Jerome</a:t>
            </a:r>
            <a:r>
              <a:rPr lang="tr-TR" sz="2000" b="1" dirty="0"/>
              <a:t> </a:t>
            </a:r>
            <a:r>
              <a:rPr lang="tr-TR" sz="2000" b="1" dirty="0" err="1"/>
              <a:t>Bruner</a:t>
            </a:r>
            <a:r>
              <a:rPr lang="tr-TR" sz="2000" b="1" dirty="0"/>
              <a:t>: </a:t>
            </a:r>
            <a:r>
              <a:rPr lang="tr-TR" sz="2000" dirty="0" err="1"/>
              <a:t>Jerome</a:t>
            </a:r>
            <a:r>
              <a:rPr lang="tr-TR" sz="2000" dirty="0"/>
              <a:t> </a:t>
            </a:r>
            <a:r>
              <a:rPr lang="tr-TR" sz="2000" dirty="0" err="1"/>
              <a:t>Bruner</a:t>
            </a:r>
            <a:r>
              <a:rPr lang="tr-TR" sz="2000" dirty="0"/>
              <a:t>, öğrenme</a:t>
            </a:r>
            <a:r>
              <a:rPr lang="tr-TR" sz="2000" b="1" dirty="0"/>
              <a:t> </a:t>
            </a:r>
            <a:r>
              <a:rPr lang="tr-TR" sz="2000" dirty="0"/>
              <a:t>ortamlarının oluşturulmasında çocukların bilişsel gelişimlerinin nasıl oluştuğunun bilinmesinin faydalı olduğuna dikkat çeker. “Bilişsel süreçlerin aşamalı ilerleyişine uygun olarak öğretim dönemleri de aşamalandırılmalıdır” (</a:t>
            </a:r>
            <a:r>
              <a:rPr lang="tr-TR" sz="2000" dirty="0" err="1"/>
              <a:t>Senemoğlu</a:t>
            </a:r>
            <a:r>
              <a:rPr lang="tr-TR" sz="2000" dirty="0"/>
              <a:t>, 2002, s. 64-66’dan </a:t>
            </a:r>
            <a:r>
              <a:rPr lang="tr-TR" sz="2000" dirty="0" err="1"/>
              <a:t>akt</a:t>
            </a:r>
            <a:r>
              <a:rPr lang="tr-TR" sz="2000" dirty="0"/>
              <a:t>. Can, 2018, s. 34). Bu teoride öğrencinin istekli hâle getirilmesi ve öğrenmeye açık olmayı teşvik eden yaşantıların desteklenmesi; anlamayı kolaylaştıran şekilde öğrenme ortamının yapılandırılması, edinilen bilginin farklı durumlarda transferi kolaylaştıracak şekilde tasarlanması amaçlanır (</a:t>
            </a:r>
            <a:r>
              <a:rPr lang="tr-TR" sz="2000" dirty="0" err="1"/>
              <a:t>Arslan</a:t>
            </a:r>
            <a:r>
              <a:rPr lang="tr-TR" sz="2000" dirty="0"/>
              <a:t>, 2007, s.48’den </a:t>
            </a:r>
            <a:r>
              <a:rPr lang="tr-TR" sz="2000" dirty="0" err="1"/>
              <a:t>akt</a:t>
            </a:r>
            <a:r>
              <a:rPr lang="tr-TR" sz="2000" dirty="0"/>
              <a:t>. Can, 2018, s.34).</a:t>
            </a:r>
            <a:endParaRPr lang="tr-TR" sz="2000" b="1" dirty="0"/>
          </a:p>
        </p:txBody>
      </p:sp>
    </p:spTree>
    <p:extLst>
      <p:ext uri="{BB962C8B-B14F-4D97-AF65-F5344CB8AC3E}">
        <p14:creationId xmlns:p14="http://schemas.microsoft.com/office/powerpoint/2010/main" xmlns="" val="19942719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295276" y="849219"/>
            <a:ext cx="8534400" cy="4093428"/>
          </a:xfrm>
          <a:prstGeom prst="rect">
            <a:avLst/>
          </a:prstGeom>
        </p:spPr>
        <p:txBody>
          <a:bodyPr wrap="square" numCol="1">
            <a:spAutoFit/>
          </a:bodyPr>
          <a:lstStyle/>
          <a:p>
            <a:pPr algn="just"/>
            <a:r>
              <a:rPr lang="tr-TR" sz="2000" dirty="0" err="1"/>
              <a:t>Bruner</a:t>
            </a:r>
            <a:r>
              <a:rPr lang="tr-TR" sz="2000" dirty="0"/>
              <a:t>, çocuğun kabiliyetlerinin ötesindeki ögeleri nasıl kontrol edebileceği konusunda ona rehberlik eden yetişkinin verdiği yardımı “öğrenme çerçevesi” terimi ile tanımlar ve </a:t>
            </a:r>
            <a:r>
              <a:rPr lang="tr-TR" sz="2000" dirty="0" err="1"/>
              <a:t>Bruner’e</a:t>
            </a:r>
            <a:r>
              <a:rPr lang="tr-TR" sz="2000" dirty="0"/>
              <a:t> göre dil, bilişsel büyümeye yönelik bir temel araç olarak işlev görür (</a:t>
            </a:r>
            <a:r>
              <a:rPr lang="tr-TR" sz="2000" dirty="0" err="1"/>
              <a:t>Bruner</a:t>
            </a:r>
            <a:r>
              <a:rPr lang="tr-TR" sz="2000" dirty="0"/>
              <a:t>, </a:t>
            </a:r>
            <a:r>
              <a:rPr lang="tr-TR" sz="2000" dirty="0" err="1"/>
              <a:t>Olver</a:t>
            </a:r>
            <a:r>
              <a:rPr lang="tr-TR" sz="2000" dirty="0"/>
              <a:t> ve </a:t>
            </a:r>
            <a:r>
              <a:rPr lang="tr-TR" sz="2000" dirty="0" err="1"/>
              <a:t>Greenfield</a:t>
            </a:r>
            <a:r>
              <a:rPr lang="tr-TR" sz="2000" dirty="0"/>
              <a:t>, 1996; </a:t>
            </a:r>
            <a:r>
              <a:rPr lang="tr-TR" sz="2000" dirty="0" err="1"/>
              <a:t>Langer</a:t>
            </a:r>
            <a:r>
              <a:rPr lang="tr-TR" sz="2000" dirty="0"/>
              <a:t> ve </a:t>
            </a:r>
            <a:r>
              <a:rPr lang="tr-TR" sz="2000" dirty="0" err="1"/>
              <a:t>Applebee</a:t>
            </a:r>
            <a:r>
              <a:rPr lang="tr-TR" sz="2000" dirty="0"/>
              <a:t>, 1986, s.173’ten </a:t>
            </a:r>
            <a:r>
              <a:rPr lang="tr-TR" sz="2000" dirty="0" err="1"/>
              <a:t>akt</a:t>
            </a:r>
            <a:r>
              <a:rPr lang="tr-TR" sz="2000" dirty="0"/>
              <a:t>. Can, 2018, s. 35). </a:t>
            </a:r>
            <a:r>
              <a:rPr lang="tr-TR" sz="2000" dirty="0" err="1"/>
              <a:t>Smith</a:t>
            </a:r>
            <a:r>
              <a:rPr lang="tr-TR" sz="2000" dirty="0"/>
              <a:t> (1977), </a:t>
            </a:r>
            <a:r>
              <a:rPr lang="tr-TR" sz="2000" dirty="0" err="1"/>
              <a:t>Bruner’den</a:t>
            </a:r>
            <a:r>
              <a:rPr lang="tr-TR" sz="2000" dirty="0"/>
              <a:t> hareketle yazma öğretimine dair bazı öneriler sunmuştur. Öğrenciler üzerinde zorlama, baskı gibi tutumlar yerine öğrencinin mevcut yazma problemleri üzerinde durularak öğrencinin bu sorunları kendilerinin çözebilmesi için desteklenebilir. </a:t>
            </a:r>
            <a:r>
              <a:rPr lang="tr-TR" sz="2000" dirty="0" err="1"/>
              <a:t>Bruner</a:t>
            </a:r>
            <a:r>
              <a:rPr lang="tr-TR" sz="2000" dirty="0"/>
              <a:t>, dilde ilerleme kaydetmek için öğrencinin yazdığı bir kompozisyonu kaydediciye okuyup dinlemesini önerir. </a:t>
            </a:r>
            <a:r>
              <a:rPr lang="tr-TR" sz="2000" dirty="0" err="1"/>
              <a:t>Bruner</a:t>
            </a:r>
            <a:r>
              <a:rPr lang="tr-TR" sz="2000" dirty="0"/>
              <a:t>, yanlışları düzeltmek yerine yazının yeniden yazılması için zaman ayrılmasını önerir ve yazma öğretiminde sürece dair; sonuçtan, sözün kısası üründen daha fazla düşünülmesi gerekir (</a:t>
            </a:r>
            <a:r>
              <a:rPr lang="tr-TR" sz="2000" dirty="0" err="1"/>
              <a:t>Smith</a:t>
            </a:r>
            <a:r>
              <a:rPr lang="tr-TR" sz="2000" dirty="0"/>
              <a:t>, 1977’den </a:t>
            </a:r>
            <a:r>
              <a:rPr lang="tr-TR" sz="2000" dirty="0" err="1"/>
              <a:t>akt</a:t>
            </a:r>
            <a:r>
              <a:rPr lang="tr-TR" sz="2000" dirty="0"/>
              <a:t>. Can, 2018, s. 35). </a:t>
            </a:r>
          </a:p>
        </p:txBody>
      </p:sp>
    </p:spTree>
    <p:extLst>
      <p:ext uri="{BB962C8B-B14F-4D97-AF65-F5344CB8AC3E}">
        <p14:creationId xmlns:p14="http://schemas.microsoft.com/office/powerpoint/2010/main" xmlns="" val="1994271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800100" y="4985004"/>
            <a:ext cx="8343898" cy="2677656"/>
          </a:xfrm>
          <a:prstGeom prst="rect">
            <a:avLst/>
          </a:prstGeom>
        </p:spPr>
        <p:txBody>
          <a:bodyPr wrap="square">
            <a:spAutoFit/>
          </a:bodyPr>
          <a:lstStyle/>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
        <p:nvSpPr>
          <p:cNvPr id="6" name="5 Dikdörtgen"/>
          <p:cNvSpPr/>
          <p:nvPr/>
        </p:nvSpPr>
        <p:spPr>
          <a:xfrm>
            <a:off x="428625" y="1114424"/>
            <a:ext cx="7972425" cy="3046988"/>
          </a:xfrm>
          <a:prstGeom prst="rect">
            <a:avLst/>
          </a:prstGeom>
        </p:spPr>
        <p:txBody>
          <a:bodyPr wrap="square">
            <a:spAutoFit/>
          </a:bodyPr>
          <a:lstStyle/>
          <a:p>
            <a:pPr algn="just"/>
            <a:r>
              <a:rPr lang="tr-TR" sz="1800" b="1" dirty="0"/>
              <a:t>4. Yazma gelişim teorisi-modeli: </a:t>
            </a:r>
            <a:r>
              <a:rPr lang="tr-TR" sz="1800" b="1" dirty="0" err="1"/>
              <a:t>Emilia</a:t>
            </a:r>
            <a:r>
              <a:rPr lang="tr-TR" sz="1800" b="1" dirty="0"/>
              <a:t> </a:t>
            </a:r>
            <a:r>
              <a:rPr lang="tr-TR" sz="1800" b="1" dirty="0" err="1"/>
              <a:t>Ferreiro</a:t>
            </a:r>
            <a:r>
              <a:rPr lang="tr-TR" sz="1800" b="1" dirty="0"/>
              <a:t>: </a:t>
            </a:r>
            <a:r>
              <a:rPr lang="tr-TR" sz="1800" dirty="0" err="1"/>
              <a:t>Ferreiro’nun</a:t>
            </a:r>
            <a:r>
              <a:rPr lang="tr-TR" sz="1800" dirty="0"/>
              <a:t> geliştirdiği bu yazma gelişim modelinde üç aşama vardır. Okul öncesi aşama, ilk okuma-yazma aşaması ve akıcı yazma aşaması. </a:t>
            </a:r>
            <a:r>
              <a:rPr lang="tr-TR" sz="1800" dirty="0" err="1"/>
              <a:t>Ferreiro</a:t>
            </a:r>
            <a:r>
              <a:rPr lang="tr-TR" sz="1800" dirty="0"/>
              <a:t>, </a:t>
            </a:r>
            <a:r>
              <a:rPr lang="tr-TR" sz="1800" dirty="0" err="1"/>
              <a:t>Piaget</a:t>
            </a:r>
            <a:r>
              <a:rPr lang="tr-TR" sz="1800" dirty="0"/>
              <a:t> ve </a:t>
            </a:r>
            <a:r>
              <a:rPr lang="tr-TR" sz="1800" dirty="0" err="1"/>
              <a:t>Frith’in</a:t>
            </a:r>
            <a:r>
              <a:rPr lang="tr-TR" sz="1800" dirty="0"/>
              <a:t> görüşlerini temel alarak çocuğun gelişimine koşut olarak yazma becerisinin nasıl geliştiğini anlamaya çalışır. Yazma becerisinde davranışlardan çok zihinsel süreçlere yönelir (Güneş, 2007’den </a:t>
            </a:r>
            <a:r>
              <a:rPr lang="tr-TR" sz="1800" dirty="0" err="1"/>
              <a:t>akt</a:t>
            </a:r>
            <a:r>
              <a:rPr lang="tr-TR" sz="1800" dirty="0"/>
              <a:t>. Can, 2018, s. 35). Çocukların düşünüş şekillerini anlamaya çalışır ve çocukların karşılaştıkları problemlerde ya da çözüm önerilerinde bir sistem keşfetmeye çalışır. “Sosyal bir nesne olarak yazma sisteminin doğası hakkında çocukların geliştirdiği fikirler sisteminin gelişimi” (</a:t>
            </a:r>
            <a:r>
              <a:rPr lang="tr-TR" sz="1800" dirty="0" err="1"/>
              <a:t>Goodman</a:t>
            </a:r>
            <a:r>
              <a:rPr lang="tr-TR" sz="1800" dirty="0"/>
              <a:t>, </a:t>
            </a:r>
            <a:r>
              <a:rPr lang="tr-TR" sz="1800" dirty="0" err="1"/>
              <a:t>Reyes</a:t>
            </a:r>
            <a:r>
              <a:rPr lang="tr-TR" sz="1800" dirty="0"/>
              <a:t> ve </a:t>
            </a:r>
            <a:r>
              <a:rPr lang="tr-TR" sz="1800" dirty="0" err="1"/>
              <a:t>MacArthur</a:t>
            </a:r>
            <a:r>
              <a:rPr lang="tr-TR" sz="1800" dirty="0"/>
              <a:t>, 2005, s. 320’den </a:t>
            </a:r>
            <a:r>
              <a:rPr lang="tr-TR" sz="1800" dirty="0" err="1"/>
              <a:t>akt</a:t>
            </a:r>
            <a:r>
              <a:rPr lang="tr-TR" sz="1800" dirty="0"/>
              <a:t>. Can, 2018, s.36) üzerinde durur. </a:t>
            </a:r>
          </a:p>
          <a:p>
            <a:pPr algn="just"/>
            <a:endParaRPr lang="tr-TR" sz="1200" b="1" dirty="0"/>
          </a:p>
        </p:txBody>
      </p:sp>
    </p:spTree>
    <p:extLst>
      <p:ext uri="{BB962C8B-B14F-4D97-AF65-F5344CB8AC3E}">
        <p14:creationId xmlns:p14="http://schemas.microsoft.com/office/powerpoint/2010/main" xmlns="" val="888955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800100" y="4985004"/>
            <a:ext cx="8343898" cy="2677656"/>
          </a:xfrm>
          <a:prstGeom prst="rect">
            <a:avLst/>
          </a:prstGeom>
        </p:spPr>
        <p:txBody>
          <a:bodyPr wrap="square">
            <a:spAutoFit/>
          </a:bodyPr>
          <a:lstStyle/>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
        <p:nvSpPr>
          <p:cNvPr id="6" name="5 Dikdörtgen"/>
          <p:cNvSpPr/>
          <p:nvPr/>
        </p:nvSpPr>
        <p:spPr>
          <a:xfrm>
            <a:off x="942975" y="1114425"/>
            <a:ext cx="7458075" cy="3477875"/>
          </a:xfrm>
          <a:prstGeom prst="rect">
            <a:avLst/>
          </a:prstGeom>
        </p:spPr>
        <p:txBody>
          <a:bodyPr wrap="square">
            <a:spAutoFit/>
          </a:bodyPr>
          <a:lstStyle/>
          <a:p>
            <a:r>
              <a:rPr lang="tr-TR" sz="2000" b="1" dirty="0"/>
              <a:t>Yazma Modelleri </a:t>
            </a:r>
            <a:endParaRPr lang="tr-TR" sz="2000" dirty="0"/>
          </a:p>
          <a:p>
            <a:pPr algn="just"/>
            <a:r>
              <a:rPr lang="tr-TR" sz="2000" dirty="0" smtClean="0"/>
              <a:t>Alan yazında </a:t>
            </a:r>
            <a:r>
              <a:rPr lang="tr-TR" sz="2000" dirty="0"/>
              <a:t>yazma modelleri genel olarak iki başlık altında değerlendirilir. Süreç Odaklı Yazma Modelleri ve Ürün Odaklı Yazma Modelleri. Modellerin adından da anlaşılacağı üzere, süreç bazlı yazma modelinde “gelişim çizgisi” önemlidir. İngilizce “</a:t>
            </a:r>
            <a:r>
              <a:rPr lang="tr-TR" sz="2000" dirty="0" err="1"/>
              <a:t>process</a:t>
            </a:r>
            <a:r>
              <a:rPr lang="tr-TR" sz="2000" dirty="0"/>
              <a:t>” terimi ile açıklanan bu kavramda işlemek, işlem, aşama gibi çağrışımlar öne çıkmaktadır. Süreç modelli yazma öğretiminde elde edilen çıktı, sonuç metinden ziyade işleme, işin yapılması ve yapılırken gereken öğretim ortamları gibi unsurlar öne çıkar. Ürün odaklı yazma modelinde ise süreç geri plandadır ve bu yazma sürecinde elde edilen sonuç, özetle ortaya çıkan metin önemlidir. </a:t>
            </a:r>
          </a:p>
        </p:txBody>
      </p:sp>
    </p:spTree>
    <p:extLst>
      <p:ext uri="{BB962C8B-B14F-4D97-AF65-F5344CB8AC3E}">
        <p14:creationId xmlns:p14="http://schemas.microsoft.com/office/powerpoint/2010/main" xmlns="" val="8889559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800100" y="4985004"/>
            <a:ext cx="8343898" cy="2677656"/>
          </a:xfrm>
          <a:prstGeom prst="rect">
            <a:avLst/>
          </a:prstGeom>
        </p:spPr>
        <p:txBody>
          <a:bodyPr wrap="square">
            <a:spAutoFit/>
          </a:bodyPr>
          <a:lstStyle/>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
        <p:nvSpPr>
          <p:cNvPr id="6" name="5 Dikdörtgen"/>
          <p:cNvSpPr/>
          <p:nvPr/>
        </p:nvSpPr>
        <p:spPr>
          <a:xfrm>
            <a:off x="942975" y="1114425"/>
            <a:ext cx="7458075" cy="3970318"/>
          </a:xfrm>
          <a:prstGeom prst="rect">
            <a:avLst/>
          </a:prstGeom>
        </p:spPr>
        <p:txBody>
          <a:bodyPr wrap="square">
            <a:spAutoFit/>
          </a:bodyPr>
          <a:lstStyle/>
          <a:p>
            <a:pPr algn="just"/>
            <a:r>
              <a:rPr lang="tr-TR" sz="2000" dirty="0"/>
              <a:t>Süreç Temelli Yazma Modeline getirilen eleştiriler, Tür Temelli Yazma Yaklaşımının önerilmesini sağlamıştır (Özdemir, 2019’dan </a:t>
            </a:r>
            <a:r>
              <a:rPr lang="tr-TR" sz="2000" dirty="0" err="1"/>
              <a:t>akt</a:t>
            </a:r>
            <a:r>
              <a:rPr lang="tr-TR" sz="2000" dirty="0"/>
              <a:t>. Baki, 2021, s. 217). Yazma eğitimi modern anlamda ilk kez 19. yüzyıl sonlarından itibaren incelenmeye başlamıştır. Daha öncesinde ise yazma öğretiminde ürün odaklı çalışmalar yapılmıştır (Baki, 2021, s.217). Bugünkü eğitim sistemimizde Türkçe Dersi Öğretim Programında ise süreç temelli yaklaşımlar uygulanmaktadır (Özdemir, 2019’dan </a:t>
            </a:r>
            <a:r>
              <a:rPr lang="tr-TR" sz="2000" dirty="0" err="1"/>
              <a:t>akt</a:t>
            </a:r>
            <a:r>
              <a:rPr lang="tr-TR" sz="2000" dirty="0"/>
              <a:t>. Baki, 2021, s. 217). Süreç temeli yazma yaklaşımında öne çıkan iki model vardır. Bunlar, Planlı Yazma ve Değerlendirme Modeli ve Analitik Yazma ve Değerlendirme Modeli’dir (Baki, 2021, s.244). </a:t>
            </a:r>
          </a:p>
          <a:p>
            <a:r>
              <a:rPr lang="tr-TR" sz="2000" dirty="0"/>
              <a:t> </a:t>
            </a:r>
          </a:p>
          <a:p>
            <a:pPr algn="just"/>
            <a:endParaRPr lang="tr-TR" sz="1200" b="1" dirty="0"/>
          </a:p>
        </p:txBody>
      </p:sp>
    </p:spTree>
    <p:extLst>
      <p:ext uri="{BB962C8B-B14F-4D97-AF65-F5344CB8AC3E}">
        <p14:creationId xmlns:p14="http://schemas.microsoft.com/office/powerpoint/2010/main" xmlns="" val="888955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800100" y="4985004"/>
            <a:ext cx="8343898" cy="2677656"/>
          </a:xfrm>
          <a:prstGeom prst="rect">
            <a:avLst/>
          </a:prstGeom>
        </p:spPr>
        <p:txBody>
          <a:bodyPr wrap="square">
            <a:spAutoFit/>
          </a:bodyPr>
          <a:lstStyle/>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a:p>
            <a:endParaRPr lang="tr-TR" sz="1400" b="1" dirty="0"/>
          </a:p>
        </p:txBody>
      </p:sp>
      <p:sp>
        <p:nvSpPr>
          <p:cNvPr id="6" name="5 Dikdörtgen"/>
          <p:cNvSpPr/>
          <p:nvPr/>
        </p:nvSpPr>
        <p:spPr>
          <a:xfrm>
            <a:off x="295275" y="1114425"/>
            <a:ext cx="8105776" cy="3354765"/>
          </a:xfrm>
          <a:prstGeom prst="rect">
            <a:avLst/>
          </a:prstGeom>
        </p:spPr>
        <p:txBody>
          <a:bodyPr wrap="square">
            <a:spAutoFit/>
          </a:bodyPr>
          <a:lstStyle/>
          <a:p>
            <a:r>
              <a:rPr lang="tr-TR" sz="2000" b="1" dirty="0"/>
              <a:t>Sonuç</a:t>
            </a:r>
          </a:p>
          <a:p>
            <a:r>
              <a:rPr lang="tr-TR" sz="1600" dirty="0"/>
              <a:t>Dersimizde hangi konular üzerinde durulduğunu özetlemeye çalışalım.</a:t>
            </a:r>
          </a:p>
          <a:p>
            <a:pPr>
              <a:buFont typeface="Symbol" pitchFamily="18" charset="2"/>
              <a:buChar char="·"/>
            </a:pPr>
            <a:r>
              <a:rPr lang="tr-TR" sz="1600" dirty="0"/>
              <a:t> Yazma becerisi ve stratejileri</a:t>
            </a:r>
          </a:p>
          <a:p>
            <a:pPr>
              <a:buFont typeface="Symbol" pitchFamily="18" charset="2"/>
              <a:buChar char="·"/>
            </a:pPr>
            <a:r>
              <a:rPr lang="tr-TR" sz="1600" dirty="0"/>
              <a:t> Yazının tarihi ve yazma eylemi</a:t>
            </a:r>
          </a:p>
          <a:p>
            <a:pPr>
              <a:buFont typeface="Symbol" pitchFamily="18" charset="2"/>
              <a:buChar char="·"/>
            </a:pPr>
            <a:r>
              <a:rPr lang="tr-TR" sz="1600" dirty="0"/>
              <a:t> Yazma becerisi, yazmanın fiziksel ve zihinsel süreçleri</a:t>
            </a:r>
          </a:p>
          <a:p>
            <a:pPr>
              <a:buFont typeface="Symbol" pitchFamily="18" charset="2"/>
              <a:buChar char="·"/>
            </a:pPr>
            <a:r>
              <a:rPr lang="tr-TR" sz="1600" dirty="0"/>
              <a:t> Yazma eğitiminin temel kavramları</a:t>
            </a:r>
          </a:p>
          <a:p>
            <a:pPr>
              <a:buFont typeface="Symbol" pitchFamily="18" charset="2"/>
              <a:buChar char="·"/>
            </a:pPr>
            <a:r>
              <a:rPr lang="tr-TR" sz="1600" dirty="0"/>
              <a:t> Yazma stratejileri</a:t>
            </a:r>
          </a:p>
          <a:p>
            <a:pPr>
              <a:buFont typeface="Symbol" pitchFamily="18" charset="2"/>
              <a:buChar char="·"/>
            </a:pPr>
            <a:r>
              <a:rPr lang="tr-TR" sz="1600" dirty="0"/>
              <a:t> Yazma öğretiminde teoriler ve modeller</a:t>
            </a:r>
          </a:p>
          <a:p>
            <a:endParaRPr lang="tr-TR" sz="1600" dirty="0"/>
          </a:p>
          <a:p>
            <a:r>
              <a:rPr lang="tr-TR" sz="1600" dirty="0"/>
              <a:t>Bu bölümle ilgili aklınızda kalanları kendi cümlelerinizle ifade etmeye çalışın. </a:t>
            </a:r>
          </a:p>
          <a:p>
            <a:endParaRPr lang="tr-TR" sz="1600" dirty="0"/>
          </a:p>
          <a:p>
            <a:endParaRPr lang="tr-TR" sz="1200" b="1" i="1" dirty="0"/>
          </a:p>
          <a:p>
            <a:endParaRPr lang="tr-TR" sz="1200" b="1" dirty="0"/>
          </a:p>
        </p:txBody>
      </p:sp>
    </p:spTree>
    <p:extLst>
      <p:ext uri="{BB962C8B-B14F-4D97-AF65-F5344CB8AC3E}">
        <p14:creationId xmlns:p14="http://schemas.microsoft.com/office/powerpoint/2010/main" xmlns="" val="888955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Dikdörtgen"/>
          <p:cNvSpPr/>
          <p:nvPr/>
        </p:nvSpPr>
        <p:spPr>
          <a:xfrm>
            <a:off x="285750" y="9458324"/>
            <a:ext cx="8858250" cy="954107"/>
          </a:xfrm>
          <a:prstGeom prst="rect">
            <a:avLst/>
          </a:prstGeom>
        </p:spPr>
        <p:txBody>
          <a:bodyPr wrap="square">
            <a:spAutoFit/>
          </a:bodyPr>
          <a:lstStyle/>
          <a:p>
            <a:endParaRPr lang="tr-TR" sz="1400" b="1" i="1" dirty="0"/>
          </a:p>
          <a:p>
            <a:endParaRPr lang="tr-TR" sz="1400" b="1" dirty="0"/>
          </a:p>
          <a:p>
            <a:endParaRPr lang="tr-TR" sz="1400" b="1" dirty="0"/>
          </a:p>
          <a:p>
            <a:endParaRPr lang="tr-TR" sz="1400" b="1" dirty="0"/>
          </a:p>
        </p:txBody>
      </p:sp>
      <p:sp>
        <p:nvSpPr>
          <p:cNvPr id="7" name="6 Dikdörtgen"/>
          <p:cNvSpPr/>
          <p:nvPr/>
        </p:nvSpPr>
        <p:spPr>
          <a:xfrm>
            <a:off x="1066800" y="361950"/>
            <a:ext cx="7658100" cy="6186309"/>
          </a:xfrm>
          <a:prstGeom prst="rect">
            <a:avLst/>
          </a:prstGeom>
        </p:spPr>
        <p:txBody>
          <a:bodyPr wrap="square">
            <a:spAutoFit/>
          </a:bodyPr>
          <a:lstStyle/>
          <a:p>
            <a:r>
              <a:rPr lang="de-DE" sz="1200" b="1" i="1" dirty="0" err="1"/>
              <a:t>Kaynaklar</a:t>
            </a:r>
            <a:endParaRPr lang="tr-TR" sz="1200" b="1" i="1" dirty="0"/>
          </a:p>
          <a:p>
            <a:r>
              <a:rPr lang="tr-TR" sz="1200" dirty="0" err="1"/>
              <a:t>Altuntek</a:t>
            </a:r>
            <a:r>
              <a:rPr lang="tr-TR" sz="1200" dirty="0"/>
              <a:t>, S. (1993). İlk Türk matbaasının kuruluşu ve İbrahim Müteferrika, </a:t>
            </a:r>
            <a:r>
              <a:rPr lang="tr-TR" sz="1200" i="1" dirty="0"/>
              <a:t>Hacettepe Üniversitesi Edebiyat Fakültesi Dergisi</a:t>
            </a:r>
            <a:r>
              <a:rPr lang="tr-TR" sz="1200" dirty="0"/>
              <a:t>, cilt10, sayı 1, Temmuz, s.191-224.</a:t>
            </a:r>
          </a:p>
          <a:p>
            <a:r>
              <a:rPr lang="tr-TR" sz="1200" dirty="0"/>
              <a:t>Güneş, A. (2013). Kil tabletlerden elektronik tabletlere: iletişim araçlarının tarihsel gelişim süreci, NWSA-</a:t>
            </a:r>
            <a:r>
              <a:rPr lang="tr-TR" sz="1200" dirty="0" err="1"/>
              <a:t>Humanities</a:t>
            </a:r>
            <a:r>
              <a:rPr lang="tr-TR" sz="1200" dirty="0"/>
              <a:t>, 4C0169, 8, (3), s.277-300. </a:t>
            </a:r>
          </a:p>
          <a:p>
            <a:r>
              <a:rPr lang="tr-TR" sz="1200" dirty="0" err="1"/>
              <a:t>Ong</a:t>
            </a:r>
            <a:r>
              <a:rPr lang="tr-TR" sz="1200" dirty="0"/>
              <a:t>, W. J. (1999). </a:t>
            </a:r>
            <a:r>
              <a:rPr lang="tr-TR" sz="1200" i="1" dirty="0"/>
              <a:t>Sözlü ve yazılı kültür</a:t>
            </a:r>
            <a:r>
              <a:rPr lang="tr-TR" sz="1200" dirty="0"/>
              <a:t>. İstanbul: Metis Yayınları.</a:t>
            </a:r>
          </a:p>
          <a:p>
            <a:r>
              <a:rPr lang="tr-TR" sz="1200" dirty="0"/>
              <a:t>Özdemir, N. (2020). Dördüncü sanayi devrimi. </a:t>
            </a:r>
            <a:r>
              <a:rPr lang="tr-TR" sz="1200" i="1" dirty="0"/>
              <a:t>Kültür ve Turizm Bakanlığı, 9. Milletlerarası Türk Halk Kültürü Kongresi</a:t>
            </a:r>
            <a:r>
              <a:rPr lang="tr-TR" sz="1200" dirty="0"/>
              <a:t>, s.207-241.</a:t>
            </a:r>
          </a:p>
          <a:p>
            <a:r>
              <a:rPr lang="tr-TR" sz="1200" dirty="0"/>
              <a:t>Özdemir, O. (2019). Yazma eğitiminde süreç, tür ve süreç-tür temelli yaklaşımların kullanımları. </a:t>
            </a:r>
            <a:r>
              <a:rPr lang="tr-TR" sz="1200" i="1" dirty="0"/>
              <a:t>Gazi Üniversitesi Eğitim Fakültesi Dergisi</a:t>
            </a:r>
            <a:r>
              <a:rPr lang="tr-TR" sz="1200" dirty="0"/>
              <a:t>, 39 (1), 545-573. </a:t>
            </a:r>
          </a:p>
          <a:p>
            <a:r>
              <a:rPr lang="tr-TR" sz="1200" dirty="0" err="1"/>
              <a:t>Postman</a:t>
            </a:r>
            <a:r>
              <a:rPr lang="tr-TR" sz="1200" dirty="0"/>
              <a:t>, N. (1995). </a:t>
            </a:r>
            <a:r>
              <a:rPr lang="tr-TR" sz="1200" i="1" dirty="0"/>
              <a:t>Çocukluğun yok oluşu</a:t>
            </a:r>
            <a:r>
              <a:rPr lang="tr-TR" sz="1200" dirty="0"/>
              <a:t> (Çeviren: Kemal İnal). Ankara: İmge </a:t>
            </a:r>
            <a:r>
              <a:rPr lang="tr-TR" sz="1200" dirty="0" err="1"/>
              <a:t>Kitabevi</a:t>
            </a:r>
            <a:r>
              <a:rPr lang="tr-TR" sz="1200" dirty="0"/>
              <a:t>.</a:t>
            </a:r>
          </a:p>
          <a:p>
            <a:r>
              <a:rPr lang="tr-TR" sz="1200" dirty="0" err="1"/>
              <a:t>Postman</a:t>
            </a:r>
            <a:r>
              <a:rPr lang="tr-TR" sz="1200" dirty="0"/>
              <a:t>, N. (2020). </a:t>
            </a:r>
            <a:r>
              <a:rPr lang="tr-TR" sz="1200" i="1" dirty="0"/>
              <a:t>Televizyon: öldüren eğlence</a:t>
            </a:r>
            <a:r>
              <a:rPr lang="tr-TR" sz="1200" dirty="0"/>
              <a:t> (Çeviren: Osman </a:t>
            </a:r>
            <a:r>
              <a:rPr lang="tr-TR" sz="1200" dirty="0" err="1"/>
              <a:t>Akınhay</a:t>
            </a:r>
            <a:r>
              <a:rPr lang="tr-TR" sz="1200" dirty="0"/>
              <a:t>). İstanbul : Ayrıntı.</a:t>
            </a:r>
          </a:p>
          <a:p>
            <a:r>
              <a:rPr lang="tr-TR" sz="1200" dirty="0" err="1"/>
              <a:t>Senemoğlu</a:t>
            </a:r>
            <a:r>
              <a:rPr lang="tr-TR" sz="1200" dirty="0"/>
              <a:t>, N. (2002). </a:t>
            </a:r>
            <a:r>
              <a:rPr lang="tr-TR" sz="1200" i="1" dirty="0"/>
              <a:t>Gelişim, öğrenme ve öğretim</a:t>
            </a:r>
            <a:r>
              <a:rPr lang="tr-TR" sz="1200" dirty="0"/>
              <a:t>. Ankara: Gazi </a:t>
            </a:r>
            <a:r>
              <a:rPr lang="tr-TR" sz="1200" dirty="0" err="1"/>
              <a:t>Kitabevi</a:t>
            </a:r>
            <a:r>
              <a:rPr lang="tr-TR" sz="1200" dirty="0"/>
              <a:t>.</a:t>
            </a:r>
          </a:p>
          <a:p>
            <a:r>
              <a:rPr lang="tr-TR" sz="1200" dirty="0" err="1"/>
              <a:t>Senemoğlu</a:t>
            </a:r>
            <a:r>
              <a:rPr lang="tr-TR" sz="1200" dirty="0"/>
              <a:t>, N. (2012). </a:t>
            </a:r>
            <a:r>
              <a:rPr lang="tr-TR" sz="1200" i="1" dirty="0"/>
              <a:t>Gelişim öğrenme ve öğretim</a:t>
            </a:r>
            <a:r>
              <a:rPr lang="tr-TR" sz="1200" dirty="0"/>
              <a:t>. Ankara: </a:t>
            </a:r>
            <a:r>
              <a:rPr lang="tr-TR" sz="1200" dirty="0" err="1"/>
              <a:t>Pegem</a:t>
            </a:r>
            <a:r>
              <a:rPr lang="tr-TR" sz="1200" dirty="0"/>
              <a:t> Akademi Yayıncılık.</a:t>
            </a:r>
          </a:p>
          <a:p>
            <a:r>
              <a:rPr lang="tr-TR" sz="1200" dirty="0"/>
              <a:t>Tiryaki, E. N. (2021). Yazma becerisinin öğretim aşamaları. Mehmet Nuri </a:t>
            </a:r>
            <a:r>
              <a:rPr lang="tr-TR" sz="1200" dirty="0" err="1"/>
              <a:t>Kardaş</a:t>
            </a:r>
            <a:r>
              <a:rPr lang="tr-TR" sz="1200" i="1" dirty="0"/>
              <a:t> </a:t>
            </a:r>
            <a:r>
              <a:rPr lang="tr-TR" sz="1200" dirty="0"/>
              <a:t>(Ed.), </a:t>
            </a:r>
            <a:r>
              <a:rPr lang="tr-TR" sz="1200" i="1" dirty="0"/>
              <a:t>Yazma eğitimi</a:t>
            </a:r>
            <a:r>
              <a:rPr lang="tr-TR" sz="1200" dirty="0"/>
              <a:t> içinde, (s. 131-149). Ankara: </a:t>
            </a:r>
            <a:r>
              <a:rPr lang="tr-TR" sz="1200" dirty="0" err="1"/>
              <a:t>Pegem</a:t>
            </a:r>
            <a:r>
              <a:rPr lang="tr-TR" sz="1200" dirty="0"/>
              <a:t> Akademi.</a:t>
            </a:r>
          </a:p>
          <a:p>
            <a:endParaRPr lang="tr-TR" sz="1200" dirty="0"/>
          </a:p>
          <a:p>
            <a:endParaRPr lang="tr-TR" sz="1200" dirty="0"/>
          </a:p>
          <a:p>
            <a:endParaRPr lang="tr-TR" sz="1200" dirty="0"/>
          </a:p>
          <a:p>
            <a:endParaRPr lang="tr-TR" sz="1200" dirty="0"/>
          </a:p>
          <a:p>
            <a:endParaRPr lang="tr-TR" sz="1200" dirty="0"/>
          </a:p>
          <a:p>
            <a:endParaRPr lang="tr-TR" sz="1200" dirty="0"/>
          </a:p>
          <a:p>
            <a:endParaRPr lang="tr-TR" sz="1200" b="1" i="1" dirty="0"/>
          </a:p>
          <a:p>
            <a:endParaRPr lang="tr-TR" sz="1200" b="1" dirty="0"/>
          </a:p>
          <a:p>
            <a:endParaRPr lang="tr-TR" sz="1200" b="1" dirty="0"/>
          </a:p>
          <a:p>
            <a:endParaRPr lang="tr-TR" sz="1200" b="1" dirty="0"/>
          </a:p>
          <a:p>
            <a:endParaRPr lang="tr-TR" sz="1200" b="1" dirty="0"/>
          </a:p>
          <a:p>
            <a:endParaRPr lang="tr-TR" sz="1200" b="1" dirty="0"/>
          </a:p>
          <a:p>
            <a:endParaRPr lang="tr-TR" sz="1200" b="1" dirty="0"/>
          </a:p>
          <a:p>
            <a:endParaRPr lang="tr-TR" sz="1200" b="1" dirty="0"/>
          </a:p>
          <a:p>
            <a:endParaRPr lang="tr-TR" sz="1200" b="1" dirty="0"/>
          </a:p>
          <a:p>
            <a:endParaRPr lang="tr-TR" sz="1200" b="1" dirty="0"/>
          </a:p>
          <a:p>
            <a:endParaRPr lang="tr-TR" sz="1200" b="1" dirty="0"/>
          </a:p>
        </p:txBody>
      </p:sp>
    </p:spTree>
    <p:extLst>
      <p:ext uri="{BB962C8B-B14F-4D97-AF65-F5344CB8AC3E}">
        <p14:creationId xmlns:p14="http://schemas.microsoft.com/office/powerpoint/2010/main" xmlns="" val="888955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Dikdörtgen"/>
          <p:cNvSpPr/>
          <p:nvPr/>
        </p:nvSpPr>
        <p:spPr>
          <a:xfrm>
            <a:off x="542925" y="1228724"/>
            <a:ext cx="8086725" cy="2308324"/>
          </a:xfrm>
          <a:prstGeom prst="rect">
            <a:avLst/>
          </a:prstGeom>
        </p:spPr>
        <p:txBody>
          <a:bodyPr wrap="square">
            <a:spAutoFit/>
          </a:bodyPr>
          <a:lstStyle/>
          <a:p>
            <a:pPr algn="just"/>
            <a:r>
              <a:rPr lang="tr-TR" sz="2400" dirty="0"/>
              <a:t>Bu dersle ilgili daha fazla bilgi sahibi olmak isteyenler ders kitabından ilgili bölümü okuyabilirler, önerilen kaynaklar bölümünden faydalanabilirler. </a:t>
            </a:r>
          </a:p>
          <a:p>
            <a:pPr algn="just"/>
            <a:r>
              <a:rPr lang="tr-TR" sz="2400" dirty="0"/>
              <a:t>İyi çalışmalar dileriz.</a:t>
            </a:r>
          </a:p>
          <a:p>
            <a:pPr algn="just"/>
            <a:endParaRPr lang="tr-TR" sz="2400" dirty="0"/>
          </a:p>
          <a:p>
            <a:pPr algn="just"/>
            <a:endParaRPr lang="tr-TR" sz="2400" dirty="0"/>
          </a:p>
        </p:txBody>
      </p:sp>
    </p:spTree>
    <p:extLst>
      <p:ext uri="{BB962C8B-B14F-4D97-AF65-F5344CB8AC3E}">
        <p14:creationId xmlns:p14="http://schemas.microsoft.com/office/powerpoint/2010/main" xmlns="" val="11777162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4"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7" y="1066292"/>
            <a:ext cx="8624098" cy="584775"/>
          </a:xfrm>
          <a:prstGeom prst="rect">
            <a:avLst/>
          </a:prstGeom>
          <a:noFill/>
        </p:spPr>
        <p:txBody>
          <a:bodyPr wrap="square" rtlCol="0">
            <a:spAutoFit/>
          </a:bodyPr>
          <a:lstStyle/>
          <a:p>
            <a:pPr algn="ctr"/>
            <a:r>
              <a:rPr lang="en-US" sz="3200" b="1" spc="200" dirty="0"/>
              <a:t>TEŞEKKÜRLER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96295" y="3447110"/>
            <a:ext cx="8351403" cy="412934"/>
          </a:xfrm>
          <a:prstGeom prst="rect">
            <a:avLst/>
          </a:prstGeom>
          <a:noFill/>
        </p:spPr>
        <p:txBody>
          <a:bodyPr wrap="square" rtlCol="0">
            <a:spAutoFit/>
          </a:bodyPr>
          <a:lstStyle/>
          <a:p>
            <a:pPr algn="ctr">
              <a:lnSpc>
                <a:spcPct val="125000"/>
              </a:lnSpc>
            </a:pPr>
            <a:r>
              <a:rPr lang="en-US" sz="1800" b="1" dirty="0"/>
              <a:t>(</a:t>
            </a:r>
            <a:r>
              <a:rPr lang="tr-TR" sz="1800" b="1" dirty="0"/>
              <a:t>Dr. Hafize Şahin, Öğretim Görevlisi)</a:t>
            </a:r>
            <a:endParaRPr lang="en-US" sz="1800" b="1" dirty="0"/>
          </a:p>
        </p:txBody>
      </p:sp>
      <p:sp>
        <p:nvSpPr>
          <p:cNvPr id="11" name="TextBox 10"/>
          <p:cNvSpPr txBox="1"/>
          <p:nvPr/>
        </p:nvSpPr>
        <p:spPr>
          <a:xfrm>
            <a:off x="396296" y="3956837"/>
            <a:ext cx="8351403" cy="412934"/>
          </a:xfrm>
          <a:prstGeom prst="rect">
            <a:avLst/>
          </a:prstGeom>
          <a:noFill/>
        </p:spPr>
        <p:txBody>
          <a:bodyPr wrap="square" rtlCol="0">
            <a:spAutoFit/>
          </a:bodyPr>
          <a:lstStyle/>
          <a:p>
            <a:pPr algn="ctr">
              <a:lnSpc>
                <a:spcPct val="125000"/>
              </a:lnSpc>
            </a:pPr>
            <a:r>
              <a:rPr lang="en-US" sz="1800" b="1" dirty="0"/>
              <a:t>(</a:t>
            </a:r>
            <a:r>
              <a:rPr lang="tr-TR" sz="1800" b="1" dirty="0"/>
              <a:t>hafize@hacettepe.edu.tr</a:t>
            </a:r>
            <a:r>
              <a:rPr lang="en-US" sz="1800" b="1" dirty="0"/>
              <a:t>)</a:t>
            </a:r>
          </a:p>
        </p:txBody>
      </p:sp>
      <p:pic>
        <p:nvPicPr>
          <p:cNvPr id="2" name="Resim 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40094" y="1731232"/>
            <a:ext cx="1263803" cy="1233132"/>
          </a:xfrm>
          <a:prstGeom prst="rect">
            <a:avLst/>
          </a:prstGeom>
        </p:spPr>
      </p:pic>
    </p:spTree>
    <p:extLst>
      <p:ext uri="{BB962C8B-B14F-4D97-AF65-F5344CB8AC3E}">
        <p14:creationId xmlns:p14="http://schemas.microsoft.com/office/powerpoint/2010/main" xmlns="" val="7573165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10179</TotalTime>
  <Words>5876</Words>
  <Application>Microsoft Macintosh PowerPoint</Application>
  <PresentationFormat>Ekran Gösterisi (16:9)</PresentationFormat>
  <Paragraphs>459</Paragraphs>
  <Slides>60</Slides>
  <Notes>60</Notes>
  <HiddenSlides>0</HiddenSlides>
  <MMClips>0</MMClips>
  <ScaleCrop>false</ScaleCrop>
  <HeadingPairs>
    <vt:vector size="4" baseType="variant">
      <vt:variant>
        <vt:lpstr>Tema</vt:lpstr>
      </vt:variant>
      <vt:variant>
        <vt:i4>1</vt:i4>
      </vt:variant>
      <vt:variant>
        <vt:lpstr>Slayt Başlıkları</vt:lpstr>
      </vt:variant>
      <vt:variant>
        <vt:i4>60</vt:i4>
      </vt:variant>
    </vt:vector>
  </HeadingPairs>
  <TitlesOfParts>
    <vt:vector size="61" baseType="lpstr">
      <vt:lpstr>Office Theme</vt:lpstr>
      <vt:lpstr>Slayt 1</vt:lpstr>
      <vt:lpstr>Slayt 2</vt:lpstr>
      <vt:lpstr>Slayt 3</vt:lpstr>
      <vt:lpstr>Slayt 4</vt:lpstr>
      <vt:lpstr>Slayt 5</vt:lpstr>
      <vt:lpstr>Slayt 6</vt:lpstr>
      <vt:lpstr>Slayt 7</vt:lpstr>
      <vt:lpstr>Slayt 8</vt:lpstr>
      <vt:lpstr>Slayt 9</vt:lpstr>
      <vt:lpstr>Slayt 10</vt:lpstr>
      <vt:lpstr>Slayt 11</vt:lpstr>
      <vt:lpstr>Slayt 12</vt:lpstr>
      <vt:lpstr>Slayt 13</vt:lpstr>
      <vt:lpstr>Slayt 14</vt:lpstr>
      <vt:lpstr>Slayt 15</vt:lpstr>
      <vt:lpstr>Slayt 16</vt:lpstr>
      <vt:lpstr>Slayt 17</vt:lpstr>
      <vt:lpstr>Slayt 18</vt:lpstr>
      <vt:lpstr>Slayt 19</vt:lpstr>
      <vt:lpstr>Slayt 20</vt:lpstr>
      <vt:lpstr>Slayt 21</vt:lpstr>
      <vt:lpstr>Slayt 22</vt:lpstr>
      <vt:lpstr>Slayt 23</vt:lpstr>
      <vt:lpstr>Slayt 24</vt:lpstr>
      <vt:lpstr>Slayt 25</vt:lpstr>
      <vt:lpstr>Slayt 26</vt:lpstr>
      <vt:lpstr>Slayt 27</vt:lpstr>
      <vt:lpstr>Slayt 28</vt:lpstr>
      <vt:lpstr>Slayt 29</vt:lpstr>
      <vt:lpstr>Slayt 30</vt:lpstr>
      <vt:lpstr>Slayt 31</vt:lpstr>
      <vt:lpstr>Slayt 32</vt:lpstr>
      <vt:lpstr>Slayt 33</vt:lpstr>
      <vt:lpstr>Slayt 34</vt:lpstr>
      <vt:lpstr>Slayt 35</vt:lpstr>
      <vt:lpstr>Slayt 36</vt:lpstr>
      <vt:lpstr>Slayt 37</vt:lpstr>
      <vt:lpstr>Slayt 38</vt:lpstr>
      <vt:lpstr>Slayt 39</vt:lpstr>
      <vt:lpstr>Slayt 40</vt:lpstr>
      <vt:lpstr>Slayt 41</vt:lpstr>
      <vt:lpstr>Slayt 42</vt:lpstr>
      <vt:lpstr>Slayt 43</vt:lpstr>
      <vt:lpstr>Slayt 44</vt:lpstr>
      <vt:lpstr>Slayt 45</vt:lpstr>
      <vt:lpstr>Slayt 46</vt:lpstr>
      <vt:lpstr>Slayt 47</vt:lpstr>
      <vt:lpstr>Slayt 48</vt:lpstr>
      <vt:lpstr>Slayt 49</vt:lpstr>
      <vt:lpstr>Slayt 50</vt:lpstr>
      <vt:lpstr>Slayt 51</vt:lpstr>
      <vt:lpstr>Slayt 52</vt:lpstr>
      <vt:lpstr>Slayt 53</vt:lpstr>
      <vt:lpstr>Slayt 54</vt:lpstr>
      <vt:lpstr>Slayt 55</vt:lpstr>
      <vt:lpstr>Slayt 56</vt:lpstr>
      <vt:lpstr>Slayt 57</vt:lpstr>
      <vt:lpstr>Slayt 58</vt:lpstr>
      <vt:lpstr>Slayt 59</vt:lpstr>
      <vt:lpstr>Slayt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serdar</cp:lastModifiedBy>
  <cp:revision>528</cp:revision>
  <dcterms:created xsi:type="dcterms:W3CDTF">2017-06-20T07:26:29Z</dcterms:created>
  <dcterms:modified xsi:type="dcterms:W3CDTF">2022-02-10T19:35:45Z</dcterms:modified>
</cp:coreProperties>
</file>