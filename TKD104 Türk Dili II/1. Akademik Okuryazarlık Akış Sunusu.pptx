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3"/>
  </p:notesMasterIdLst>
  <p:sldIdLst>
    <p:sldId id="256" r:id="rId2"/>
    <p:sldId id="278" r:id="rId3"/>
    <p:sldId id="279" r:id="rId4"/>
    <p:sldId id="321" r:id="rId5"/>
    <p:sldId id="320" r:id="rId6"/>
    <p:sldId id="280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301" r:id="rId26"/>
    <p:sldId id="302" r:id="rId27"/>
    <p:sldId id="303" r:id="rId28"/>
    <p:sldId id="304" r:id="rId29"/>
    <p:sldId id="305" r:id="rId30"/>
    <p:sldId id="306" r:id="rId31"/>
    <p:sldId id="307" r:id="rId32"/>
    <p:sldId id="308" r:id="rId33"/>
    <p:sldId id="309" r:id="rId34"/>
    <p:sldId id="310" r:id="rId35"/>
    <p:sldId id="325" r:id="rId36"/>
    <p:sldId id="311" r:id="rId37"/>
    <p:sldId id="312" r:id="rId38"/>
    <p:sldId id="313" r:id="rId39"/>
    <p:sldId id="315" r:id="rId40"/>
    <p:sldId id="316" r:id="rId41"/>
    <p:sldId id="322" r:id="rId42"/>
  </p:sldIdLst>
  <p:sldSz cx="9144000" cy="5143500" type="screen16x9"/>
  <p:notesSz cx="6858000" cy="9144000"/>
  <p:defaultTextStyle>
    <a:defPPr>
      <a:defRPr lang="en-US"/>
    </a:defPPr>
    <a:lvl1pPr algn="l" defTabSz="685800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342900" indent="114300" algn="l" defTabSz="685800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685800" indent="228600" algn="l" defTabSz="685800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028700" indent="342900" algn="l" defTabSz="685800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371600" indent="457200" algn="l" defTabSz="685800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3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13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13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13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26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  <p:cmAuthor id="2" name="Yasemin Kurt" initials="YK" lastIdx="26" clrIdx="1">
    <p:extLst>
      <p:ext uri="{19B8F6BF-5375-455C-9EA6-DF929625EA0E}">
        <p15:presenceInfo xmlns:p15="http://schemas.microsoft.com/office/powerpoint/2012/main" userId="Yasemin Kur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5E8"/>
    <a:srgbClr val="154389"/>
    <a:srgbClr val="FEF3DC"/>
    <a:srgbClr val="F1E6D3"/>
    <a:srgbClr val="771614"/>
    <a:srgbClr val="A92627"/>
    <a:srgbClr val="C02B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843" autoAdjust="0"/>
    <p:restoredTop sz="68925"/>
  </p:normalViewPr>
  <p:slideViewPr>
    <p:cSldViewPr snapToGrid="0" snapToObjects="1">
      <p:cViewPr varScale="1">
        <p:scale>
          <a:sx n="124" d="100"/>
          <a:sy n="124" d="100"/>
        </p:scale>
        <p:origin x="176" y="6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A0E793F-1491-46EF-BBC8-46924C126961}" type="datetimeFigureOut">
              <a:rPr lang="en-US"/>
              <a:pPr>
                <a:defRPr/>
              </a:pPr>
              <a:t>1/17/22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noProof="0"/>
              <a:t>Click to edit Master text styles</a:t>
            </a:r>
          </a:p>
          <a:p>
            <a:pPr lvl="1"/>
            <a:r>
              <a:rPr lang="tr-TR" noProof="0"/>
              <a:t>Second level</a:t>
            </a:r>
          </a:p>
          <a:p>
            <a:pPr lvl="2"/>
            <a:r>
              <a:rPr lang="tr-TR" noProof="0"/>
              <a:t>Third level</a:t>
            </a:r>
          </a:p>
          <a:p>
            <a:pPr lvl="3"/>
            <a:r>
              <a:rPr lang="tr-TR" noProof="0"/>
              <a:t>Fourth level</a:t>
            </a:r>
          </a:p>
          <a:p>
            <a:pPr lvl="4"/>
            <a:r>
              <a:rPr lang="tr-TR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87C036F-D195-44D2-9E13-07C59BBF07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685800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5363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B224B15-661F-4454-88A3-3833F2855440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23BE894E-A6BD-4143-BFC3-A9AA878E8A17}" type="slidenum">
              <a:rPr lang="en-US" sz="1200">
                <a:latin typeface="+mn-lt"/>
              </a:rPr>
              <a:pPr algn="r">
                <a:defRPr/>
              </a:pPr>
              <a:t>3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23BE894E-A6BD-4143-BFC3-A9AA878E8A17}" type="slidenum">
              <a:rPr lang="en-US" sz="1200">
                <a:latin typeface="+mn-lt"/>
              </a:rPr>
              <a:pPr algn="r">
                <a:defRPr/>
              </a:pPr>
              <a:t>4</a:t>
            </a:fld>
            <a:endParaRPr lang="en-US" sz="12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75180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23BE894E-A6BD-4143-BFC3-A9AA878E8A17}" type="slidenum">
              <a:rPr lang="en-US" sz="1200">
                <a:latin typeface="+mn-lt"/>
              </a:rPr>
              <a:pPr algn="r">
                <a:defRPr/>
              </a:pPr>
              <a:t>5</a:t>
            </a:fld>
            <a:endParaRPr lang="en-US" sz="12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7407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ACAF75A4-C93A-45A1-B608-8B545E06A47B}" type="slidenum">
              <a:rPr lang="en-US" sz="1200">
                <a:latin typeface="+mn-lt"/>
              </a:rPr>
              <a:pPr algn="r">
                <a:defRPr/>
              </a:pPr>
              <a:t>6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4C5E5E5C-951C-4CAF-AD08-841D5B2FC318}" type="slidenum">
              <a:rPr lang="en-US" sz="1200">
                <a:latin typeface="+mn-lt"/>
              </a:rPr>
              <a:pPr algn="r">
                <a:defRPr/>
              </a:pPr>
              <a:t>7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9E3F7944-5EDC-4C2A-A034-03AE1F84E558}" type="slidenum">
              <a:rPr lang="en-US" sz="1200">
                <a:latin typeface="+mn-lt"/>
              </a:rPr>
              <a:pPr algn="r">
                <a:defRPr/>
              </a:pPr>
              <a:t>8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30A3E1ED-4213-4D8E-AC8D-B57E93CB619C}" type="slidenum">
              <a:rPr lang="en-US" sz="1200">
                <a:latin typeface="+mn-lt"/>
              </a:rPr>
              <a:pPr algn="r">
                <a:defRPr/>
              </a:pPr>
              <a:t>9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0F228E86-AE68-41EB-B5FA-AFD386529BAE}" type="slidenum">
              <a:rPr lang="en-US" sz="1200">
                <a:latin typeface="+mn-lt"/>
              </a:rPr>
              <a:pPr algn="r">
                <a:defRPr/>
              </a:pPr>
              <a:t>10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9F635AEA-6BB7-48FF-B74D-5DE9F748FF1F}" type="slidenum">
              <a:rPr lang="en-US" sz="1200">
                <a:latin typeface="+mn-lt"/>
              </a:rPr>
              <a:pPr algn="r">
                <a:defRPr/>
              </a:pPr>
              <a:t>11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9DD9F1E2-CCC9-4047-9440-1996FCA51874}" type="slidenum">
              <a:rPr lang="en-US" sz="1200">
                <a:latin typeface="+mn-lt"/>
              </a:rPr>
              <a:pPr algn="r">
                <a:defRPr/>
              </a:pPr>
              <a:t>12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4506045A-8B6B-462B-978C-D58E4196B6B3}" type="slidenum">
              <a:rPr lang="en-US" sz="1200">
                <a:latin typeface="+mn-lt"/>
              </a:rPr>
              <a:pPr algn="r">
                <a:defRPr/>
              </a:pPr>
              <a:t>13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07477D3E-711D-49E1-BA22-F62BDC3A612B}" type="slidenum">
              <a:rPr lang="en-US" sz="1200">
                <a:latin typeface="+mn-lt"/>
              </a:rPr>
              <a:pPr algn="r">
                <a:defRPr/>
              </a:pPr>
              <a:t>14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D44DC80E-2C18-4F5B-8C93-584F46791522}" type="slidenum">
              <a:rPr lang="en-US" sz="1200">
                <a:latin typeface="+mn-lt"/>
              </a:rPr>
              <a:pPr algn="r">
                <a:defRPr/>
              </a:pPr>
              <a:t>15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50B38064-95CB-49A5-8903-3A1F8BB16412}" type="slidenum">
              <a:rPr lang="en-US" sz="1200">
                <a:latin typeface="+mn-lt"/>
              </a:rPr>
              <a:pPr algn="r">
                <a:defRPr/>
              </a:pPr>
              <a:t>16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0B8BF45B-E0AB-4E2C-80B0-428CDABCA78E}" type="slidenum">
              <a:rPr lang="en-US" sz="1200">
                <a:latin typeface="+mn-lt"/>
              </a:rPr>
              <a:pPr algn="r">
                <a:defRPr/>
              </a:pPr>
              <a:t>17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6DAE76F7-C1FB-46BC-8F3A-0C3A8D8D6213}" type="slidenum">
              <a:rPr lang="en-US" sz="1200">
                <a:latin typeface="+mn-lt"/>
              </a:rPr>
              <a:pPr algn="r">
                <a:defRPr/>
              </a:pPr>
              <a:t>18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047262AA-3ECA-42D4-92E1-3294CF6F9B27}" type="slidenum">
              <a:rPr lang="en-US" sz="1200">
                <a:latin typeface="+mn-lt"/>
              </a:rPr>
              <a:pPr algn="r">
                <a:defRPr/>
              </a:pPr>
              <a:t>19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AD3A6C58-9332-46B6-87CA-1A78AF4B7A40}" type="slidenum">
              <a:rPr lang="en-US" sz="1200">
                <a:latin typeface="+mn-lt"/>
              </a:rPr>
              <a:pPr algn="r">
                <a:defRPr/>
              </a:pPr>
              <a:t>20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36F52A53-21FA-4818-9DCA-ADEA0644E6FE}" type="slidenum">
              <a:rPr lang="en-US" sz="1200">
                <a:latin typeface="+mn-lt"/>
              </a:rPr>
              <a:pPr algn="r">
                <a:defRPr/>
              </a:pPr>
              <a:t>21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3E6FAB8C-2B15-44FC-8AAE-A15D36BF6F0F}" type="slidenum">
              <a:rPr lang="en-US" sz="1200">
                <a:latin typeface="+mn-lt"/>
              </a:rPr>
              <a:pPr algn="r">
                <a:defRPr/>
              </a:pPr>
              <a:t>22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231A9F23-D946-4C97-82AF-00B0F50018AD}" type="slidenum">
              <a:rPr lang="en-US" sz="1200">
                <a:latin typeface="+mn-lt"/>
              </a:rPr>
              <a:pPr algn="r">
                <a:defRPr/>
              </a:pPr>
              <a:t>23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B47E5F25-5F5C-4783-A103-FFF97717F100}" type="slidenum">
              <a:rPr lang="en-US" sz="1200">
                <a:latin typeface="+mn-lt"/>
              </a:rPr>
              <a:pPr algn="r">
                <a:defRPr/>
              </a:pPr>
              <a:t>24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097FC428-4D84-41AA-9977-D9037539A60A}" type="slidenum">
              <a:rPr lang="en-US" sz="1200">
                <a:latin typeface="+mn-lt"/>
              </a:rPr>
              <a:pPr algn="r">
                <a:defRPr/>
              </a:pPr>
              <a:t>25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72F4C186-F9C3-413B-B833-B438B22F393B}" type="slidenum">
              <a:rPr lang="en-US" sz="1200">
                <a:latin typeface="+mn-lt"/>
              </a:rPr>
              <a:pPr algn="r">
                <a:defRPr/>
              </a:pPr>
              <a:t>26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2B3E2486-53C4-4771-84EB-739A4E38467B}" type="slidenum">
              <a:rPr lang="en-US" sz="1200">
                <a:latin typeface="+mn-lt"/>
              </a:rPr>
              <a:pPr algn="r">
                <a:defRPr/>
              </a:pPr>
              <a:t>27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2FFD3B03-676B-4BB0-B0D8-E7F5D446955D}" type="slidenum">
              <a:rPr lang="en-US" sz="1200">
                <a:latin typeface="+mn-lt"/>
              </a:rPr>
              <a:pPr algn="r">
                <a:defRPr/>
              </a:pPr>
              <a:t>28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DDB962F4-DB0E-4265-8C69-ACBC34E44A45}" type="slidenum">
              <a:rPr lang="en-US" sz="1200">
                <a:latin typeface="+mn-lt"/>
              </a:rPr>
              <a:pPr algn="r">
                <a:defRPr/>
              </a:pPr>
              <a:t>29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9620B32D-78BD-445E-8B77-C46E09C26B94}" type="slidenum">
              <a:rPr lang="en-US" sz="1200">
                <a:latin typeface="+mn-lt"/>
              </a:rPr>
              <a:pPr algn="r">
                <a:defRPr/>
              </a:pPr>
              <a:t>30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792A303F-03CF-41F2-B1A5-51EB0201E195}" type="slidenum">
              <a:rPr lang="en-US" sz="1200">
                <a:latin typeface="+mn-lt"/>
              </a:rPr>
              <a:pPr algn="r">
                <a:defRPr/>
              </a:pPr>
              <a:t>31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B978A980-8CC9-4A2E-805C-4C37DB1C885B}" type="slidenum">
              <a:rPr lang="en-US" sz="1200">
                <a:latin typeface="+mn-lt"/>
              </a:rPr>
              <a:pPr algn="r">
                <a:defRPr/>
              </a:pPr>
              <a:t>32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8411201C-D1E5-4CAB-AE1E-82515811B2A5}" type="slidenum">
              <a:rPr lang="en-US" sz="1200">
                <a:latin typeface="+mn-lt"/>
              </a:rPr>
              <a:pPr algn="r">
                <a:defRPr/>
              </a:pPr>
              <a:t>33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ABA88E79-E923-4FAE-BE19-76E8806F2873}" type="slidenum">
              <a:rPr lang="en-US" sz="1200">
                <a:latin typeface="+mn-lt"/>
              </a:rPr>
              <a:pPr algn="r">
                <a:defRPr/>
              </a:pPr>
              <a:t>34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39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02B4EAAF-BC2E-4C2A-903F-D8AA24495F88}" type="slidenum">
              <a:rPr lang="en-US" sz="1200">
                <a:latin typeface="+mn-lt"/>
              </a:rPr>
              <a:pPr algn="r">
                <a:defRPr/>
              </a:pPr>
              <a:t>36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A9A534CA-AAF3-4B54-942A-A1C875EDA2FD}" type="slidenum">
              <a:rPr lang="en-US" sz="1200">
                <a:latin typeface="+mn-lt"/>
              </a:rPr>
              <a:pPr algn="r">
                <a:defRPr/>
              </a:pPr>
              <a:t>37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1FC08A96-9BE3-4F52-B24C-55D41D96413F}" type="slidenum">
              <a:rPr lang="en-US" sz="1200">
                <a:latin typeface="+mn-lt"/>
              </a:rPr>
              <a:pPr algn="r">
                <a:defRPr/>
              </a:pPr>
              <a:t>38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CC323807-C512-4284-BDB0-88B4ED29B336}" type="slidenum">
              <a:rPr lang="en-US" sz="1200">
                <a:latin typeface="+mn-lt"/>
              </a:rPr>
              <a:pPr algn="r">
                <a:defRPr/>
              </a:pPr>
              <a:t>39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2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7118AB56-9568-4D42-8D50-5C23747DBF5D}" type="slidenum">
              <a:rPr lang="en-US" sz="1200">
                <a:latin typeface="+mn-lt"/>
              </a:rPr>
              <a:pPr algn="r">
                <a:defRPr/>
              </a:pPr>
              <a:t>40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83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741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D6F24CEA-C8DF-44BC-8927-4A5DC3986176}" type="slidenum">
              <a:rPr lang="en-US" sz="1200">
                <a:latin typeface="+mn-lt"/>
              </a:rPr>
              <a:pPr algn="r">
                <a:defRPr/>
              </a:pPr>
              <a:t>41</a:t>
            </a:fld>
            <a:endParaRPr lang="en-US" sz="12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90066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tr-TR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tr-TR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39492F-36EF-4337-A35F-4FE3DB51BD44}" type="datetimeFigureOut">
              <a:rPr lang="en-US"/>
              <a:pPr>
                <a:defRPr/>
              </a:pPr>
              <a:t>1/17/22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C74513-CEC7-4B59-8C78-09ECCA298B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8C1F19-FB2F-4FF6-BCC3-57070F928F36}" type="datetimeFigureOut">
              <a:rPr lang="en-US"/>
              <a:pPr>
                <a:defRPr/>
              </a:pPr>
              <a:t>1/17/22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B0F19C-353A-41F4-B57F-93E8EB2027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tr-T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42414C-F40D-4631-87F7-2115B711CFD2}" type="datetimeFigureOut">
              <a:rPr lang="en-US"/>
              <a:pPr>
                <a:defRPr/>
              </a:pPr>
              <a:t>1/17/22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C2B812-BF2C-424A-890C-F44E285E3D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8EEF05-5643-4B2A-9A1B-C4FB6C84286B}" type="datetimeFigureOut">
              <a:rPr lang="en-US"/>
              <a:pPr>
                <a:defRPr/>
              </a:pPr>
              <a:t>1/17/22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A2191B-3981-46F8-A9E1-4374B46A4E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tr-T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33C175-9466-4CE4-BD17-2D7A81C69D45}" type="datetimeFigureOut">
              <a:rPr lang="en-US"/>
              <a:pPr>
                <a:defRPr/>
              </a:pPr>
              <a:t>1/17/22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DCAEA2-7184-47EA-BD37-ECAFCCB511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15F36D-6AA0-4160-98B6-265717DDE671}" type="datetimeFigureOut">
              <a:rPr lang="en-US"/>
              <a:pPr>
                <a:defRPr/>
              </a:pPr>
              <a:t>1/17/22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36DC3C-D9C5-4C51-9E8C-61FBAEA3FA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A0EA47-8FF2-48A8-B175-9F7596F1E7A0}" type="datetimeFigureOut">
              <a:rPr lang="en-US"/>
              <a:pPr>
                <a:defRPr/>
              </a:pPr>
              <a:t>1/17/22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273A1E-431E-4FDF-9481-659596BA49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r-T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23927B-7076-4EDE-8312-8CEAE833543A}" type="datetimeFigureOut">
              <a:rPr lang="en-US"/>
              <a:pPr>
                <a:defRPr/>
              </a:pPr>
              <a:t>1/17/22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966D6D-5E8D-4124-B761-E5030C7C5C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r-TR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tr-TR" noProof="0"/>
              <a:t>Drag picture to placeholder or click icon to add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C1BB34-64EC-4772-810A-49B25C088E99}" type="datetimeFigureOut">
              <a:rPr lang="en-US"/>
              <a:pPr>
                <a:defRPr/>
              </a:pPr>
              <a:t>1/17/22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2278AF-B274-4FFC-A763-0D93833053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900C75-EE06-4BC1-9A61-7F7029927A3D}" type="datetimeFigureOut">
              <a:rPr lang="en-US"/>
              <a:pPr>
                <a:defRPr/>
              </a:pPr>
              <a:t>1/17/22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64E026-3CE5-45EF-A2AF-F5C4CBAD60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tr-T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C8EBD-AC3E-40E1-B50D-5FB5EAABFD34}" type="datetimeFigureOut">
              <a:rPr lang="en-US"/>
              <a:pPr>
                <a:defRPr/>
              </a:pPr>
              <a:t>1/17/22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60318-BDEE-49F3-939A-389F2F1A8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274638"/>
            <a:ext cx="7886700" cy="99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370013"/>
            <a:ext cx="7886700" cy="3262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9111C25-2D14-45A7-BEEC-AFB3F3E693A0}" type="datetimeFigureOut">
              <a:rPr lang="en-US"/>
              <a:pPr>
                <a:defRPr/>
              </a:pPr>
              <a:t>1/17/22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5B8186F-3EFA-48A6-A2CC-593AD79027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hyperlink" Target="https://tez.yok.gov.tr/UlusalTezMerkezi/" TargetMode="Externa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academia.edu/" TargetMode="External"/><Relationship Id="rId5" Type="http://schemas.openxmlformats.org/officeDocument/2006/relationships/hyperlink" Target="https://www.resarchgate.net/" TargetMode="External"/><Relationship Id="rId4" Type="http://schemas.openxmlformats.org/officeDocument/2006/relationships/hyperlink" Target="https://scholar.google.com/" TargetMode="External"/><Relationship Id="rId9" Type="http://schemas.openxmlformats.org/officeDocument/2006/relationships/image" Target="../media/image1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cettepehemsirelikdergisi.org/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enbilimleri.hacettepe.edu.tr/tr/menu/tez_yazim_islemleri-49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dergipark.org.tr/tr/download/article-file/157213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youtube.com/watch?v=O1zcF82uQQE" TargetMode="External"/><Relationship Id="rId4" Type="http://schemas.openxmlformats.org/officeDocument/2006/relationships/hyperlink" Target="https://www.youtube.com/watch?v=g5v5_imHG4A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lyadal.org/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810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8" name="TextBox 4"/>
          <p:cNvSpPr txBox="1">
            <a:spLocks noChangeArrowheads="1"/>
          </p:cNvSpPr>
          <p:nvPr/>
        </p:nvSpPr>
        <p:spPr bwMode="auto">
          <a:xfrm>
            <a:off x="5414963" y="427038"/>
            <a:ext cx="3459162" cy="341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tr-TR" sz="1400" b="1" dirty="0">
                <a:latin typeface="Calibri" pitchFamily="34" charset="0"/>
              </a:rPr>
              <a:t>TKD 104</a:t>
            </a:r>
            <a:endParaRPr lang="en-US" sz="1400" b="1" dirty="0">
              <a:latin typeface="Calibri" pitchFamily="34" charset="0"/>
            </a:endParaRPr>
          </a:p>
        </p:txBody>
      </p:sp>
      <p:sp>
        <p:nvSpPr>
          <p:cNvPr id="14339" name="TextBox 5"/>
          <p:cNvSpPr txBox="1">
            <a:spLocks noChangeArrowheads="1"/>
          </p:cNvSpPr>
          <p:nvPr/>
        </p:nvSpPr>
        <p:spPr bwMode="auto">
          <a:xfrm>
            <a:off x="5414963" y="825500"/>
            <a:ext cx="3459162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tr-TR" sz="1400" b="1" dirty="0">
                <a:latin typeface="Calibri" pitchFamily="34" charset="0"/>
              </a:rPr>
              <a:t>TÜRK DİLİ II</a:t>
            </a:r>
            <a:endParaRPr lang="en-US" sz="1400" b="1" dirty="0">
              <a:latin typeface="Calibri" pitchFamily="34" charset="0"/>
            </a:endParaRPr>
          </a:p>
        </p:txBody>
      </p:sp>
      <p:sp>
        <p:nvSpPr>
          <p:cNvPr id="14340" name="TextBox 6"/>
          <p:cNvSpPr txBox="1">
            <a:spLocks noChangeArrowheads="1"/>
          </p:cNvSpPr>
          <p:nvPr/>
        </p:nvSpPr>
        <p:spPr bwMode="auto">
          <a:xfrm>
            <a:off x="5014210" y="2265661"/>
            <a:ext cx="4129790" cy="1438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endParaRPr lang="tr-TR" sz="1400" b="1" dirty="0">
              <a:latin typeface="Calibri" pitchFamily="34" charset="0"/>
            </a:endParaRPr>
          </a:p>
          <a:p>
            <a:pPr>
              <a:lnSpc>
                <a:spcPct val="125000"/>
              </a:lnSpc>
            </a:pPr>
            <a:endParaRPr lang="tr-TR" sz="1400" b="1" dirty="0">
              <a:latin typeface="Calibri" pitchFamily="34" charset="0"/>
            </a:endParaRPr>
          </a:p>
          <a:p>
            <a:pPr>
              <a:lnSpc>
                <a:spcPct val="125000"/>
              </a:lnSpc>
            </a:pPr>
            <a:r>
              <a:rPr lang="tr-TR" sz="1400" b="1" dirty="0">
                <a:latin typeface="Calibri" pitchFamily="34" charset="0"/>
              </a:rPr>
              <a:t>AKADEMİK OKURYAZARLIK VE METİN İNCELEME</a:t>
            </a:r>
          </a:p>
          <a:p>
            <a:pPr>
              <a:lnSpc>
                <a:spcPct val="125000"/>
              </a:lnSpc>
            </a:pPr>
            <a:endParaRPr lang="tr-TR" sz="1400" b="1" dirty="0">
              <a:latin typeface="Calibri" pitchFamily="34" charset="0"/>
            </a:endParaRPr>
          </a:p>
          <a:p>
            <a:pPr>
              <a:lnSpc>
                <a:spcPct val="125000"/>
              </a:lnSpc>
            </a:pPr>
            <a:r>
              <a:rPr lang="tr-TR" sz="1400" b="1" dirty="0">
                <a:latin typeface="Calibri" pitchFamily="34" charset="0"/>
              </a:rPr>
              <a:t>Yazan: Dr. Hüseyin Göçmenler-Dr. Yasemin Dinç Kurt</a:t>
            </a:r>
            <a:endParaRPr lang="en-US" sz="1400" b="1" dirty="0">
              <a:latin typeface="Calibri" pitchFamily="34" charset="0"/>
            </a:endParaRPr>
          </a:p>
        </p:txBody>
      </p:sp>
      <p:sp>
        <p:nvSpPr>
          <p:cNvPr id="14341" name="TextBox 7"/>
          <p:cNvSpPr txBox="1">
            <a:spLocks noChangeArrowheads="1"/>
          </p:cNvSpPr>
          <p:nvPr/>
        </p:nvSpPr>
        <p:spPr bwMode="auto">
          <a:xfrm>
            <a:off x="5081666" y="3954463"/>
            <a:ext cx="3792459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tr-TR" sz="1400" b="1" dirty="0">
                <a:latin typeface="Calibri" pitchFamily="34" charset="0"/>
              </a:rPr>
              <a:t>       Sunumu Hazırlayan: Dr. Yasemin Dinç Kurt</a:t>
            </a:r>
          </a:p>
          <a:p>
            <a:pPr>
              <a:lnSpc>
                <a:spcPct val="125000"/>
              </a:lnSpc>
            </a:pPr>
            <a:r>
              <a:rPr lang="tr-TR" sz="1400" b="1" dirty="0">
                <a:latin typeface="Calibri" pitchFamily="34" charset="0"/>
              </a:rPr>
              <a:t>       Sunan: Dr. Hüseyin Göçmenler</a:t>
            </a:r>
            <a:endParaRPr lang="en-US" sz="1400" b="1" dirty="0"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57175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58750"/>
            <a:ext cx="9144000" cy="6905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19458" name="TextBox 5"/>
          <p:cNvSpPr txBox="1">
            <a:spLocks noChangeArrowheads="1"/>
          </p:cNvSpPr>
          <p:nvPr/>
        </p:nvSpPr>
        <p:spPr bwMode="auto">
          <a:xfrm>
            <a:off x="260350" y="273050"/>
            <a:ext cx="8623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r-TR" sz="2400" b="1" dirty="0">
                <a:solidFill>
                  <a:schemeClr val="bg1"/>
                </a:solidFill>
              </a:rPr>
              <a:t>1. Neler Öğreneceğiz?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9459" name="TextBox 6"/>
          <p:cNvSpPr txBox="1">
            <a:spLocks noChangeArrowheads="1"/>
          </p:cNvSpPr>
          <p:nvPr/>
        </p:nvSpPr>
        <p:spPr bwMode="auto">
          <a:xfrm>
            <a:off x="260350" y="1198563"/>
            <a:ext cx="8883650" cy="38708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tr-TR" dirty="0"/>
          </a:p>
          <a:p>
            <a:endParaRPr lang="tr-TR" sz="2000" dirty="0"/>
          </a:p>
          <a:p>
            <a:endParaRPr lang="tr-TR" sz="2000" dirty="0"/>
          </a:p>
          <a:p>
            <a:r>
              <a:rPr lang="tr-TR" sz="2000" dirty="0"/>
              <a:t>1. Akademik Okuryazarlık</a:t>
            </a:r>
          </a:p>
          <a:p>
            <a:r>
              <a:rPr lang="tr-TR" sz="2000" dirty="0"/>
              <a:t>2. Akademik Düşünme ve Akademik Yazarlık</a:t>
            </a:r>
          </a:p>
          <a:p>
            <a:r>
              <a:rPr lang="tr-TR" sz="2000" dirty="0"/>
              <a:t>3. Akademik Yazma</a:t>
            </a:r>
          </a:p>
          <a:p>
            <a:r>
              <a:rPr lang="tr-TR" sz="2000" dirty="0"/>
              <a:t>4. Akademik Metin </a:t>
            </a:r>
          </a:p>
          <a:p>
            <a:r>
              <a:rPr lang="tr-TR" sz="2000" dirty="0"/>
              <a:t>4.1. Akademik Yazma/Metin Oluşturma Aşamaları</a:t>
            </a:r>
          </a:p>
          <a:p>
            <a:r>
              <a:rPr lang="tr-TR" sz="2000" dirty="0"/>
              <a:t>4.2. Akademik Yazma/Metin Oluşturmada Takip Edilecek Basamaklar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</a:pPr>
            <a:endParaRPr lang="tr-TR" sz="2800" dirty="0">
              <a:latin typeface="Calibr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679856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58750"/>
            <a:ext cx="9144000" cy="6905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19458" name="TextBox 5"/>
          <p:cNvSpPr txBox="1">
            <a:spLocks noChangeArrowheads="1"/>
          </p:cNvSpPr>
          <p:nvPr/>
        </p:nvSpPr>
        <p:spPr bwMode="auto">
          <a:xfrm>
            <a:off x="260350" y="273050"/>
            <a:ext cx="8623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r-TR" sz="2400" b="1" dirty="0">
                <a:solidFill>
                  <a:schemeClr val="bg1"/>
                </a:solidFill>
              </a:rPr>
              <a:t>Neler Öğreneceğiz?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9459" name="TextBox 6"/>
          <p:cNvSpPr txBox="1">
            <a:spLocks noChangeArrowheads="1"/>
          </p:cNvSpPr>
          <p:nvPr/>
        </p:nvSpPr>
        <p:spPr bwMode="auto">
          <a:xfrm>
            <a:off x="260350" y="1198563"/>
            <a:ext cx="888365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r-TR" sz="2000" dirty="0"/>
              <a:t>5. Akademik Metinde Diğer Önemli Unsurlar </a:t>
            </a:r>
          </a:p>
          <a:p>
            <a:r>
              <a:rPr lang="tr-TR" sz="2000" dirty="0"/>
              <a:t>5.1. Anahtar Kelimeler </a:t>
            </a:r>
          </a:p>
          <a:p>
            <a:r>
              <a:rPr lang="tr-TR" sz="2000" dirty="0"/>
              <a:t>5.2. Özet Yazma</a:t>
            </a:r>
          </a:p>
          <a:p>
            <a:r>
              <a:rPr lang="tr-TR" sz="2000" dirty="0"/>
              <a:t>5.3. Akademik Dil ve Üslup</a:t>
            </a:r>
          </a:p>
          <a:p>
            <a:r>
              <a:rPr lang="tr-TR" sz="2000" dirty="0"/>
              <a:t>5.4. Araştırma ve Yayın Etiği</a:t>
            </a:r>
          </a:p>
          <a:p>
            <a:r>
              <a:rPr lang="tr-TR" sz="2000" dirty="0"/>
              <a:t>5.5. Araştırma Sürecinde Etik ve Yasal Standartların Korunması</a:t>
            </a:r>
          </a:p>
          <a:p>
            <a:r>
              <a:rPr lang="tr-TR" sz="2000" dirty="0"/>
              <a:t>6. Akademik Metin Türleri</a:t>
            </a:r>
          </a:p>
          <a:p>
            <a:r>
              <a:rPr lang="tr-TR" sz="2000" dirty="0"/>
              <a:t>6.1. Bildiri</a:t>
            </a:r>
          </a:p>
          <a:p>
            <a:r>
              <a:rPr lang="tr-TR" sz="2000" dirty="0"/>
              <a:t>6.2. Bilimsel Makale</a:t>
            </a:r>
          </a:p>
          <a:p>
            <a:r>
              <a:rPr lang="tr-TR" sz="2000" dirty="0"/>
              <a:t>6.3. Rapor</a:t>
            </a:r>
          </a:p>
          <a:p>
            <a:r>
              <a:rPr lang="tr-TR" sz="2000" dirty="0"/>
              <a:t>6.4. Tez</a:t>
            </a:r>
          </a:p>
          <a:p>
            <a:r>
              <a:rPr lang="tr-TR" sz="2000" dirty="0"/>
              <a:t>7. Akademik Metin İncelemesi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679856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411687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58750"/>
            <a:ext cx="9144000" cy="6905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19458" name="TextBox 5"/>
          <p:cNvSpPr txBox="1">
            <a:spLocks noChangeArrowheads="1"/>
          </p:cNvSpPr>
          <p:nvPr/>
        </p:nvSpPr>
        <p:spPr bwMode="auto">
          <a:xfrm>
            <a:off x="260350" y="273050"/>
            <a:ext cx="8623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r-TR" sz="2400" b="1">
                <a:solidFill>
                  <a:schemeClr val="bg1"/>
                </a:solidFill>
              </a:rPr>
              <a:t>2. Kazanımlar</a:t>
            </a:r>
            <a:endParaRPr lang="en-US" sz="2400" b="1">
              <a:solidFill>
                <a:schemeClr val="bg1"/>
              </a:solidFill>
            </a:endParaRPr>
          </a:p>
        </p:txBody>
      </p:sp>
      <p:sp>
        <p:nvSpPr>
          <p:cNvPr id="19459" name="TextBox 6"/>
          <p:cNvSpPr txBox="1">
            <a:spLocks noChangeArrowheads="1"/>
          </p:cNvSpPr>
          <p:nvPr/>
        </p:nvSpPr>
        <p:spPr bwMode="auto">
          <a:xfrm>
            <a:off x="260350" y="1198563"/>
            <a:ext cx="8883650" cy="2446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tr-TR" dirty="0"/>
          </a:p>
          <a:p>
            <a:endParaRPr lang="tr-TR" sz="2000" dirty="0"/>
          </a:p>
          <a:p>
            <a:endParaRPr lang="tr-TR" sz="2000" dirty="0"/>
          </a:p>
          <a:p>
            <a:pPr lvl="0"/>
            <a:r>
              <a:rPr lang="tr-TR" sz="2000" dirty="0"/>
              <a:t>Akademik okuryazarlık kavramını öğreneceksiniz.</a:t>
            </a:r>
          </a:p>
          <a:p>
            <a:pPr lvl="0"/>
            <a:r>
              <a:rPr lang="tr-TR" sz="2000" dirty="0"/>
              <a:t>Akademik yazının özelliklerini öğrenecek, diğer yazılardan ayırabileceksiniz. </a:t>
            </a:r>
          </a:p>
          <a:p>
            <a:pPr lvl="0"/>
            <a:r>
              <a:rPr lang="tr-TR" sz="2000" dirty="0"/>
              <a:t>Akademik yazmanın aşamalarını, özelliklerini kavrayacaksınız. </a:t>
            </a:r>
          </a:p>
          <a:p>
            <a:pPr lvl="0"/>
            <a:r>
              <a:rPr lang="tr-TR" sz="2000" dirty="0"/>
              <a:t>Akademik metin türlerini tanıyacaksınız. </a:t>
            </a:r>
          </a:p>
          <a:p>
            <a:pPr lvl="0"/>
            <a:r>
              <a:rPr lang="tr-TR" sz="2000" dirty="0"/>
              <a:t>Akademik yazma etiğini öğreneceksiniz. 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498475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662025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58750"/>
            <a:ext cx="9144000" cy="6905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21506" name="TextBox 5"/>
          <p:cNvSpPr txBox="1">
            <a:spLocks noChangeArrowheads="1"/>
          </p:cNvSpPr>
          <p:nvPr/>
        </p:nvSpPr>
        <p:spPr bwMode="auto">
          <a:xfrm>
            <a:off x="260350" y="273050"/>
            <a:ext cx="8623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r-TR" sz="2400" b="1" dirty="0">
                <a:solidFill>
                  <a:schemeClr val="bg1"/>
                </a:solidFill>
              </a:rPr>
              <a:t>3. Anahtar Kavramlar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21507" name="TextBox 6"/>
          <p:cNvSpPr txBox="1">
            <a:spLocks noChangeArrowheads="1"/>
          </p:cNvSpPr>
          <p:nvPr/>
        </p:nvSpPr>
        <p:spPr bwMode="auto">
          <a:xfrm>
            <a:off x="1" y="849313"/>
            <a:ext cx="9144000" cy="49172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tr-TR" sz="2000" dirty="0"/>
              <a:t>Akademik okuryazarlık</a:t>
            </a:r>
          </a:p>
          <a:p>
            <a:r>
              <a:rPr lang="tr-TR" sz="2000" dirty="0"/>
              <a:t>Akademik düşünme </a:t>
            </a:r>
          </a:p>
          <a:p>
            <a:r>
              <a:rPr lang="tr-TR" sz="2000" dirty="0"/>
              <a:t>Akademik yazarlık</a:t>
            </a:r>
          </a:p>
          <a:p>
            <a:r>
              <a:rPr lang="tr-TR" sz="2000" dirty="0"/>
              <a:t>Akademik yazma</a:t>
            </a:r>
          </a:p>
          <a:p>
            <a:r>
              <a:rPr lang="tr-TR" sz="2000" dirty="0"/>
              <a:t>Akademik metin</a:t>
            </a:r>
          </a:p>
          <a:p>
            <a:r>
              <a:rPr lang="tr-TR" sz="2000" dirty="0"/>
              <a:t>Özet yazma</a:t>
            </a:r>
          </a:p>
          <a:p>
            <a:r>
              <a:rPr lang="tr-TR" sz="2000" dirty="0"/>
              <a:t>Anahtar kelimeler</a:t>
            </a:r>
          </a:p>
          <a:p>
            <a:r>
              <a:rPr lang="tr-TR" sz="2000" dirty="0"/>
              <a:t>Yayın etiği</a:t>
            </a:r>
          </a:p>
          <a:p>
            <a:r>
              <a:rPr lang="tr-TR" sz="2000" dirty="0"/>
              <a:t>Bildiri</a:t>
            </a:r>
          </a:p>
          <a:p>
            <a:r>
              <a:rPr lang="tr-TR" sz="2000" dirty="0"/>
              <a:t>Bilimsel makale</a:t>
            </a:r>
          </a:p>
          <a:p>
            <a:r>
              <a:rPr lang="tr-TR" sz="2000" dirty="0"/>
              <a:t>Rapor  </a:t>
            </a:r>
          </a:p>
          <a:p>
            <a:r>
              <a:rPr lang="tr-TR" sz="2000" dirty="0"/>
              <a:t>Tez</a:t>
            </a:r>
          </a:p>
          <a:p>
            <a:endParaRPr lang="tr-TR" sz="2000" dirty="0"/>
          </a:p>
          <a:p>
            <a:endParaRPr lang="tr-TR" sz="2000" dirty="0"/>
          </a:p>
          <a:p>
            <a: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</a:pPr>
            <a:endParaRPr lang="tr-TR" sz="2800" dirty="0">
              <a:latin typeface="Calibr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498475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58750"/>
            <a:ext cx="9144000" cy="6905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25602" name="TextBox 5"/>
          <p:cNvSpPr txBox="1">
            <a:spLocks noChangeArrowheads="1"/>
          </p:cNvSpPr>
          <p:nvPr/>
        </p:nvSpPr>
        <p:spPr bwMode="auto">
          <a:xfrm>
            <a:off x="260350" y="273050"/>
            <a:ext cx="8623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r-TR" sz="2400" b="1" dirty="0">
                <a:solidFill>
                  <a:schemeClr val="bg1"/>
                </a:solidFill>
              </a:rPr>
              <a:t>4. Giriş Soruları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25603" name="TextBox 6"/>
          <p:cNvSpPr txBox="1">
            <a:spLocks noChangeArrowheads="1"/>
          </p:cNvSpPr>
          <p:nvPr/>
        </p:nvSpPr>
        <p:spPr bwMode="auto">
          <a:xfrm>
            <a:off x="0" y="849313"/>
            <a:ext cx="8756234" cy="35630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sz="2000" dirty="0"/>
          </a:p>
          <a:p>
            <a:pPr lvl="0"/>
            <a:r>
              <a:rPr lang="tr-TR" sz="2000" dirty="0"/>
              <a:t>1. Akademik okuryazarlık hakkında neler biliyorsunuz? </a:t>
            </a:r>
          </a:p>
          <a:p>
            <a:pPr lvl="0"/>
            <a:r>
              <a:rPr lang="tr-TR" sz="2000" dirty="0"/>
              <a:t>2. Bir yazının akademik olup olmadığını anlayabilir misiniz?</a:t>
            </a:r>
          </a:p>
          <a:p>
            <a:pPr lvl="0"/>
            <a:r>
              <a:rPr lang="tr-TR" sz="2000" dirty="0"/>
              <a:t>3. Akademik yazmanın kuralları neler olabilir?</a:t>
            </a:r>
          </a:p>
          <a:p>
            <a:pPr lvl="0"/>
            <a:r>
              <a:rPr lang="tr-TR" sz="2000" dirty="0"/>
              <a:t>4. Akademik yazarın özellikleri nelerdir?</a:t>
            </a:r>
          </a:p>
          <a:p>
            <a:pPr lvl="0"/>
            <a:r>
              <a:rPr lang="tr-TR" sz="2000" dirty="0"/>
              <a:t>5. Akademik bir metnin oluşturulma aşamaları nelerdir?</a:t>
            </a:r>
          </a:p>
          <a:p>
            <a:pPr lvl="0"/>
            <a:r>
              <a:rPr lang="tr-TR" sz="2000" dirty="0"/>
              <a:t>6. Akademik metin türleri nelerdir?</a:t>
            </a:r>
          </a:p>
          <a:p>
            <a:endParaRPr lang="tr-TR" dirty="0"/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tr-TR" sz="2800" dirty="0">
              <a:latin typeface="Calibr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498475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58750"/>
            <a:ext cx="9144000" cy="6905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27650" name="TextBox 5"/>
          <p:cNvSpPr txBox="1">
            <a:spLocks noChangeArrowheads="1"/>
          </p:cNvSpPr>
          <p:nvPr/>
        </p:nvSpPr>
        <p:spPr bwMode="auto">
          <a:xfrm>
            <a:off x="260350" y="273050"/>
            <a:ext cx="8623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r-TR" sz="2400" b="1" dirty="0">
                <a:solidFill>
                  <a:schemeClr val="bg1"/>
                </a:solidFill>
              </a:rPr>
              <a:t>5. GİRİŞ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27651" name="TextBox 6"/>
          <p:cNvSpPr txBox="1">
            <a:spLocks noChangeArrowheads="1"/>
          </p:cNvSpPr>
          <p:nvPr/>
        </p:nvSpPr>
        <p:spPr bwMode="auto">
          <a:xfrm>
            <a:off x="260350" y="849313"/>
            <a:ext cx="8883650" cy="4262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tr-TR" sz="1600" dirty="0"/>
          </a:p>
          <a:p>
            <a:r>
              <a:rPr lang="tr-TR" sz="1800" dirty="0"/>
              <a:t>Bilimin verilerinden faydalanmak hem bir ihtiyaç hem de hayat tarzıdır. </a:t>
            </a:r>
          </a:p>
          <a:p>
            <a:endParaRPr lang="tr-TR" sz="1800" dirty="0"/>
          </a:p>
          <a:p>
            <a:r>
              <a:rPr lang="tr-TR" sz="1800" dirty="0"/>
              <a:t>Araştırmanın temel amacı, bilgi sahibi olmak ve temel kavra­yışlara ulaşmaktır. </a:t>
            </a:r>
          </a:p>
          <a:p>
            <a:endParaRPr lang="tr-TR" sz="1800" dirty="0"/>
          </a:p>
          <a:p>
            <a:r>
              <a:rPr lang="tr-TR" sz="1800" dirty="0"/>
              <a:t>Ulaşılan sonuçların başka araştırmacılar tarafından da tekrar edilebilmesi ve doğrulanabilir olması gerekir.                                                                                           </a:t>
            </a:r>
          </a:p>
          <a:p>
            <a:endParaRPr lang="tr-TR" sz="1800" dirty="0"/>
          </a:p>
          <a:p>
            <a:r>
              <a:rPr lang="tr-TR" sz="1800" dirty="0"/>
              <a:t>Akademik okuryazarlık daha önce öğrenilen ve</a:t>
            </a:r>
          </a:p>
          <a:p>
            <a:r>
              <a:rPr lang="tr-TR" sz="1800" dirty="0"/>
              <a:t>uygulamaya geçirilemeyen, eksik bırakılan, </a:t>
            </a:r>
          </a:p>
          <a:p>
            <a:r>
              <a:rPr lang="tr-TR" sz="1800" dirty="0"/>
              <a:t>ihtiyaç olarak ortaya çıkan noktaları tamamlayarak </a:t>
            </a:r>
          </a:p>
          <a:p>
            <a:r>
              <a:rPr lang="tr-TR" sz="1800" dirty="0"/>
              <a:t>daha farklı bir düzeyde bilimsel araştırmayı ve </a:t>
            </a:r>
          </a:p>
          <a:p>
            <a:r>
              <a:rPr lang="tr-TR" sz="1800" dirty="0"/>
              <a:t>aktarmayı amaçlar. 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498475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092" y="2638498"/>
            <a:ext cx="2603596" cy="19125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58750"/>
            <a:ext cx="9144000" cy="6905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29698" name="TextBox 5"/>
          <p:cNvSpPr txBox="1">
            <a:spLocks noChangeArrowheads="1"/>
          </p:cNvSpPr>
          <p:nvPr/>
        </p:nvSpPr>
        <p:spPr bwMode="auto">
          <a:xfrm>
            <a:off x="260350" y="273050"/>
            <a:ext cx="8623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r-TR" sz="2400" b="1" dirty="0">
                <a:solidFill>
                  <a:schemeClr val="bg1"/>
                </a:solidFill>
              </a:rPr>
              <a:t>6. GİRİŞ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29699" name="TextBox 6"/>
          <p:cNvSpPr txBox="1">
            <a:spLocks noChangeArrowheads="1"/>
          </p:cNvSpPr>
          <p:nvPr/>
        </p:nvSpPr>
        <p:spPr bwMode="auto">
          <a:xfrm>
            <a:off x="260350" y="849313"/>
            <a:ext cx="8883650" cy="4785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tr-TR" dirty="0"/>
          </a:p>
          <a:p>
            <a:r>
              <a:rPr lang="tr-TR" sz="2400" dirty="0"/>
              <a:t>Akademik hayat ve hemen her alanda genel geçer temel bilgiler </a:t>
            </a:r>
          </a:p>
          <a:p>
            <a:endParaRPr lang="tr-TR" sz="2400" dirty="0"/>
          </a:p>
          <a:p>
            <a:r>
              <a:rPr lang="tr-TR" sz="2400" dirty="0"/>
              <a:t>Akademik çalışma yapan kişiden beklenenler: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/>
              <a:t>Belli bir düzeyde olduğunu bilerek hareket etmek,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/>
              <a:t>Akademik çalışma disiplini ve bilim ahlakına sahip olmak,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/>
              <a:t>Araştırma ve inceleme isteği,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/>
              <a:t>Çalışmadan zevk almak,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/>
              <a:t>Çalışma esnasında dikkatli, sabırlı, titiz, kararlı davranarak çalışkanlığı ile sonuca varmak,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/>
              <a:t>Alana ve dile hâkimiyet. 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58750"/>
            <a:ext cx="9144000" cy="6905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31746" name="TextBox 5"/>
          <p:cNvSpPr txBox="1">
            <a:spLocks noChangeArrowheads="1"/>
          </p:cNvSpPr>
          <p:nvPr/>
        </p:nvSpPr>
        <p:spPr bwMode="auto">
          <a:xfrm>
            <a:off x="95459" y="273050"/>
            <a:ext cx="8623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r-TR" sz="2400" dirty="0">
                <a:solidFill>
                  <a:schemeClr val="bg1"/>
                </a:solidFill>
              </a:rPr>
              <a:t>7.  </a:t>
            </a:r>
            <a:r>
              <a:rPr lang="tr-TR" sz="2400" b="1" dirty="0">
                <a:solidFill>
                  <a:schemeClr val="bg1"/>
                </a:solidFill>
              </a:rPr>
              <a:t>1. AKADEMİK OKURYAZARLIK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1747" name="TextBox 6"/>
          <p:cNvSpPr txBox="1">
            <a:spLocks noChangeArrowheads="1"/>
          </p:cNvSpPr>
          <p:nvPr/>
        </p:nvSpPr>
        <p:spPr bwMode="auto">
          <a:xfrm>
            <a:off x="0" y="844550"/>
            <a:ext cx="9144000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tr-TR" sz="1400" dirty="0"/>
          </a:p>
          <a:p>
            <a:r>
              <a:rPr lang="tr-TR" sz="2000" dirty="0"/>
              <a:t>Akademik okuryazarlık akademik çalışmaları tanıma, seçme, okuyup anlama, değerlendirme, tespitlerde bulunma, yorum yapabilme ve bir sonuca varma becerisidir. </a:t>
            </a:r>
          </a:p>
          <a:p>
            <a:endParaRPr lang="tr-T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/>
              <a:t>Akademik okuryazarlıkta bilgi birikimi </a:t>
            </a:r>
          </a:p>
          <a:p>
            <a:r>
              <a:rPr lang="tr-TR" sz="2000" dirty="0"/>
              <a:t>yetkin bir dille oluşturulur.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/>
              <a:t>Birçok alanda karşılaşılan sorunları görme,     </a:t>
            </a:r>
          </a:p>
          <a:p>
            <a:r>
              <a:rPr lang="tr-TR" sz="2000" dirty="0"/>
              <a:t>anlama, çözüm üretme becerisidir.</a:t>
            </a:r>
          </a:p>
          <a:p>
            <a:endParaRPr lang="tr-TR" sz="2000" dirty="0"/>
          </a:p>
          <a:p>
            <a:r>
              <a:rPr lang="tr-TR" sz="2000" dirty="0"/>
              <a:t>Akademik nitelemesi, bilim ve bilimsellik tanımlarının kavram alanları içinde yer almaktadır ve 'bilimsel niteliği olan' olguları (araştırmalar, kuramlar ve bunların sergilendiği metinler) nitelemek üzere kullanılmaktadır. (Fidan, 2008, s.1)</a:t>
            </a:r>
          </a:p>
          <a:p>
            <a:endParaRPr lang="tr-TR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498475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558" y="2059144"/>
            <a:ext cx="2645478" cy="14867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58750"/>
            <a:ext cx="9144000" cy="6905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33794" name="TextBox 5"/>
          <p:cNvSpPr txBox="1">
            <a:spLocks noChangeArrowheads="1"/>
          </p:cNvSpPr>
          <p:nvPr/>
        </p:nvSpPr>
        <p:spPr bwMode="auto">
          <a:xfrm>
            <a:off x="260350" y="273050"/>
            <a:ext cx="8623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r-TR" sz="2400" dirty="0">
                <a:solidFill>
                  <a:schemeClr val="bg1"/>
                </a:solidFill>
              </a:rPr>
              <a:t>8. </a:t>
            </a:r>
            <a:r>
              <a:rPr lang="tr-TR" sz="2400" b="1" dirty="0">
                <a:solidFill>
                  <a:schemeClr val="bg1"/>
                </a:solidFill>
              </a:rPr>
              <a:t>AKADEMİK OKURYAZARLIK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3795" name="TextBox 6"/>
          <p:cNvSpPr txBox="1">
            <a:spLocks noChangeArrowheads="1"/>
          </p:cNvSpPr>
          <p:nvPr/>
        </p:nvSpPr>
        <p:spPr bwMode="auto">
          <a:xfrm>
            <a:off x="260350" y="849313"/>
            <a:ext cx="8883650" cy="4816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tr-TR" sz="1600" dirty="0">
              <a:highlight>
                <a:srgbClr val="FFFF00"/>
              </a:highlight>
            </a:endParaRPr>
          </a:p>
          <a:p>
            <a:r>
              <a:rPr lang="tr-TR" sz="1600" dirty="0"/>
              <a:t>Üniversite düzeyinde öğrenme disiplinin sınırları ve beklentisi doğrultusunda «bilginin anlaşılması, yorumlanması ve düzenlenmesinde bilgiyi edinme ve kullanmaya yönelik yolların yeni bilgiye uyarlanması.» (</a:t>
            </a:r>
            <a:r>
              <a:rPr lang="tr-TR" sz="1600" dirty="0" err="1"/>
              <a:t>Lea</a:t>
            </a:r>
            <a:r>
              <a:rPr lang="tr-TR" sz="1600" dirty="0"/>
              <a:t> ve Street 1998:158)</a:t>
            </a:r>
          </a:p>
          <a:p>
            <a:endParaRPr lang="tr-TR" sz="1600" dirty="0"/>
          </a:p>
          <a:p>
            <a:r>
              <a:rPr lang="tr-TR" sz="1600" dirty="0"/>
              <a:t>Bir üniversite öğrencisinin öğrenim gördüğü alanda okuduğunu anlama, yorumlama ve edindiği ve/veya kazandığı bilgileri düzenleme ya da okuduklarını dönüştürerek bilgiyi yeniden tasarlama, yani öğrenme becerilerini kullanabilmesi. (Fidan, 2008, s.3)</a:t>
            </a:r>
          </a:p>
          <a:p>
            <a:endParaRPr lang="tr-TR" sz="1600" dirty="0"/>
          </a:p>
          <a:p>
            <a:r>
              <a:rPr lang="tr-TR" sz="1600" dirty="0"/>
              <a:t>Akademik türleri ustaca yazmak, gelişmiş bir akademik tartışmaya katkı sağlamak için eleştirel okuma yeteneğine sahip olmak, metinleri geniş bir yelpazede yorumlayabilmek. (</a:t>
            </a:r>
            <a:r>
              <a:rPr lang="tr-TR" sz="1600" dirty="0" err="1"/>
              <a:t>Akt</a:t>
            </a:r>
            <a:r>
              <a:rPr lang="tr-TR" sz="1600" dirty="0"/>
              <a:t>. </a:t>
            </a:r>
            <a:r>
              <a:rPr lang="tr-TR" sz="1600" dirty="0" err="1"/>
              <a:t>Warschauer</a:t>
            </a:r>
            <a:r>
              <a:rPr lang="tr-TR" sz="1600" dirty="0"/>
              <a:t> ve diğerleri, 2004, s. 526).</a:t>
            </a:r>
          </a:p>
          <a:p>
            <a:endParaRPr lang="tr-TR" sz="1600" dirty="0"/>
          </a:p>
          <a:p>
            <a:r>
              <a:rPr lang="tr-TR" sz="1600" dirty="0"/>
              <a:t>Akademik okuryazarlık kapsamı: Okuma yeterliliği, yazma, eleştirel düşünme, bağımsız öğrenme süreçlerinin bilgisi, belirsizlik hoşgörüsü, sağduyunun efektif uygulaması ve kişisel kimliğin daha derin bir anlamda gelişimi. (</a:t>
            </a:r>
            <a:r>
              <a:rPr lang="tr-TR" sz="1600" dirty="0" err="1"/>
              <a:t>Leki</a:t>
            </a:r>
            <a:r>
              <a:rPr lang="tr-TR" sz="1600" dirty="0"/>
              <a:t>, 2000) ve (</a:t>
            </a:r>
            <a:r>
              <a:rPr lang="tr-TR" sz="1600" dirty="0" err="1"/>
              <a:t>Braine</a:t>
            </a:r>
            <a:r>
              <a:rPr lang="tr-TR" sz="1600" dirty="0"/>
              <a:t>, 2002) 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498475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58750"/>
            <a:ext cx="9144000" cy="6905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35842" name="TextBox 5"/>
          <p:cNvSpPr txBox="1">
            <a:spLocks noChangeArrowheads="1"/>
          </p:cNvSpPr>
          <p:nvPr/>
        </p:nvSpPr>
        <p:spPr bwMode="auto">
          <a:xfrm>
            <a:off x="260350" y="158750"/>
            <a:ext cx="86233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r-TR" sz="2400" dirty="0">
                <a:solidFill>
                  <a:schemeClr val="bg1"/>
                </a:solidFill>
              </a:rPr>
              <a:t>9. </a:t>
            </a:r>
            <a:r>
              <a:rPr lang="tr-TR" sz="2400" b="1" dirty="0">
                <a:solidFill>
                  <a:schemeClr val="bg1"/>
                </a:solidFill>
              </a:rPr>
              <a:t>Akademik Okuryazarlık Ölçütleri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5843" name="TextBox 6"/>
          <p:cNvSpPr txBox="1">
            <a:spLocks noChangeArrowheads="1"/>
          </p:cNvSpPr>
          <p:nvPr/>
        </p:nvSpPr>
        <p:spPr bwMode="auto">
          <a:xfrm>
            <a:off x="130175" y="639485"/>
            <a:ext cx="8883650" cy="4078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tr-TR" dirty="0"/>
          </a:p>
          <a:p>
            <a:r>
              <a:rPr lang="tr-TR" sz="1600" dirty="0"/>
              <a:t>Akademik okuryazarlığa yönelik ölçütlere göre seçilen öğrencilerin yapması gerekenler:</a:t>
            </a:r>
          </a:p>
          <a:p>
            <a:pPr lvl="0"/>
            <a:endParaRPr lang="tr-TR" sz="1600" dirty="0"/>
          </a:p>
          <a:p>
            <a:pPr lvl="0"/>
            <a:r>
              <a:rPr lang="tr-TR" sz="1600" b="1" dirty="0"/>
              <a:t>1. </a:t>
            </a:r>
            <a:r>
              <a:rPr lang="tr-TR" sz="1600" dirty="0"/>
              <a:t>Akademik okuryazarlığın çeşitliliğini anlamalı;</a:t>
            </a:r>
          </a:p>
          <a:p>
            <a:pPr lvl="0"/>
            <a:r>
              <a:rPr lang="tr-TR" sz="1600" b="1" dirty="0"/>
              <a:t>2. </a:t>
            </a:r>
            <a:r>
              <a:rPr lang="tr-TR" sz="1600" dirty="0"/>
              <a:t>Yorum yapabilmeli; metafor ve deyim kullanıp çağrıştırdığı anlamı, kelime oyununu ve anlam karmaşasını algılayabilmeli;</a:t>
            </a:r>
          </a:p>
          <a:p>
            <a:pPr lvl="0"/>
            <a:r>
              <a:rPr lang="tr-TR" sz="1600" b="1" dirty="0"/>
              <a:t>3. </a:t>
            </a:r>
            <a:r>
              <a:rPr lang="tr-TR" sz="1600" dirty="0"/>
              <a:t>Bir akademik metnin farklı bölümleri arasındaki ilişkiyi anlayıp metnin mantıksal gelişiminin, girişten sonuçlara ulaşmak yoluyla farkında olabilmeli ve metnin farklı bölümlerini bir araya getirmeye yarayan dilin nasıl kullanılacağını bilmeli;</a:t>
            </a:r>
          </a:p>
          <a:p>
            <a:pPr lvl="0"/>
            <a:r>
              <a:rPr lang="tr-TR" sz="1600" b="1" dirty="0"/>
              <a:t>4. </a:t>
            </a:r>
            <a:r>
              <a:rPr lang="tr-TR" sz="1600" dirty="0"/>
              <a:t>Farklı metin türlerini yorumlayarak onların ilettiği </a:t>
            </a:r>
          </a:p>
          <a:p>
            <a:pPr lvl="0"/>
            <a:r>
              <a:rPr lang="tr-TR" sz="1600" dirty="0"/>
              <a:t>anlama ve hedefledikleri okuyucu/dinleyici kitlesine </a:t>
            </a:r>
          </a:p>
          <a:p>
            <a:pPr lvl="0"/>
            <a:r>
              <a:rPr lang="tr-TR" sz="1600" dirty="0"/>
              <a:t>hassasiyet göstermeli;</a:t>
            </a:r>
          </a:p>
          <a:p>
            <a:pPr lvl="0"/>
            <a:r>
              <a:rPr lang="tr-TR" sz="1600" b="1" dirty="0"/>
              <a:t>5. </a:t>
            </a:r>
            <a:r>
              <a:rPr lang="tr-TR" sz="1600" dirty="0"/>
              <a:t>Bilgiyi yorumlamalı, kullanmalı ve grafik hâlinde veya </a:t>
            </a:r>
          </a:p>
          <a:p>
            <a:pPr lvl="0"/>
            <a:r>
              <a:rPr lang="tr-TR" sz="1600" dirty="0"/>
              <a:t>görsel biçimde sunabileceği şekilde üretebilmeli;                                                             </a:t>
            </a:r>
          </a:p>
          <a:p>
            <a:endParaRPr lang="tr-TR" dirty="0"/>
          </a:p>
          <a:p>
            <a:endParaRPr lang="tr-TR" dirty="0"/>
          </a:p>
          <a:p>
            <a:endParaRPr lang="tr-TR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498475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903" y="2737612"/>
            <a:ext cx="2989577" cy="16319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58750"/>
            <a:ext cx="9144000" cy="6905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37890" name="TextBox 5"/>
          <p:cNvSpPr txBox="1">
            <a:spLocks noChangeArrowheads="1"/>
          </p:cNvSpPr>
          <p:nvPr/>
        </p:nvSpPr>
        <p:spPr bwMode="auto">
          <a:xfrm>
            <a:off x="260350" y="158750"/>
            <a:ext cx="86233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r-TR" sz="2400" dirty="0">
                <a:solidFill>
                  <a:schemeClr val="bg1"/>
                </a:solidFill>
              </a:rPr>
              <a:t>10. </a:t>
            </a:r>
            <a:r>
              <a:rPr lang="tr-TR" sz="2400" b="1" dirty="0">
                <a:solidFill>
                  <a:schemeClr val="bg1"/>
                </a:solidFill>
              </a:rPr>
              <a:t>Akademik Okuryazarlık Ölçütleri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7891" name="TextBox 6"/>
          <p:cNvSpPr txBox="1">
            <a:spLocks noChangeArrowheads="1"/>
          </p:cNvSpPr>
          <p:nvPr/>
        </p:nvSpPr>
        <p:spPr bwMode="auto">
          <a:xfrm>
            <a:off x="312816" y="981075"/>
            <a:ext cx="888365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r-TR" sz="1600" b="1" dirty="0"/>
              <a:t>6. </a:t>
            </a:r>
            <a:r>
              <a:rPr lang="tr-TR" sz="1600" dirty="0"/>
              <a:t>Olmazsa olmaz bilgiler, önemsiz bilgiler ile hakikat ve kanaat arasındaki farkı bilmeli, önermeler ve argümanlar arasında ayrım yapabilmeli; neden ve sonucu birbirinden ayırt edip sınıflandırma, kategorize etme ve karşılaştırmalar yaparak verileri işleyebilmeli;</a:t>
            </a:r>
          </a:p>
          <a:p>
            <a:pPr lvl="0"/>
            <a:endParaRPr lang="tr-TR" sz="1600" dirty="0"/>
          </a:p>
          <a:p>
            <a:pPr lvl="0"/>
            <a:r>
              <a:rPr lang="tr-TR" sz="1600" b="1" dirty="0"/>
              <a:t>7. </a:t>
            </a:r>
            <a:r>
              <a:rPr lang="tr-TR" sz="1600" dirty="0"/>
              <a:t>Sırayı ve düzeni anlamalı, akademik okuryazarlık ile alakalı karşılaştırmalar yapılmasına izin veren basit sayısal tahminler ve hesaplamalar yaparak argümanın amaçları için uygulayabilmeli;</a:t>
            </a:r>
          </a:p>
          <a:p>
            <a:pPr lvl="0"/>
            <a:endParaRPr lang="tr-TR" sz="1600" dirty="0"/>
          </a:p>
          <a:p>
            <a:pPr lvl="0"/>
            <a:r>
              <a:rPr lang="tr-TR" sz="1600" b="1" dirty="0"/>
              <a:t>8. </a:t>
            </a:r>
            <a:r>
              <a:rPr lang="tr-TR" sz="1600" dirty="0"/>
              <a:t>Bir argüman için nelerin kanıt sayılacağını bilerek bilgiden çıkarımlar yapabilmeli ve sonuca ulaşabilmeli. Bilgiyi uygulayabilmeli ya da bilginin başka durumlarda yarattığı sonuçlara adapte edebilmeli;</a:t>
            </a:r>
          </a:p>
          <a:p>
            <a:pPr lvl="0"/>
            <a:endParaRPr lang="tr-TR" sz="1600" dirty="0"/>
          </a:p>
          <a:p>
            <a:pPr lvl="0"/>
            <a:r>
              <a:rPr lang="tr-TR" sz="1600" b="1" dirty="0"/>
              <a:t>9. </a:t>
            </a:r>
            <a:r>
              <a:rPr lang="tr-TR" sz="1600" dirty="0"/>
              <a:t>Akademik dilde anlatımın çeşitli yollarının iletişimsel işlevini anlamalı (örnekler vererek, tanımlayarak ve tartışarak vb.)</a:t>
            </a:r>
          </a:p>
          <a:p>
            <a:pPr lvl="0"/>
            <a:endParaRPr lang="tr-TR" sz="1600" dirty="0"/>
          </a:p>
          <a:p>
            <a:pPr lvl="0"/>
            <a:r>
              <a:rPr lang="tr-TR" sz="1600" b="1" dirty="0"/>
              <a:t>10.</a:t>
            </a:r>
            <a:r>
              <a:rPr lang="tr-TR" sz="1600" dirty="0"/>
              <a:t> Cümlenin (örneğin, akademik bir metnin) düzeyinin ötesinde bir anlam çıkarabilmeli.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498475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58750"/>
            <a:ext cx="9144000" cy="6905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39938" name="TextBox 5"/>
          <p:cNvSpPr txBox="1">
            <a:spLocks noChangeArrowheads="1"/>
          </p:cNvSpPr>
          <p:nvPr/>
        </p:nvSpPr>
        <p:spPr bwMode="auto">
          <a:xfrm>
            <a:off x="260350" y="158750"/>
            <a:ext cx="8623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r-TR" sz="2400" dirty="0">
                <a:solidFill>
                  <a:schemeClr val="bg1"/>
                </a:solidFill>
              </a:rPr>
              <a:t>11. </a:t>
            </a:r>
            <a:r>
              <a:rPr lang="tr-TR" sz="2400" b="1" dirty="0">
                <a:solidFill>
                  <a:schemeClr val="bg1"/>
                </a:solidFill>
              </a:rPr>
              <a:t>Öğrencilerden Akademik Beklentiler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9939" name="TextBox 6"/>
          <p:cNvSpPr txBox="1">
            <a:spLocks noChangeArrowheads="1"/>
          </p:cNvSpPr>
          <p:nvPr/>
        </p:nvSpPr>
        <p:spPr bwMode="auto">
          <a:xfrm>
            <a:off x="260350" y="774700"/>
            <a:ext cx="8883650" cy="3847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tr-TR" sz="1800" dirty="0"/>
          </a:p>
          <a:p>
            <a:r>
              <a:rPr lang="tr-TR" sz="2000" dirty="0"/>
              <a:t>Öğrencilerden beklentiler, akademik beceri listesi:</a:t>
            </a:r>
          </a:p>
          <a:p>
            <a:endParaRPr lang="tr-TR" sz="2000" dirty="0"/>
          </a:p>
          <a:p>
            <a:r>
              <a:rPr lang="tr-TR" sz="2000" dirty="0"/>
              <a:t>● Yazarken kendini etkin biçimde ifade etme,</a:t>
            </a:r>
          </a:p>
          <a:p>
            <a:r>
              <a:rPr lang="tr-TR" sz="2000" dirty="0"/>
              <a:t>● Derinlemesine anlamaya yönelik okuyabilme,</a:t>
            </a:r>
          </a:p>
          <a:p>
            <a:r>
              <a:rPr lang="tr-TR" sz="2000" dirty="0"/>
              <a:t>● Kütüphane kullanabilme, </a:t>
            </a:r>
            <a:r>
              <a:rPr lang="tr-TR" sz="2000" dirty="0" err="1"/>
              <a:t>alanyazını</a:t>
            </a:r>
            <a:r>
              <a:rPr lang="tr-TR" sz="2000" dirty="0"/>
              <a:t> tanıtabilme, gönderimde bulunabilme,</a:t>
            </a:r>
          </a:p>
          <a:p>
            <a:r>
              <a:rPr lang="tr-TR" sz="2000" dirty="0"/>
              <a:t>● Betimleyici yazmadan çözümleyici yazmaya geçme,</a:t>
            </a:r>
          </a:p>
          <a:p>
            <a:r>
              <a:rPr lang="tr-TR" sz="2000" dirty="0"/>
              <a:t>● Sayısal ifadeleri kullanabilme,</a:t>
            </a:r>
          </a:p>
          <a:p>
            <a:r>
              <a:rPr lang="tr-TR" sz="2000" dirty="0"/>
              <a:t>● Grafik sunumları kullanabilme ve </a:t>
            </a:r>
          </a:p>
          <a:p>
            <a:r>
              <a:rPr lang="tr-TR" sz="2000" dirty="0"/>
              <a:t>karmaşık verileri yorumlayabilme,</a:t>
            </a:r>
          </a:p>
          <a:p>
            <a:r>
              <a:rPr lang="tr-TR" sz="2000" dirty="0"/>
              <a:t>● Yansıtıcı beceriler ve eleştirel bilinçlenme.  </a:t>
            </a:r>
            <a:r>
              <a:rPr lang="tr-TR" sz="1800" dirty="0"/>
              <a:t>      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498475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693" y="2980526"/>
            <a:ext cx="2624537" cy="151469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58750"/>
            <a:ext cx="9144000" cy="6905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41986" name="TextBox 5"/>
          <p:cNvSpPr txBox="1">
            <a:spLocks noChangeArrowheads="1"/>
          </p:cNvSpPr>
          <p:nvPr/>
        </p:nvSpPr>
        <p:spPr bwMode="auto">
          <a:xfrm>
            <a:off x="260350" y="158750"/>
            <a:ext cx="8623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r-TR" sz="2400" dirty="0">
                <a:solidFill>
                  <a:schemeClr val="bg1"/>
                </a:solidFill>
              </a:rPr>
              <a:t>12. </a:t>
            </a:r>
            <a:r>
              <a:rPr lang="tr-TR" sz="2400" b="1" dirty="0">
                <a:solidFill>
                  <a:schemeClr val="bg1"/>
                </a:solidFill>
              </a:rPr>
              <a:t>2. AKADEMİK DÜŞÜNME VE AKADEMİK YAZARLIK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41987" name="TextBox 6"/>
          <p:cNvSpPr txBox="1">
            <a:spLocks noChangeArrowheads="1"/>
          </p:cNvSpPr>
          <p:nvPr/>
        </p:nvSpPr>
        <p:spPr bwMode="auto">
          <a:xfrm>
            <a:off x="130175" y="849313"/>
            <a:ext cx="888365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r-TR" sz="1600" dirty="0"/>
              <a:t>Akademik düşünme yetisi - Sistematik - Kapsamlı - İşlevsel</a:t>
            </a:r>
          </a:p>
          <a:p>
            <a:endParaRPr lang="tr-TR" sz="1600" dirty="0"/>
          </a:p>
          <a:p>
            <a:r>
              <a:rPr lang="tr-TR" sz="1600" dirty="0"/>
              <a:t>Akademik düşünmenin ortaya çıkabilmesi için gerekli zihinsel</a:t>
            </a:r>
          </a:p>
          <a:p>
            <a:r>
              <a:rPr lang="tr-TR" sz="1600" dirty="0"/>
              <a:t>işlevler: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Analiz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Karşılaştırma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Analiz ve sınıflandırma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Sebepler ve etkilerinin teşhis edilmesi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Problem çözme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Duygudaşlık yapmak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Sentezleme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Yorumlama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Değerlendirme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İletişim ve uygulama (</a:t>
            </a:r>
            <a:r>
              <a:rPr lang="tr-TR" sz="1600" dirty="0" err="1"/>
              <a:t>Zwiers</a:t>
            </a:r>
            <a:r>
              <a:rPr lang="tr-TR" sz="1600" dirty="0"/>
              <a:t>, 2004)</a:t>
            </a:r>
          </a:p>
          <a:p>
            <a:endParaRPr lang="tr-TR" sz="160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498475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2095" y="2009933"/>
            <a:ext cx="3343494" cy="228425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58750"/>
            <a:ext cx="9144000" cy="6905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44034" name="TextBox 5"/>
          <p:cNvSpPr txBox="1">
            <a:spLocks noChangeArrowheads="1"/>
          </p:cNvSpPr>
          <p:nvPr/>
        </p:nvSpPr>
        <p:spPr bwMode="auto">
          <a:xfrm>
            <a:off x="260350" y="158750"/>
            <a:ext cx="86233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r-TR" sz="2400" dirty="0">
                <a:solidFill>
                  <a:schemeClr val="bg1"/>
                </a:solidFill>
              </a:rPr>
              <a:t>13. </a:t>
            </a:r>
            <a:r>
              <a:rPr lang="tr-TR" sz="2000" b="1" dirty="0">
                <a:solidFill>
                  <a:schemeClr val="bg1"/>
                </a:solidFill>
              </a:rPr>
              <a:t>Araştırmacının Sahip Olması Beklenen Bilgi ve Beceriler </a:t>
            </a:r>
          </a:p>
          <a:p>
            <a:pPr algn="ctr"/>
            <a:r>
              <a:rPr lang="tr-TR" sz="1800" b="1" dirty="0">
                <a:solidFill>
                  <a:schemeClr val="bg1"/>
                </a:solidFill>
              </a:rPr>
              <a:t>(</a:t>
            </a:r>
            <a:r>
              <a:rPr lang="tr-TR" sz="1800" b="1" dirty="0" err="1">
                <a:solidFill>
                  <a:schemeClr val="bg1"/>
                </a:solidFill>
              </a:rPr>
              <a:t>Siyez</a:t>
            </a:r>
            <a:r>
              <a:rPr lang="tr-TR" sz="1800" b="1" dirty="0">
                <a:solidFill>
                  <a:schemeClr val="bg1"/>
                </a:solidFill>
              </a:rPr>
              <a:t>, 2017; 6)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498475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graphicFrame>
        <p:nvGraphicFramePr>
          <p:cNvPr id="7" name="Tablo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581541"/>
              </p:ext>
            </p:extLst>
          </p:nvPr>
        </p:nvGraphicFramePr>
        <p:xfrm>
          <a:off x="-1" y="849314"/>
          <a:ext cx="9144002" cy="40873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72001">
                  <a:extLst>
                    <a:ext uri="{9D8B030D-6E8A-4147-A177-3AD203B41FA5}">
                      <a16:colId xmlns:a16="http://schemas.microsoft.com/office/drawing/2014/main" val="727489913"/>
                    </a:ext>
                  </a:extLst>
                </a:gridCol>
                <a:gridCol w="4572001">
                  <a:extLst>
                    <a:ext uri="{9D8B030D-6E8A-4147-A177-3AD203B41FA5}">
                      <a16:colId xmlns:a16="http://schemas.microsoft.com/office/drawing/2014/main" val="3881469345"/>
                    </a:ext>
                  </a:extLst>
                </a:gridCol>
              </a:tblGrid>
              <a:tr h="144321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200" dirty="0">
                          <a:effectLst/>
                        </a:rPr>
                        <a:t>Literatür Tarama ve İnceleme</a:t>
                      </a:r>
                      <a:endParaRPr lang="tr-T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246" marR="6724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200">
                          <a:effectLst/>
                        </a:rPr>
                        <a:t>•Kütüphane Taraması</a:t>
                      </a:r>
                      <a:endParaRPr lang="tr-TR" sz="11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200">
                          <a:effectLst/>
                        </a:rPr>
                        <a:t>•Veri Tabanı İnceleme</a:t>
                      </a:r>
                      <a:endParaRPr lang="tr-TR" sz="11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200">
                          <a:effectLst/>
                        </a:rPr>
                        <a:t>•Elektronik Ortamda Tarama</a:t>
                      </a:r>
                      <a:endParaRPr lang="tr-TR" sz="11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200">
                          <a:effectLst/>
                        </a:rPr>
                        <a:t>•Kayıt Tutma</a:t>
                      </a:r>
                      <a:endParaRPr lang="tr-TR" sz="11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200">
                          <a:effectLst/>
                        </a:rPr>
                        <a:t>•Makale İnceleme</a:t>
                      </a:r>
                      <a:endParaRPr lang="tr-TR" sz="11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200">
                          <a:effectLst/>
                        </a:rPr>
                        <a:t>•E-posta</a:t>
                      </a:r>
                      <a:endParaRPr lang="tr-T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246" marR="67246" marT="0" marB="0"/>
                </a:tc>
                <a:extLst>
                  <a:ext uri="{0D108BD9-81ED-4DB2-BD59-A6C34878D82A}">
                    <a16:rowId xmlns:a16="http://schemas.microsoft.com/office/drawing/2014/main" val="1755490310"/>
                  </a:ext>
                </a:extLst>
              </a:tr>
              <a:tr h="120089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200">
                          <a:effectLst/>
                        </a:rPr>
                        <a:t>Araştırma Deseni</a:t>
                      </a:r>
                      <a:endParaRPr lang="tr-T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246" marR="6724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200" dirty="0">
                          <a:effectLst/>
                        </a:rPr>
                        <a:t>• Araştırma Sorusu Oluşturma</a:t>
                      </a:r>
                      <a:endParaRPr lang="tr-TR" sz="110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200" dirty="0">
                          <a:effectLst/>
                        </a:rPr>
                        <a:t>• Uygun Araştırma Deseni Belirleme</a:t>
                      </a:r>
                      <a:endParaRPr lang="tr-TR" sz="110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200" dirty="0">
                          <a:effectLst/>
                        </a:rPr>
                        <a:t>• Zamanı Organize Etme</a:t>
                      </a:r>
                      <a:endParaRPr lang="tr-TR" sz="110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200" dirty="0">
                          <a:effectLst/>
                        </a:rPr>
                        <a:t>• Veri Toplama ve Düzenleme</a:t>
                      </a:r>
                      <a:endParaRPr lang="tr-TR" sz="110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200" dirty="0">
                          <a:effectLst/>
                        </a:rPr>
                        <a:t>• Etik Kuralları Dikkate Alma</a:t>
                      </a:r>
                      <a:endParaRPr lang="tr-T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246" marR="67246" marT="0" marB="0"/>
                </a:tc>
                <a:extLst>
                  <a:ext uri="{0D108BD9-81ED-4DB2-BD59-A6C34878D82A}">
                    <a16:rowId xmlns:a16="http://schemas.microsoft.com/office/drawing/2014/main" val="2763852896"/>
                  </a:ext>
                </a:extLst>
              </a:tr>
              <a:tr h="144321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200" dirty="0">
                          <a:effectLst/>
                        </a:rPr>
                        <a:t>Yazma ve Sunma</a:t>
                      </a:r>
                      <a:endParaRPr lang="tr-T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246" marR="6724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200" dirty="0">
                          <a:effectLst/>
                        </a:rPr>
                        <a:t>• Yazmayı Planlama</a:t>
                      </a:r>
                      <a:endParaRPr lang="tr-TR" sz="110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200" dirty="0">
                          <a:effectLst/>
                        </a:rPr>
                        <a:t>• Yayın Hazırlayabilme</a:t>
                      </a:r>
                      <a:endParaRPr lang="tr-TR" sz="110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200" dirty="0">
                          <a:effectLst/>
                        </a:rPr>
                        <a:t>• Kaynakça Kullanımı</a:t>
                      </a:r>
                      <a:endParaRPr lang="tr-TR" sz="110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200" dirty="0">
                          <a:effectLst/>
                        </a:rPr>
                        <a:t>• Etkili ve Basit Bir </a:t>
                      </a:r>
                      <a:r>
                        <a:rPr lang="tr-TR" sz="1200">
                          <a:effectLst/>
                        </a:rPr>
                        <a:t>Yazı Dili Kullanımı</a:t>
                      </a:r>
                      <a:endParaRPr lang="tr-TR" sz="110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200" dirty="0">
                          <a:effectLst/>
                        </a:rPr>
                        <a:t>• Sonuç ve Önerileri Yazabilme</a:t>
                      </a:r>
                      <a:endParaRPr lang="tr-T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246" marR="67246" marT="0" marB="0"/>
                </a:tc>
                <a:extLst>
                  <a:ext uri="{0D108BD9-81ED-4DB2-BD59-A6C34878D82A}">
                    <a16:rowId xmlns:a16="http://schemas.microsoft.com/office/drawing/2014/main" val="1904208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58750"/>
            <a:ext cx="9144000" cy="6905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46082" name="TextBox 5"/>
          <p:cNvSpPr txBox="1">
            <a:spLocks noChangeArrowheads="1"/>
          </p:cNvSpPr>
          <p:nvPr/>
        </p:nvSpPr>
        <p:spPr bwMode="auto">
          <a:xfrm>
            <a:off x="260350" y="158750"/>
            <a:ext cx="8623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r-TR" sz="2400" dirty="0">
                <a:solidFill>
                  <a:schemeClr val="bg1"/>
                </a:solidFill>
              </a:rPr>
              <a:t>14. </a:t>
            </a:r>
            <a:r>
              <a:rPr lang="tr-TR" sz="2400" b="1" dirty="0">
                <a:solidFill>
                  <a:schemeClr val="bg1"/>
                </a:solidFill>
              </a:rPr>
              <a:t>3. AKADEMİK YAZMA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46083" name="TextBox 6"/>
          <p:cNvSpPr txBox="1">
            <a:spLocks noChangeArrowheads="1"/>
          </p:cNvSpPr>
          <p:nvPr/>
        </p:nvSpPr>
        <p:spPr bwMode="auto">
          <a:xfrm>
            <a:off x="260350" y="981075"/>
            <a:ext cx="8883650" cy="4170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800" dirty="0"/>
              <a:t>Daha ciddi, planlı ve disiplinli çalışma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800" dirty="0"/>
              <a:t>Varlığı belirlenen bir probleme çözüm arama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800" dirty="0"/>
              <a:t>Sistemli araştırma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800" dirty="0"/>
              <a:t>Kaynak tarama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800" dirty="0"/>
              <a:t>Verilere ulaşma ve bunları değerlendirerek, yorumlayarak çözüme ulaşma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800" dirty="0"/>
              <a:t>Prensipli, düzenli ve ilkeli bir çalışma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800" dirty="0"/>
              <a:t>Dil becerilerini etkin kullanma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800" dirty="0"/>
              <a:t>Zihinsel süreçleri üst düzeyde kullanma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800" dirty="0"/>
              <a:t>Bilgi birikimine ulaşma ve bilgiyi etkin kullanma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800" dirty="0"/>
              <a:t>Düşünce üretme, bunları dil becerileriyle birleştirerek, zenginleştirerek kullanma</a:t>
            </a:r>
          </a:p>
          <a:p>
            <a:endParaRPr lang="tr-TR" sz="1800" dirty="0"/>
          </a:p>
          <a:p>
            <a:r>
              <a:rPr lang="tr-TR" sz="1800" dirty="0"/>
              <a:t>Akademik yazma, akademik bağlamdaki araştırmaların çeşitli türlerde </a:t>
            </a:r>
            <a:r>
              <a:rPr lang="tr-TR" sz="1800" dirty="0" err="1"/>
              <a:t>raporlaştırılması</a:t>
            </a:r>
            <a:r>
              <a:rPr lang="tr-TR" sz="1800" dirty="0"/>
              <a:t> sürecinde içerik, biçim, yazım ilkeleri, dil ve anlatım yönlerinden kendine has ilkeleri olan yazma becerisidir. </a:t>
            </a:r>
          </a:p>
          <a:p>
            <a:endParaRPr lang="tr-TR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498475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58750"/>
            <a:ext cx="9144000" cy="6905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48130" name="TextBox 5"/>
          <p:cNvSpPr txBox="1">
            <a:spLocks noChangeArrowheads="1"/>
          </p:cNvSpPr>
          <p:nvPr/>
        </p:nvSpPr>
        <p:spPr bwMode="auto">
          <a:xfrm>
            <a:off x="-339256" y="262879"/>
            <a:ext cx="86233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r-TR" sz="2400" dirty="0">
                <a:solidFill>
                  <a:schemeClr val="bg1"/>
                </a:solidFill>
              </a:rPr>
              <a:t>15. </a:t>
            </a:r>
            <a:r>
              <a:rPr lang="tr-TR" sz="2400" b="1" dirty="0">
                <a:solidFill>
                  <a:schemeClr val="bg1"/>
                </a:solidFill>
              </a:rPr>
              <a:t>4. AKADEMİK METİN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48131" name="TextBox 6"/>
          <p:cNvSpPr txBox="1">
            <a:spLocks noChangeArrowheads="1"/>
          </p:cNvSpPr>
          <p:nvPr/>
        </p:nvSpPr>
        <p:spPr bwMode="auto">
          <a:xfrm>
            <a:off x="0" y="828673"/>
            <a:ext cx="9144000" cy="372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tr-TR" sz="1600" dirty="0"/>
          </a:p>
          <a:p>
            <a:r>
              <a:rPr lang="tr-TR" sz="2000" dirty="0"/>
              <a:t>Akademik metin, bilimsel metin olarak da adlandırılır. </a:t>
            </a:r>
          </a:p>
          <a:p>
            <a:endParaRPr lang="tr-TR" sz="2000" dirty="0"/>
          </a:p>
          <a:p>
            <a:r>
              <a:rPr lang="tr-TR" sz="2000" dirty="0"/>
              <a:t>Akademik bir metnin en önemli özellikleri: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/>
              <a:t>Yazılanların delillerle kanıtlanması ve </a:t>
            </a:r>
          </a:p>
          <a:p>
            <a:r>
              <a:rPr lang="tr-TR" sz="2000" dirty="0"/>
              <a:t>farklı araştırmalara atıf yapılması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/>
              <a:t>Nesnellik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/>
              <a:t>Süslü bir anlatımdan kaçınarak </a:t>
            </a:r>
          </a:p>
          <a:p>
            <a:r>
              <a:rPr lang="tr-TR" sz="2000" dirty="0"/>
              <a:t>sade bir anlatım yolu benimseme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/>
              <a:t>Belli bir akışı takip etme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/>
              <a:t>Biçimsel özellikler </a:t>
            </a:r>
          </a:p>
          <a:p>
            <a:r>
              <a:rPr lang="tr-TR" sz="2000" dirty="0"/>
              <a:t>(belli zaman yapılarının kullanımı, edilgenlik vb.)  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498475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3657" y="1832237"/>
            <a:ext cx="3159034" cy="204481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58750"/>
            <a:ext cx="9144000" cy="6905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50178" name="TextBox 5"/>
          <p:cNvSpPr txBox="1">
            <a:spLocks noChangeArrowheads="1"/>
          </p:cNvSpPr>
          <p:nvPr/>
        </p:nvSpPr>
        <p:spPr bwMode="auto">
          <a:xfrm>
            <a:off x="260350" y="158750"/>
            <a:ext cx="8623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tr-TR" sz="2400" dirty="0">
                <a:solidFill>
                  <a:schemeClr val="bg1"/>
                </a:solidFill>
              </a:rPr>
              <a:t>16. </a:t>
            </a:r>
            <a:r>
              <a:rPr lang="tr-TR" sz="2400" b="1" dirty="0">
                <a:solidFill>
                  <a:schemeClr val="bg1"/>
                </a:solidFill>
              </a:rPr>
              <a:t>Akademik Metin ve Diğer Metinler Arasındaki Farklar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50179" name="TextBox 6"/>
          <p:cNvSpPr txBox="1">
            <a:spLocks noChangeArrowheads="1"/>
          </p:cNvSpPr>
          <p:nvPr/>
        </p:nvSpPr>
        <p:spPr bwMode="auto">
          <a:xfrm>
            <a:off x="260350" y="1184275"/>
            <a:ext cx="8883650" cy="3262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tr-TR" dirty="0"/>
          </a:p>
          <a:p>
            <a:pPr lvl="0"/>
            <a:r>
              <a:rPr lang="tr-TR" sz="2000" b="1" dirty="0"/>
              <a:t>1.</a:t>
            </a:r>
            <a:r>
              <a:rPr lang="tr-TR" sz="2000" dirty="0"/>
              <a:t> Akademik yazma belli bir alana hâkimiyet gerektirir.</a:t>
            </a:r>
          </a:p>
          <a:p>
            <a:pPr lvl="0"/>
            <a:r>
              <a:rPr lang="tr-TR" sz="2000" b="1" dirty="0"/>
              <a:t>2. </a:t>
            </a:r>
            <a:r>
              <a:rPr lang="tr-TR" sz="2000" dirty="0"/>
              <a:t>Akademik yazmada her şey yazıya konu olamaz.</a:t>
            </a:r>
          </a:p>
          <a:p>
            <a:pPr lvl="0"/>
            <a:r>
              <a:rPr lang="tr-TR" sz="2000" b="1" dirty="0"/>
              <a:t>3. </a:t>
            </a:r>
            <a:r>
              <a:rPr lang="tr-TR" sz="2000" dirty="0"/>
              <a:t>Akademik yazıda soru ve bu soruya çözüm bulma çabası vardır.</a:t>
            </a:r>
          </a:p>
          <a:p>
            <a:pPr lvl="0"/>
            <a:r>
              <a:rPr lang="tr-TR" sz="2000" b="1" dirty="0"/>
              <a:t>4. </a:t>
            </a:r>
            <a:r>
              <a:rPr lang="tr-TR" sz="2000" dirty="0"/>
              <a:t>Akademik yazı tartışma ve sonuca ulaşarak yeniden tanımlama sürecidir.</a:t>
            </a:r>
          </a:p>
          <a:p>
            <a:pPr lvl="0"/>
            <a:r>
              <a:rPr lang="tr-TR" sz="2000" b="1" dirty="0"/>
              <a:t>5. </a:t>
            </a:r>
            <a:r>
              <a:rPr lang="tr-TR" sz="2000" dirty="0"/>
              <a:t>Akademik yazıda eleştirel bakış açısı, karşılaştırma, analiz vardır.</a:t>
            </a:r>
          </a:p>
          <a:p>
            <a:pPr lvl="0"/>
            <a:r>
              <a:rPr lang="tr-TR" sz="2000" b="1" dirty="0"/>
              <a:t>6. </a:t>
            </a:r>
            <a:r>
              <a:rPr lang="tr-TR" sz="2000" dirty="0"/>
              <a:t>Akademik yazma bilimsel verileri değerlendirme sürecine dayalı olup dikkat gerektirir.</a:t>
            </a:r>
          </a:p>
          <a:p>
            <a:pPr lvl="0"/>
            <a:r>
              <a:rPr lang="tr-TR" sz="2000" b="1" dirty="0"/>
              <a:t>7. </a:t>
            </a:r>
            <a:r>
              <a:rPr lang="tr-TR" sz="2000" dirty="0"/>
              <a:t>Alıntılara yer vermek ve bunları belirtmek zorunluluğu vardır.</a:t>
            </a:r>
          </a:p>
          <a:p>
            <a:pPr lvl="0"/>
            <a:r>
              <a:rPr lang="tr-TR" sz="2000" b="1" dirty="0"/>
              <a:t>8. </a:t>
            </a:r>
            <a:r>
              <a:rPr lang="tr-TR" sz="2000" dirty="0"/>
              <a:t>Bütün aşamalarda kurallara uygun hareket etmek gerekir. </a:t>
            </a:r>
          </a:p>
          <a:p>
            <a:endParaRPr lang="tr-TR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498475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105680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52226" name="TextBox 5"/>
          <p:cNvSpPr txBox="1">
            <a:spLocks noChangeArrowheads="1"/>
          </p:cNvSpPr>
          <p:nvPr/>
        </p:nvSpPr>
        <p:spPr bwMode="auto">
          <a:xfrm>
            <a:off x="0" y="0"/>
            <a:ext cx="888365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endParaRPr lang="tr-TR" sz="2000" dirty="0">
              <a:solidFill>
                <a:schemeClr val="bg1"/>
              </a:solidFill>
            </a:endParaRPr>
          </a:p>
          <a:p>
            <a:pPr algn="ctr"/>
            <a:r>
              <a:rPr lang="tr-TR" sz="2000" dirty="0">
                <a:solidFill>
                  <a:schemeClr val="bg1"/>
                </a:solidFill>
              </a:rPr>
              <a:t>17. </a:t>
            </a:r>
            <a:r>
              <a:rPr lang="tr-TR" sz="2000" b="1" dirty="0">
                <a:solidFill>
                  <a:schemeClr val="bg1"/>
                </a:solidFill>
              </a:rPr>
              <a:t>Akademik Bir Yazının İçeriğinde Bulunması Gereken Unsurlar </a:t>
            </a:r>
          </a:p>
          <a:p>
            <a:pPr algn="ctr"/>
            <a:r>
              <a:rPr lang="tr-TR" sz="2000" b="1" dirty="0">
                <a:solidFill>
                  <a:schemeClr val="bg1"/>
                </a:solidFill>
              </a:rPr>
              <a:t>(</a:t>
            </a:r>
            <a:r>
              <a:rPr lang="tr-TR" b="1" dirty="0" err="1">
                <a:solidFill>
                  <a:schemeClr val="bg1"/>
                </a:solidFill>
              </a:rPr>
              <a:t>akt</a:t>
            </a:r>
            <a:r>
              <a:rPr lang="tr-TR" b="1" dirty="0">
                <a:solidFill>
                  <a:schemeClr val="bg1"/>
                </a:solidFill>
              </a:rPr>
              <a:t>.: Ekmekçi, 2017, s. 36; John, 2007, s. 2</a:t>
            </a:r>
            <a:r>
              <a:rPr lang="tr-TR" sz="2000" b="1" dirty="0">
                <a:solidFill>
                  <a:schemeClr val="bg1"/>
                </a:solidFill>
              </a:rPr>
              <a:t>)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498475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graphicFrame>
        <p:nvGraphicFramePr>
          <p:cNvPr id="2" name="Tablo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986573"/>
              </p:ext>
            </p:extLst>
          </p:nvPr>
        </p:nvGraphicFramePr>
        <p:xfrm>
          <a:off x="0" y="1056805"/>
          <a:ext cx="9144000" cy="39279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55118">
                  <a:extLst>
                    <a:ext uri="{9D8B030D-6E8A-4147-A177-3AD203B41FA5}">
                      <a16:colId xmlns:a16="http://schemas.microsoft.com/office/drawing/2014/main" val="172186972"/>
                    </a:ext>
                  </a:extLst>
                </a:gridCol>
                <a:gridCol w="7388882">
                  <a:extLst>
                    <a:ext uri="{9D8B030D-6E8A-4147-A177-3AD203B41FA5}">
                      <a16:colId xmlns:a16="http://schemas.microsoft.com/office/drawing/2014/main" val="552322416"/>
                    </a:ext>
                  </a:extLst>
                </a:gridCol>
              </a:tblGrid>
              <a:tr h="19639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000">
                          <a:effectLst/>
                        </a:rPr>
                        <a:t>BAĞLAM</a:t>
                      </a:r>
                      <a:endParaRPr lang="tr-TR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59" marR="5715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000">
                          <a:effectLst/>
                        </a:rPr>
                        <a:t>Yazının kısa özetinde ne anlatıldığını ifade eder.</a:t>
                      </a:r>
                      <a:endParaRPr lang="tr-TR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59" marR="57159" marT="0" marB="0"/>
                </a:tc>
                <a:extLst>
                  <a:ext uri="{0D108BD9-81ED-4DB2-BD59-A6C34878D82A}">
                    <a16:rowId xmlns:a16="http://schemas.microsoft.com/office/drawing/2014/main" val="11045206"/>
                  </a:ext>
                </a:extLst>
              </a:tr>
              <a:tr h="3927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000">
                          <a:effectLst/>
                        </a:rPr>
                        <a:t>ÖNERME (TEZ)</a:t>
                      </a:r>
                      <a:endParaRPr lang="tr-TR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59" marR="5715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000" dirty="0">
                          <a:effectLst/>
                        </a:rPr>
                        <a:t>Her tez bir önermedir kanıtları olan bir önermeyi iddia etmeyi kapsar.</a:t>
                      </a:r>
                      <a:endParaRPr lang="tr-TR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59" marR="57159" marT="0" marB="0"/>
                </a:tc>
                <a:extLst>
                  <a:ext uri="{0D108BD9-81ED-4DB2-BD59-A6C34878D82A}">
                    <a16:rowId xmlns:a16="http://schemas.microsoft.com/office/drawing/2014/main" val="2462916164"/>
                  </a:ext>
                </a:extLst>
              </a:tr>
              <a:tr h="78558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000">
                          <a:effectLst/>
                        </a:rPr>
                        <a:t>NAVİGASYON</a:t>
                      </a:r>
                      <a:endParaRPr lang="tr-TR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59" marR="5715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000" dirty="0">
                          <a:effectLst/>
                        </a:rPr>
                        <a:t>Okuyucuya yazı boyunca yol gösterici teknikleri ifade eder. Bunlar:</a:t>
                      </a:r>
                      <a:endParaRPr lang="tr-TR" sz="90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000" dirty="0">
                          <a:effectLst/>
                        </a:rPr>
                        <a:t>Arada sırada söylediklerini özetleme</a:t>
                      </a:r>
                      <a:endParaRPr lang="tr-TR" sz="90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000" dirty="0">
                          <a:effectLst/>
                        </a:rPr>
                        <a:t>Mantıklı bağlantılar</a:t>
                      </a:r>
                      <a:endParaRPr lang="tr-TR" sz="90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000" dirty="0">
                          <a:effectLst/>
                        </a:rPr>
                        <a:t>Anahtar sözcükler veya anahtar kavramlarla bağlantı yapma</a:t>
                      </a:r>
                      <a:endParaRPr lang="tr-TR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59" marR="57159" marT="0" marB="0"/>
                </a:tc>
                <a:extLst>
                  <a:ext uri="{0D108BD9-81ED-4DB2-BD59-A6C34878D82A}">
                    <a16:rowId xmlns:a16="http://schemas.microsoft.com/office/drawing/2014/main" val="2774647655"/>
                  </a:ext>
                </a:extLst>
              </a:tr>
              <a:tr h="78558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000">
                          <a:effectLst/>
                        </a:rPr>
                        <a:t>KANIT</a:t>
                      </a:r>
                      <a:endParaRPr lang="tr-TR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59" marR="5715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000" dirty="0">
                          <a:effectLst/>
                        </a:rPr>
                        <a:t>En az kanıtların üç şeyle birlikte olmalı</a:t>
                      </a:r>
                      <a:endParaRPr lang="tr-TR" sz="90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000" dirty="0">
                          <a:effectLst/>
                        </a:rPr>
                        <a:t>Alıntılar- anlat bize</a:t>
                      </a:r>
                      <a:endParaRPr lang="tr-TR" sz="90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000" dirty="0">
                          <a:effectLst/>
                        </a:rPr>
                        <a:t>Yorum- bize anlamını anlat</a:t>
                      </a:r>
                      <a:endParaRPr lang="tr-TR" sz="90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000" dirty="0">
                          <a:effectLst/>
                        </a:rPr>
                        <a:t>Senin savın- bize argümanlarını anlat</a:t>
                      </a:r>
                      <a:endParaRPr lang="tr-TR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59" marR="57159" marT="0" marB="0"/>
                </a:tc>
                <a:extLst>
                  <a:ext uri="{0D108BD9-81ED-4DB2-BD59-A6C34878D82A}">
                    <a16:rowId xmlns:a16="http://schemas.microsoft.com/office/drawing/2014/main" val="2612977839"/>
                  </a:ext>
                </a:extLst>
              </a:tr>
              <a:tr h="117838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000">
                          <a:effectLst/>
                        </a:rPr>
                        <a:t>KARŞIT GÖRÜŞ</a:t>
                      </a:r>
                      <a:endParaRPr lang="tr-TR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59" marR="5715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000">
                          <a:effectLst/>
                        </a:rPr>
                        <a:t>Bu konuşma döngüsü olarak adlandırılır. Bu zıt görüşleri makalene</a:t>
                      </a:r>
                      <a:endParaRPr lang="tr-TR" sz="9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000">
                          <a:effectLst/>
                        </a:rPr>
                        <a:t>koyman demektir. Örneğin:</a:t>
                      </a:r>
                      <a:endParaRPr lang="tr-TR" sz="9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000">
                          <a:effectLst/>
                        </a:rPr>
                        <a:t>Bu çözüm bazı araştırmacılara için uygun olmayabilir.</a:t>
                      </a:r>
                      <a:endParaRPr lang="tr-TR" sz="9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000">
                          <a:effectLst/>
                        </a:rPr>
                        <a:t>Bazı kişiler bunu tartışabilir…</a:t>
                      </a:r>
                      <a:endParaRPr lang="tr-TR" sz="9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000">
                          <a:effectLst/>
                        </a:rPr>
                        <a:t>Bu noktaya doğal olarak itiraz edilebilir…</a:t>
                      </a:r>
                      <a:endParaRPr lang="tr-TR" sz="9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000">
                          <a:effectLst/>
                        </a:rPr>
                        <a:t>Araştırmacı X bunu şöyle tartışır…</a:t>
                      </a:r>
                      <a:endParaRPr lang="tr-TR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59" marR="57159" marT="0" marB="0"/>
                </a:tc>
                <a:extLst>
                  <a:ext uri="{0D108BD9-81ED-4DB2-BD59-A6C34878D82A}">
                    <a16:rowId xmlns:a16="http://schemas.microsoft.com/office/drawing/2014/main" val="631809132"/>
                  </a:ext>
                </a:extLst>
              </a:tr>
              <a:tr h="58919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000">
                          <a:effectLst/>
                        </a:rPr>
                        <a:t>SONUÇ</a:t>
                      </a:r>
                      <a:endParaRPr lang="tr-TR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59" marR="5715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000" dirty="0">
                          <a:effectLst/>
                        </a:rPr>
                        <a:t>Yazının sonunda genişlet ve sonra özetle. (Açıl sonra eve gel.)</a:t>
                      </a:r>
                      <a:endParaRPr lang="tr-TR" sz="90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000" dirty="0">
                          <a:effectLst/>
                        </a:rPr>
                        <a:t>Henüz bilinmeyen bazı yönler bulunmaktadır. A, B veya C’ </a:t>
                      </a:r>
                      <a:r>
                        <a:rPr lang="tr-TR" sz="1000" dirty="0" err="1">
                          <a:effectLst/>
                        </a:rPr>
                        <a:t>yi</a:t>
                      </a:r>
                      <a:endParaRPr lang="tr-TR" sz="90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000" dirty="0">
                          <a:effectLst/>
                        </a:rPr>
                        <a:t>Bilinmemektedir. Fakat bilinen şu ki… (ve sonra özetle)</a:t>
                      </a:r>
                      <a:endParaRPr lang="tr-TR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159" marR="57159" marT="0" marB="0"/>
                </a:tc>
                <a:extLst>
                  <a:ext uri="{0D108BD9-81ED-4DB2-BD59-A6C34878D82A}">
                    <a16:rowId xmlns:a16="http://schemas.microsoft.com/office/drawing/2014/main" val="4997374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58750"/>
            <a:ext cx="9144000" cy="6905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54274" name="TextBox 5"/>
          <p:cNvSpPr txBox="1">
            <a:spLocks noChangeArrowheads="1"/>
          </p:cNvSpPr>
          <p:nvPr/>
        </p:nvSpPr>
        <p:spPr bwMode="auto">
          <a:xfrm>
            <a:off x="260350" y="158750"/>
            <a:ext cx="8623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r-TR" sz="2400">
                <a:solidFill>
                  <a:schemeClr val="bg1"/>
                </a:solidFill>
              </a:rPr>
              <a:t>18. SORU</a:t>
            </a:r>
            <a:endParaRPr lang="en-US" sz="2400" b="1">
              <a:solidFill>
                <a:schemeClr val="bg1"/>
              </a:solidFill>
            </a:endParaRPr>
          </a:p>
        </p:txBody>
      </p:sp>
      <p:sp>
        <p:nvSpPr>
          <p:cNvPr id="54275" name="TextBox 6"/>
          <p:cNvSpPr txBox="1">
            <a:spLocks noChangeArrowheads="1"/>
          </p:cNvSpPr>
          <p:nvPr/>
        </p:nvSpPr>
        <p:spPr bwMode="auto">
          <a:xfrm>
            <a:off x="0" y="849313"/>
            <a:ext cx="9171921" cy="3662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tr-TR" dirty="0"/>
          </a:p>
          <a:p>
            <a:endParaRPr lang="tr-TR" dirty="0"/>
          </a:p>
          <a:p>
            <a:r>
              <a:rPr lang="tr-TR" dirty="0"/>
              <a:t>18. </a:t>
            </a:r>
            <a:endParaRPr lang="tr-TR" b="1" dirty="0"/>
          </a:p>
          <a:p>
            <a:r>
              <a:rPr lang="tr-TR" sz="2000" b="1" dirty="0"/>
              <a:t>Aşağıdakilerden hangisi akademik bir yazının özelliklerinden biri </a:t>
            </a:r>
            <a:r>
              <a:rPr lang="tr-TR" sz="2000" b="1" u="sng" dirty="0"/>
              <a:t>değildir</a:t>
            </a:r>
            <a:r>
              <a:rPr lang="tr-TR" sz="2000" b="1" dirty="0"/>
              <a:t>?</a:t>
            </a:r>
            <a:endParaRPr lang="tr-TR" sz="2000" dirty="0"/>
          </a:p>
          <a:p>
            <a:r>
              <a:rPr lang="tr-TR" sz="2000" dirty="0"/>
              <a:t>A . Belli bir alana hâkimiyet gerektirir.</a:t>
            </a:r>
          </a:p>
          <a:p>
            <a:r>
              <a:rPr lang="tr-TR" sz="2000" dirty="0"/>
              <a:t>B. İnsanı ilgilendiren her şey yazıya konu olabilir.</a:t>
            </a:r>
          </a:p>
          <a:p>
            <a:r>
              <a:rPr lang="tr-TR" sz="2000" dirty="0"/>
              <a:t>C. Soru ve bu soruya çözüm bulma çabası vardır.</a:t>
            </a:r>
          </a:p>
          <a:p>
            <a:r>
              <a:rPr lang="tr-TR" sz="2000" dirty="0"/>
              <a:t>D. Tartışma ve sonuca ulaşarak yeniden tanımlama sürecidir.</a:t>
            </a:r>
          </a:p>
          <a:p>
            <a:r>
              <a:rPr lang="tr-TR" sz="2000" dirty="0"/>
              <a:t>E. Bilimsel verileri değerlendirme sürecine dayalıdır.</a:t>
            </a:r>
          </a:p>
          <a:p>
            <a:endParaRPr lang="tr-TR" sz="2000" dirty="0"/>
          </a:p>
          <a:p>
            <a:endParaRPr lang="tr-TR" sz="2000" dirty="0"/>
          </a:p>
          <a:p>
            <a:r>
              <a:rPr lang="tr-TR" sz="2000" dirty="0"/>
              <a:t>Doğru cevap: B</a:t>
            </a:r>
          </a:p>
          <a:p>
            <a:endParaRPr lang="tr-TR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498475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58750"/>
            <a:ext cx="9144000" cy="6905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56322" name="TextBox 5"/>
          <p:cNvSpPr txBox="1">
            <a:spLocks noChangeArrowheads="1"/>
          </p:cNvSpPr>
          <p:nvPr/>
        </p:nvSpPr>
        <p:spPr bwMode="auto">
          <a:xfrm>
            <a:off x="260350" y="158750"/>
            <a:ext cx="8623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r-TR" sz="2400" b="1" dirty="0">
                <a:solidFill>
                  <a:schemeClr val="bg1"/>
                </a:solidFill>
              </a:rPr>
              <a:t>19</a:t>
            </a:r>
            <a:r>
              <a:rPr lang="tr-TR" sz="2400" dirty="0">
                <a:solidFill>
                  <a:schemeClr val="bg1"/>
                </a:solidFill>
              </a:rPr>
              <a:t>. </a:t>
            </a:r>
            <a:r>
              <a:rPr lang="tr-TR" sz="2400" b="1" dirty="0">
                <a:solidFill>
                  <a:schemeClr val="bg1"/>
                </a:solidFill>
              </a:rPr>
              <a:t>Akademik Yazma / Metin Oluşturma Aşamaları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56323" name="TextBox 6"/>
          <p:cNvSpPr txBox="1">
            <a:spLocks noChangeArrowheads="1"/>
          </p:cNvSpPr>
          <p:nvPr/>
        </p:nvSpPr>
        <p:spPr bwMode="auto">
          <a:xfrm>
            <a:off x="59961" y="1008063"/>
            <a:ext cx="9084039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tr-TR" sz="2000" dirty="0"/>
              <a:t> Akademik yazmada üç genel aşama: </a:t>
            </a:r>
          </a:p>
          <a:p>
            <a:pPr marL="342900" indent="-342900">
              <a:buAutoNum type="alphaLcParenR"/>
            </a:pPr>
            <a:r>
              <a:rPr lang="tr-TR" sz="2000" dirty="0"/>
              <a:t>Zihinsel tasarım süreci - Yazılacak metnin tasarlanması süreci</a:t>
            </a:r>
          </a:p>
          <a:p>
            <a:pPr marL="342900" indent="-342900">
              <a:buAutoNum type="alphaLcParenR"/>
            </a:pPr>
            <a:r>
              <a:rPr lang="tr-TR" sz="2000" dirty="0"/>
              <a:t>Metinleştirme süreci - Yazılı metnin oluşturulması</a:t>
            </a:r>
          </a:p>
          <a:p>
            <a:pPr marL="342900" indent="-342900">
              <a:buAutoNum type="alphaLcParenR"/>
            </a:pPr>
            <a:r>
              <a:rPr lang="tr-TR" sz="2000" dirty="0"/>
              <a:t>Gözden geçirme süreci - Yazılı metne son şeklinin verilmesi ve hedef kitleye ulaştırılması süreci</a:t>
            </a:r>
          </a:p>
          <a:p>
            <a:endParaRPr lang="tr-TR" sz="2000" dirty="0"/>
          </a:p>
          <a:p>
            <a:r>
              <a:rPr lang="tr-TR" sz="2000" dirty="0"/>
              <a:t>Metin oluşturma aşamaları:</a:t>
            </a:r>
          </a:p>
          <a:p>
            <a:r>
              <a:rPr lang="tr-TR" sz="2000" dirty="0"/>
              <a:t>1. Konu seçimi ve sınırlandırması</a:t>
            </a:r>
          </a:p>
          <a:p>
            <a:r>
              <a:rPr lang="tr-TR" sz="2000" dirty="0"/>
              <a:t>2. Amaç belirleme</a:t>
            </a:r>
          </a:p>
          <a:p>
            <a:r>
              <a:rPr lang="tr-TR" sz="2000" dirty="0"/>
              <a:t>3. Bakış açısı</a:t>
            </a:r>
          </a:p>
          <a:p>
            <a:r>
              <a:rPr lang="tr-TR" sz="2000" dirty="0"/>
              <a:t>4. Başlık belirleme ve başlıkların yazımı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498475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14" name="TextBox 6"/>
          <p:cNvSpPr txBox="1">
            <a:spLocks noChangeArrowheads="1"/>
          </p:cNvSpPr>
          <p:nvPr/>
        </p:nvSpPr>
        <p:spPr bwMode="auto">
          <a:xfrm>
            <a:off x="8089779" y="5827948"/>
            <a:ext cx="4561525" cy="52937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tr-TR" dirty="0"/>
              <a:t> Akademik yazmada üç genel aşama: </a:t>
            </a:r>
          </a:p>
          <a:p>
            <a:pPr marL="342900" indent="-342900">
              <a:buAutoNum type="alphaLcParenR"/>
            </a:pPr>
            <a:r>
              <a:rPr lang="tr-TR" dirty="0"/>
              <a:t>Zihinsel tasarım süreci - Yazılacak metnin tasarlanması süreci</a:t>
            </a:r>
          </a:p>
          <a:p>
            <a:pPr marL="342900" indent="-342900">
              <a:buAutoNum type="alphaLcParenR"/>
            </a:pPr>
            <a:r>
              <a:rPr lang="tr-TR" dirty="0"/>
              <a:t>Metinleştirme süreci - Yazılı metnin oluşturulması</a:t>
            </a:r>
          </a:p>
          <a:p>
            <a:pPr marL="342900" indent="-342900">
              <a:buAutoNum type="alphaLcParenR"/>
            </a:pPr>
            <a:r>
              <a:rPr lang="tr-TR" dirty="0"/>
              <a:t>Gözden geçirme süreci - Yazılı metne son şeklinin verilmesi ve hedef kitleye ulaştırılması süreci. </a:t>
            </a:r>
          </a:p>
          <a:p>
            <a:endParaRPr lang="tr-TR" dirty="0"/>
          </a:p>
          <a:p>
            <a:r>
              <a:rPr lang="tr-TR" dirty="0"/>
              <a:t>Metin oluşturma aşamaları:</a:t>
            </a:r>
          </a:p>
          <a:p>
            <a:r>
              <a:rPr lang="tr-TR" b="1" dirty="0"/>
              <a:t>1.Konu seçimi ve sınırlandırması:</a:t>
            </a:r>
            <a:r>
              <a:rPr lang="tr-TR" dirty="0"/>
              <a:t> Bilimsel bir sorudan hareketle, bir alan taraması yapılarak daha önce üzerinde çalışılmamış ya da çalışılmış bir konunun farklı yönleri konu olarak seçilmeli, alana bir katkı sağlamalıdır. Konu sınırlandırılmalıdır.</a:t>
            </a:r>
          </a:p>
          <a:p>
            <a:r>
              <a:rPr lang="tr-TR" b="1" dirty="0"/>
              <a:t>2. Amaç belirleme:</a:t>
            </a:r>
            <a:r>
              <a:rPr lang="tr-TR" dirty="0"/>
              <a:t> Amaç konuyla bağlantılıdır. Açık ve net olmalı, yeni fikirler sunmalıdır. Amaç belirlenirken yazının çeşitli yollarla bilgi vermesi hedeflenmeli, bu yollar daha sonra belirtilmelidir. </a:t>
            </a:r>
          </a:p>
          <a:p>
            <a:r>
              <a:rPr lang="tr-TR" b="1" dirty="0"/>
              <a:t>3. Bakış açısı:</a:t>
            </a:r>
            <a:r>
              <a:rPr lang="tr-TR" dirty="0"/>
              <a:t> Yazar elde ettiği verileri zihninde değerlendirerek nasıl kaleme alacağına karar verir. Bu süreçte hangi kavramları, kelimeleri kullanacağını belirler. </a:t>
            </a:r>
          </a:p>
          <a:p>
            <a:r>
              <a:rPr lang="tr-TR" b="1" dirty="0"/>
              <a:t>4. Başlık belirleme ve başlıkların yazımı:</a:t>
            </a:r>
            <a:r>
              <a:rPr lang="tr-TR" dirty="0"/>
              <a:t> Başlık yazının adıdır ve yazıyı tanımlar. Konuyu kapsar, özenle seçilir. </a:t>
            </a:r>
          </a:p>
          <a:p>
            <a:r>
              <a:rPr lang="tr-TR" dirty="0"/>
              <a:t>Dikkat çekicidir. Kelime ya da kelime gruplarından oluşur. </a:t>
            </a:r>
          </a:p>
          <a:p>
            <a:r>
              <a:rPr lang="tr-TR" dirty="0"/>
              <a:t>Başlıklar içeriği yansıtır. </a:t>
            </a:r>
          </a:p>
          <a:p>
            <a:r>
              <a:rPr lang="tr-TR" dirty="0"/>
              <a:t>Net ve kısadır.                                                                                 </a:t>
            </a:r>
          </a:p>
          <a:p>
            <a:r>
              <a:rPr lang="tr-TR" dirty="0"/>
              <a:t>Ana başlıklar ve alt başlıklar.</a:t>
            </a:r>
          </a:p>
        </p:txBody>
      </p:sp>
      <p:pic>
        <p:nvPicPr>
          <p:cNvPr id="15" name="Picture 4" descr="İçeriğinize Başlık Oluştururken Dikkat Etmeniz Gereken Unsurlar - EDUMA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6352" y="2624537"/>
            <a:ext cx="2313144" cy="1807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58750"/>
            <a:ext cx="9144000" cy="6905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58370" name="TextBox 5"/>
          <p:cNvSpPr txBox="1">
            <a:spLocks noChangeArrowheads="1"/>
          </p:cNvSpPr>
          <p:nvPr/>
        </p:nvSpPr>
        <p:spPr bwMode="auto">
          <a:xfrm>
            <a:off x="260350" y="158750"/>
            <a:ext cx="8623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r-TR" sz="2400" b="1" dirty="0">
                <a:solidFill>
                  <a:schemeClr val="bg1"/>
                </a:solidFill>
              </a:rPr>
              <a:t>20. </a:t>
            </a:r>
            <a:r>
              <a:rPr lang="tr-TR" sz="2400" dirty="0">
                <a:solidFill>
                  <a:schemeClr val="bg1"/>
                </a:solidFill>
              </a:rPr>
              <a:t> </a:t>
            </a:r>
            <a:r>
              <a:rPr lang="tr-TR" sz="2400" b="1" dirty="0">
                <a:solidFill>
                  <a:schemeClr val="bg1"/>
                </a:solidFill>
              </a:rPr>
              <a:t>Akademik Yazma / Metin Oluşturma Aşamaları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58371" name="TextBox 6"/>
          <p:cNvSpPr txBox="1">
            <a:spLocks noChangeArrowheads="1"/>
          </p:cNvSpPr>
          <p:nvPr/>
        </p:nvSpPr>
        <p:spPr bwMode="auto">
          <a:xfrm>
            <a:off x="104931" y="849313"/>
            <a:ext cx="9039069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tr-TR" sz="2800" dirty="0"/>
          </a:p>
          <a:p>
            <a:endParaRPr lang="tr-TR" sz="2800" dirty="0"/>
          </a:p>
          <a:p>
            <a:r>
              <a:rPr lang="tr-TR" sz="2800" dirty="0"/>
              <a:t>5. Veri toplama</a:t>
            </a:r>
          </a:p>
          <a:p>
            <a:r>
              <a:rPr lang="tr-TR" sz="2800" dirty="0"/>
              <a:t>6. Sınıflandırma</a:t>
            </a:r>
          </a:p>
          <a:p>
            <a:r>
              <a:rPr lang="tr-TR" sz="2800" dirty="0"/>
              <a:t>7. Yazının türünü belirleme</a:t>
            </a:r>
          </a:p>
          <a:p>
            <a:r>
              <a:rPr lang="tr-TR" sz="2800" dirty="0"/>
              <a:t>8. Hedef kitle</a:t>
            </a:r>
          </a:p>
          <a:p>
            <a:r>
              <a:rPr lang="tr-TR" sz="2800" dirty="0"/>
              <a:t>9. Yazıyı oluşturma</a:t>
            </a:r>
          </a:p>
          <a:p>
            <a:r>
              <a:rPr lang="tr-TR" sz="2800" dirty="0"/>
              <a:t>10. Yazıya son şeklini verme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498475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026" y="1828727"/>
            <a:ext cx="3024006" cy="197545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58750"/>
            <a:ext cx="9144000" cy="6905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60418" name="TextBox 5"/>
          <p:cNvSpPr txBox="1">
            <a:spLocks noChangeArrowheads="1"/>
          </p:cNvSpPr>
          <p:nvPr/>
        </p:nvSpPr>
        <p:spPr bwMode="auto">
          <a:xfrm>
            <a:off x="260350" y="158750"/>
            <a:ext cx="86233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r-TR" sz="2000" b="1" dirty="0">
                <a:solidFill>
                  <a:schemeClr val="bg1"/>
                </a:solidFill>
              </a:rPr>
              <a:t>21. Akademik Yazma / Metin Oluşturmada Takip Edilecek  Basamaklar</a:t>
            </a:r>
          </a:p>
          <a:p>
            <a:pPr algn="ctr"/>
            <a:r>
              <a:rPr lang="tr-TR" sz="2000" b="1" dirty="0">
                <a:solidFill>
                  <a:schemeClr val="bg1"/>
                </a:solidFill>
              </a:rPr>
              <a:t>(Akademik Yazım Kuralları Kitapçığı, Başkent Üniversitesi)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60419" name="TextBox 6"/>
          <p:cNvSpPr txBox="1">
            <a:spLocks noChangeArrowheads="1"/>
          </p:cNvSpPr>
          <p:nvPr/>
        </p:nvSpPr>
        <p:spPr bwMode="auto">
          <a:xfrm>
            <a:off x="82446" y="944381"/>
            <a:ext cx="9061554" cy="4031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tr-TR" sz="1600" b="1" dirty="0"/>
              <a:t>1. Basamak: </a:t>
            </a:r>
            <a:r>
              <a:rPr lang="tr-TR" sz="1600" b="1" dirty="0" err="1"/>
              <a:t>Alanyazın</a:t>
            </a:r>
            <a:r>
              <a:rPr lang="tr-TR" sz="1600" b="1" dirty="0"/>
              <a:t>/Literatür Taraması</a:t>
            </a:r>
            <a:endParaRPr lang="tr-TR" sz="1600" dirty="0"/>
          </a:p>
          <a:p>
            <a:r>
              <a:rPr lang="tr-TR" sz="1600" dirty="0"/>
              <a:t>Başka araştırmacıların neler yaptığını gözden geçirmek dört nedenden dolayı önemlidir:</a:t>
            </a:r>
          </a:p>
          <a:p>
            <a:pPr lvl="0"/>
            <a:r>
              <a:rPr lang="tr-TR" sz="1600" b="1" dirty="0"/>
              <a:t>a) </a:t>
            </a:r>
            <a:r>
              <a:rPr lang="tr-TR" sz="1600" dirty="0"/>
              <a:t>Çalışmak istediğiniz konu hakkında geniş bir bilgi tabanı oluşturmanı­za yardımcı olur.</a:t>
            </a:r>
          </a:p>
          <a:p>
            <a:pPr lvl="0"/>
            <a:r>
              <a:rPr lang="tr-TR" sz="1600" b="1" dirty="0"/>
              <a:t>b) </a:t>
            </a:r>
            <a:r>
              <a:rPr lang="tr-TR" sz="1600" dirty="0"/>
              <a:t>Özel olarak yapmayı düşündüğünüz çalışmanın daha önceden yapılıp yapılmadığını öğrenerek, gerekirse konunuzda değişiklikler yaparak öz­gün bir katkıda bulunmanızı sağlar.</a:t>
            </a:r>
          </a:p>
          <a:p>
            <a:pPr lvl="0"/>
            <a:r>
              <a:rPr lang="tr-TR" sz="1600" b="1" dirty="0"/>
              <a:t>c) </a:t>
            </a:r>
            <a:r>
              <a:rPr lang="tr-TR" sz="1600" dirty="0"/>
              <a:t>Raporunuzu hazırlarken zengin bir giriş bölümü yazmanıza yardımcı olur.</a:t>
            </a:r>
          </a:p>
          <a:p>
            <a:pPr lvl="0"/>
            <a:r>
              <a:rPr lang="tr-TR" sz="1600" b="1" dirty="0"/>
              <a:t>d) </a:t>
            </a:r>
            <a:r>
              <a:rPr lang="tr-TR" sz="1600" dirty="0"/>
              <a:t>Bulgularınızı tartışırken önceden yapılan benzer çalışmalar ışığında </a:t>
            </a:r>
          </a:p>
          <a:p>
            <a:pPr lvl="0"/>
            <a:r>
              <a:rPr lang="tr-TR" sz="1600" dirty="0"/>
              <a:t>yorum yapabilmenizi sağlar.</a:t>
            </a:r>
          </a:p>
          <a:p>
            <a:endParaRPr lang="tr-TR" sz="1600" dirty="0"/>
          </a:p>
          <a:p>
            <a:r>
              <a:rPr lang="tr-TR" sz="1600" dirty="0"/>
              <a:t>Açık ve net bir araştırma problemi/sorusu sınanabilir hi­potezler </a:t>
            </a:r>
          </a:p>
          <a:p>
            <a:r>
              <a:rPr lang="tr-TR" sz="1600" dirty="0"/>
              <a:t>şeklinde ifade edilebilir.</a:t>
            </a:r>
          </a:p>
          <a:p>
            <a:endParaRPr lang="tr-TR" sz="1600" dirty="0"/>
          </a:p>
          <a:p>
            <a:r>
              <a:rPr lang="tr-TR" sz="1600" dirty="0"/>
              <a:t>Örneğin; “Ders çalışılan ortamın ders başarısına </a:t>
            </a:r>
            <a:r>
              <a:rPr lang="tr-TR" sz="1600" dirty="0" err="1"/>
              <a:t>etkisi”ni</a:t>
            </a:r>
            <a:r>
              <a:rPr lang="tr-TR" sz="1600" dirty="0"/>
              <a:t> </a:t>
            </a:r>
          </a:p>
          <a:p>
            <a:r>
              <a:rPr lang="tr-TR" sz="1600" dirty="0"/>
              <a:t>(araştırma problemi) merak eden bir araştırmacı, “Kendine ait bir odası </a:t>
            </a:r>
          </a:p>
          <a:p>
            <a:r>
              <a:rPr lang="tr-TR" sz="1600" dirty="0"/>
              <a:t>olan öğrenciler, kardeşiyle aynı odayı paylaşanlara göre daha başarılı </a:t>
            </a:r>
          </a:p>
          <a:p>
            <a:r>
              <a:rPr lang="tr-TR" sz="1600" dirty="0"/>
              <a:t>olacaktır” (hipotez) gibi özel bir beklentiyi sınayabilir. 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498475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850" y="2463994"/>
            <a:ext cx="1828800" cy="231808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58750"/>
            <a:ext cx="9144000" cy="6905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62466" name="TextBox 5"/>
          <p:cNvSpPr txBox="1">
            <a:spLocks noChangeArrowheads="1"/>
          </p:cNvSpPr>
          <p:nvPr/>
        </p:nvSpPr>
        <p:spPr bwMode="auto">
          <a:xfrm>
            <a:off x="-549120" y="239842"/>
            <a:ext cx="969311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tr-TR" sz="2000" b="1" dirty="0">
                <a:solidFill>
                  <a:schemeClr val="bg1"/>
                </a:solidFill>
              </a:rPr>
              <a:t>22. Akademik Yazma / Metin Oluşturmada Takip Edilecek Basamaklar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62467" name="TextBox 6"/>
          <p:cNvSpPr txBox="1">
            <a:spLocks noChangeArrowheads="1"/>
          </p:cNvSpPr>
          <p:nvPr/>
        </p:nvSpPr>
        <p:spPr bwMode="auto">
          <a:xfrm>
            <a:off x="0" y="879795"/>
            <a:ext cx="9144000" cy="4539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tr-TR" sz="1400" dirty="0"/>
          </a:p>
          <a:p>
            <a:r>
              <a:rPr lang="tr-TR" sz="1400" dirty="0"/>
              <a:t>Ulusal ve uluslararası bilimsel endeksleri, İnternetteki arama motorları,</a:t>
            </a:r>
          </a:p>
          <a:p>
            <a:r>
              <a:rPr lang="tr-TR" sz="1400" dirty="0"/>
              <a:t>Üniversite kütüphanelerinin internet sayfaları                                                                              </a:t>
            </a:r>
            <a:r>
              <a:rPr lang="tr-TR" u="sng" dirty="0">
                <a:hlinkClick r:id="rId3"/>
              </a:rPr>
              <a:t>https://tez.yok.gov.tr/UlusalTezMerkezi/</a:t>
            </a:r>
            <a:r>
              <a:rPr lang="tr-TR" dirty="0"/>
              <a:t> </a:t>
            </a:r>
          </a:p>
          <a:p>
            <a:r>
              <a:rPr lang="tr-TR" u="sng" dirty="0">
                <a:hlinkClick r:id="rId4"/>
              </a:rPr>
              <a:t>https://scholar.google.com/</a:t>
            </a:r>
            <a:r>
              <a:rPr lang="tr-TR" dirty="0"/>
              <a:t>,  </a:t>
            </a:r>
          </a:p>
          <a:p>
            <a:r>
              <a:rPr lang="tr-TR" u="sng" dirty="0">
                <a:hlinkClick r:id="rId5"/>
              </a:rPr>
              <a:t>https://www.resarchgate.net/</a:t>
            </a:r>
            <a:r>
              <a:rPr lang="tr-TR" dirty="0"/>
              <a:t>, </a:t>
            </a:r>
          </a:p>
          <a:p>
            <a:r>
              <a:rPr lang="tr-TR" u="sng" dirty="0">
                <a:hlinkClick r:id="rId6"/>
              </a:rPr>
              <a:t>https://www.academia.edu/</a:t>
            </a:r>
            <a:r>
              <a:rPr lang="tr-TR" dirty="0"/>
              <a:t>     </a:t>
            </a:r>
          </a:p>
          <a:p>
            <a:endParaRPr lang="tr-TR" dirty="0"/>
          </a:p>
          <a:p>
            <a:r>
              <a:rPr lang="tr-TR" b="1" dirty="0"/>
              <a:t>2. Basamak: Ulaşılan Kaynakların Okunması/İncelenmesi ve Özetlenmesi</a:t>
            </a:r>
            <a:endParaRPr lang="tr-TR" dirty="0"/>
          </a:p>
          <a:p>
            <a:r>
              <a:rPr lang="tr-TR" dirty="0"/>
              <a:t>Makale arşivlenmesi, içeriğe göre ayırma, referansların düzenlenmesinde yardımcı </a:t>
            </a:r>
          </a:p>
          <a:p>
            <a:r>
              <a:rPr lang="tr-TR" dirty="0"/>
              <a:t>bazı bilgisayar programları (</a:t>
            </a:r>
            <a:r>
              <a:rPr lang="tr-TR" dirty="0" err="1"/>
              <a:t>Mendeley</a:t>
            </a:r>
            <a:r>
              <a:rPr lang="tr-TR" dirty="0"/>
              <a:t>) </a:t>
            </a:r>
          </a:p>
          <a:p>
            <a:r>
              <a:rPr lang="tr-TR" dirty="0"/>
              <a:t>                                                                                                                                           </a:t>
            </a:r>
          </a:p>
          <a:p>
            <a:r>
              <a:rPr lang="tr-TR" b="1" dirty="0"/>
              <a:t>3. Basamak: Araştırmanın Amacı ve Problem Durumunun Belirlenmesi</a:t>
            </a:r>
            <a:r>
              <a:rPr lang="tr-TR" dirty="0"/>
              <a:t> Çalışmanın amacı, önemi;</a:t>
            </a:r>
          </a:p>
          <a:p>
            <a:r>
              <a:rPr lang="tr-TR" dirty="0"/>
              <a:t> araştırmanın merkezinde yer alan problem durumu, çalışmanın bu soruya/hipoteze cevap arayacağı bilgisi</a:t>
            </a:r>
          </a:p>
          <a:p>
            <a:endParaRPr lang="tr-TR" b="1" dirty="0"/>
          </a:p>
          <a:p>
            <a:r>
              <a:rPr lang="tr-TR" b="1" dirty="0"/>
              <a:t>4. Basamak: Araştırma ve Analiz Yöntemlerinin Belirlenmesi</a:t>
            </a:r>
            <a:r>
              <a:rPr lang="tr-TR" dirty="0"/>
              <a:t> Araştırma sorusu veya hipotezlerin nasıl sınanacağı, araştırma yöntemi, çalışmanın yapılacağı grup ile ilgili bir evren ve örneklem </a:t>
            </a:r>
          </a:p>
          <a:p>
            <a:endParaRPr lang="tr-TR" dirty="0"/>
          </a:p>
          <a:p>
            <a:r>
              <a:rPr lang="tr-TR" dirty="0"/>
              <a:t>Araştırma sorusuna bağlı olarak gözlem, </a:t>
            </a:r>
            <a:r>
              <a:rPr lang="tr-TR" dirty="0" err="1"/>
              <a:t>ilişkisellik</a:t>
            </a:r>
            <a:r>
              <a:rPr lang="tr-TR" dirty="0"/>
              <a:t> (</a:t>
            </a:r>
            <a:r>
              <a:rPr lang="tr-TR" i="1" dirty="0" err="1"/>
              <a:t>association</a:t>
            </a:r>
            <a:r>
              <a:rPr lang="tr-TR" dirty="0"/>
              <a:t>) çalışmaları, arşiv araştırması </a:t>
            </a:r>
          </a:p>
          <a:p>
            <a:r>
              <a:rPr lang="tr-TR" dirty="0"/>
              <a:t>ya da deneysel çalışma gibi çeşitli yöntemler araştırmacı tarafından seçilebilir (</a:t>
            </a:r>
            <a:r>
              <a:rPr lang="tr-TR" dirty="0" err="1"/>
              <a:t>Levin</a:t>
            </a:r>
            <a:r>
              <a:rPr lang="tr-TR" dirty="0"/>
              <a:t> ve </a:t>
            </a:r>
            <a:r>
              <a:rPr lang="tr-TR" dirty="0" err="1"/>
              <a:t>Fox</a:t>
            </a:r>
            <a:r>
              <a:rPr lang="tr-TR" dirty="0"/>
              <a:t>, 2000). 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3" name="Rectangle 2"/>
          <p:cNvSpPr/>
          <p:nvPr/>
        </p:nvSpPr>
        <p:spPr>
          <a:xfrm>
            <a:off x="-104931" y="-1"/>
            <a:ext cx="9248931" cy="239843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sp>
        <p:nvSpPr>
          <p:cNvPr id="8" name="Rectangle 7"/>
          <p:cNvSpPr/>
          <p:nvPr/>
        </p:nvSpPr>
        <p:spPr>
          <a:xfrm>
            <a:off x="0" y="498475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7227" y="4195525"/>
            <a:ext cx="1326229" cy="667845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432" y="2367414"/>
            <a:ext cx="1772958" cy="675780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418" y="1153886"/>
            <a:ext cx="2361618" cy="102751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58750"/>
            <a:ext cx="9144000" cy="6905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64514" name="TextBox 5"/>
          <p:cNvSpPr txBox="1">
            <a:spLocks noChangeArrowheads="1"/>
          </p:cNvSpPr>
          <p:nvPr/>
        </p:nvSpPr>
        <p:spPr bwMode="auto">
          <a:xfrm>
            <a:off x="260350" y="158750"/>
            <a:ext cx="86233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</a:rPr>
              <a:t>23. </a:t>
            </a:r>
            <a:r>
              <a:rPr lang="tr-TR" sz="2000" b="1" dirty="0">
                <a:solidFill>
                  <a:schemeClr val="bg1"/>
                </a:solidFill>
              </a:rPr>
              <a:t>Akademik Yazma / Metin Oluşturmada Takip Edilecek Basamaklar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64515" name="TextBox 6"/>
          <p:cNvSpPr txBox="1">
            <a:spLocks noChangeArrowheads="1"/>
          </p:cNvSpPr>
          <p:nvPr/>
        </p:nvSpPr>
        <p:spPr bwMode="auto">
          <a:xfrm>
            <a:off x="0" y="891323"/>
            <a:ext cx="879046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/>
            <a:r>
              <a:rPr lang="tr-TR" sz="1600" b="1" dirty="0"/>
              <a:t>5. Basamak: Verilerin Toplanması ve Analizi</a:t>
            </a:r>
            <a:r>
              <a:rPr lang="tr-TR" sz="1600" dirty="0"/>
              <a:t> Araştırma sorusu bağlamında veri toplama</a:t>
            </a:r>
          </a:p>
          <a:p>
            <a:pPr lvl="0"/>
            <a:r>
              <a:rPr lang="tr-TR" sz="1600" dirty="0"/>
              <a:t>Canlıların kullanımı söz konusu ise “Etik Kurul Onayı” </a:t>
            </a:r>
          </a:p>
          <a:p>
            <a:pPr lvl="0"/>
            <a:r>
              <a:rPr lang="tr-TR" sz="1600" dirty="0"/>
              <a:t>Verileri nitel veya nicel yöntemlere göre analiz - Statistical </a:t>
            </a:r>
            <a:r>
              <a:rPr lang="tr-TR" sz="1600" dirty="0" err="1"/>
              <a:t>Package</a:t>
            </a:r>
            <a:r>
              <a:rPr lang="tr-TR" sz="1600" dirty="0"/>
              <a:t> </a:t>
            </a:r>
            <a:r>
              <a:rPr lang="tr-TR" sz="1600" dirty="0" err="1"/>
              <a:t>for</a:t>
            </a:r>
            <a:r>
              <a:rPr lang="tr-TR" sz="1600" dirty="0"/>
              <a:t> </a:t>
            </a:r>
            <a:r>
              <a:rPr lang="tr-TR" sz="1600" dirty="0" err="1"/>
              <a:t>Social</a:t>
            </a:r>
            <a:r>
              <a:rPr lang="tr-TR" sz="1600" dirty="0"/>
              <a:t> </a:t>
            </a:r>
            <a:r>
              <a:rPr lang="tr-TR" sz="1600" dirty="0" err="1"/>
              <a:t>Sciences</a:t>
            </a:r>
            <a:r>
              <a:rPr lang="tr-TR" sz="1600" dirty="0"/>
              <a:t> (SPSS) </a:t>
            </a:r>
          </a:p>
          <a:p>
            <a:pPr lvl="0"/>
            <a:endParaRPr lang="tr-TR" sz="1600" b="1" dirty="0"/>
          </a:p>
          <a:p>
            <a:pPr lvl="0"/>
            <a:r>
              <a:rPr lang="tr-TR" sz="1600" b="1" dirty="0"/>
              <a:t>6. Basamak: Bulguların Yorumlanması</a:t>
            </a:r>
            <a:r>
              <a:rPr lang="tr-TR" sz="1600" dirty="0"/>
              <a:t> Verilerin analizi, bulguların yorumlanması</a:t>
            </a:r>
          </a:p>
          <a:p>
            <a:pPr lvl="0"/>
            <a:r>
              <a:rPr lang="tr-TR" sz="1600" dirty="0"/>
              <a:t>Çalışmanın başındaki hipoteze göre </a:t>
            </a:r>
            <a:r>
              <a:rPr lang="tr-TR" sz="1600" dirty="0" err="1"/>
              <a:t>doğrulanabilirlik</a:t>
            </a:r>
            <a:r>
              <a:rPr lang="tr-TR" sz="1600" dirty="0"/>
              <a:t> veya </a:t>
            </a:r>
            <a:r>
              <a:rPr lang="tr-TR" sz="1600" dirty="0" err="1"/>
              <a:t>yanlışlanabilirlik</a:t>
            </a:r>
            <a:endParaRPr lang="tr-TR" sz="1600" dirty="0"/>
          </a:p>
          <a:p>
            <a:pPr lvl="0"/>
            <a:r>
              <a:rPr lang="tr-TR" sz="1600" dirty="0"/>
              <a:t>Diğer bir yönteme göre verilerin anlamlı bir fark oluşturup oluşturmadığı </a:t>
            </a:r>
          </a:p>
          <a:p>
            <a:endParaRPr lang="tr-TR" sz="1600" b="1" dirty="0"/>
          </a:p>
          <a:p>
            <a:r>
              <a:rPr lang="tr-TR" sz="1600" b="1" dirty="0"/>
              <a:t>7. Basamak: Araştırma Sonuçları ve Öneriler</a:t>
            </a:r>
            <a:r>
              <a:rPr lang="tr-TR" sz="1600" dirty="0"/>
              <a:t> Araştırmanın sonuçlarını paylaşma, benzer çalışmalarla bu sonuçları karşılaştırma, sonuçlara göre öneriler, araştırmada değinilemeyen kısımları belirtme</a:t>
            </a:r>
          </a:p>
          <a:p>
            <a:pPr lvl="0"/>
            <a:endParaRPr lang="tr-TR" sz="1600" dirty="0"/>
          </a:p>
          <a:p>
            <a:pPr lvl="0"/>
            <a:r>
              <a:rPr lang="tr-TR" sz="1600" b="1" dirty="0"/>
              <a:t>8. Basamak: Araştırmanın </a:t>
            </a:r>
            <a:r>
              <a:rPr lang="tr-TR" sz="1600" b="1" dirty="0" err="1"/>
              <a:t>Raporlaştırılması</a:t>
            </a:r>
            <a:r>
              <a:rPr lang="tr-TR" sz="1600" dirty="0"/>
              <a:t> Yayımlanma süreci</a:t>
            </a:r>
          </a:p>
          <a:p>
            <a:pPr lvl="0"/>
            <a:r>
              <a:rPr lang="tr-TR" sz="1600" dirty="0"/>
              <a:t>Bilimsel bir rapor hâline getirme</a:t>
            </a:r>
          </a:p>
          <a:p>
            <a:pPr lvl="0"/>
            <a:r>
              <a:rPr lang="tr-TR" sz="1600" dirty="0"/>
              <a:t>Makale, kitap, sempozyum bildirisi vb. 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498475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9143" y="3550329"/>
            <a:ext cx="2041317" cy="128053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58750"/>
            <a:ext cx="9144000" cy="6905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66562" name="TextBox 5"/>
          <p:cNvSpPr txBox="1">
            <a:spLocks noChangeArrowheads="1"/>
          </p:cNvSpPr>
          <p:nvPr/>
        </p:nvSpPr>
        <p:spPr bwMode="auto">
          <a:xfrm>
            <a:off x="260350" y="158750"/>
            <a:ext cx="8623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r-TR" sz="2400" dirty="0">
                <a:solidFill>
                  <a:schemeClr val="bg1"/>
                </a:solidFill>
              </a:rPr>
              <a:t>24. 5. </a:t>
            </a:r>
            <a:r>
              <a:rPr lang="tr-TR" sz="2400" b="1" dirty="0">
                <a:solidFill>
                  <a:schemeClr val="bg1"/>
                </a:solidFill>
              </a:rPr>
              <a:t>AKADEMİK METİNDE DİĞER ÖNEMLİ UNSURLAR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66563" name="TextBox 6"/>
          <p:cNvSpPr txBox="1">
            <a:spLocks noChangeArrowheads="1"/>
          </p:cNvSpPr>
          <p:nvPr/>
        </p:nvSpPr>
        <p:spPr bwMode="auto">
          <a:xfrm>
            <a:off x="44388" y="849313"/>
            <a:ext cx="9055223" cy="4031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tr-TR" sz="1600" b="1" dirty="0"/>
              <a:t>1. Anahtar Kelimeler </a:t>
            </a:r>
            <a:r>
              <a:rPr lang="tr-TR" sz="1600" dirty="0"/>
              <a:t>Yazının özü, yazıyı yansıtacak nitelikte ve yazıya özgü temel kelimeler</a:t>
            </a:r>
          </a:p>
          <a:p>
            <a:endParaRPr lang="tr-TR" sz="1600" b="1" dirty="0"/>
          </a:p>
          <a:p>
            <a:r>
              <a:rPr lang="tr-TR" sz="1600" b="1" dirty="0"/>
              <a:t>2. Özet Yazma</a:t>
            </a:r>
            <a:r>
              <a:rPr lang="tr-TR" sz="1600" dirty="0"/>
              <a:t> Başlık ve yazardan sonra en çok okunan kısım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Akademik çalışmanın sunumu, vitrini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Özet yazım ilkeleri ile ilgili kılavuz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Çalışmanın konusu, amacı, önemi, yöntemi, bulgular, sonuç ve öneriler </a:t>
            </a:r>
          </a:p>
          <a:p>
            <a:endParaRPr lang="tr-TR" sz="1600" dirty="0"/>
          </a:p>
          <a:p>
            <a:r>
              <a:rPr lang="tr-TR" sz="1600" b="1" dirty="0"/>
              <a:t>Kısa Özet: </a:t>
            </a:r>
            <a:r>
              <a:rPr lang="tr-TR" sz="1600" dirty="0"/>
              <a:t>Akademik yazının girişi, bölümleri hakkında kısa bilgiler içeren en can alıcı bölüm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Akademik çalışmanın konusu, amacı, yöntemi, bulguları, yorumları, ulaşılan sonuç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Ortalama 250- 500 kelime arası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/>
              <a:t>Detaysız</a:t>
            </a:r>
            <a:r>
              <a:rPr lang="tr-TR" sz="1600" dirty="0"/>
              <a:t>, kaynaksız, </a:t>
            </a:r>
            <a:r>
              <a:rPr lang="tr-TR" sz="1600" dirty="0" err="1"/>
              <a:t>alıntısız</a:t>
            </a:r>
            <a:r>
              <a:rPr lang="tr-TR" sz="1600" dirty="0"/>
              <a:t>, tek paragraf</a:t>
            </a:r>
          </a:p>
          <a:p>
            <a:r>
              <a:rPr lang="tr-TR" sz="1600" b="1" dirty="0"/>
              <a:t>Uzun Özet: </a:t>
            </a:r>
            <a:r>
              <a:rPr lang="tr-TR" sz="1600" dirty="0"/>
              <a:t>Geniş özet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Yayımlanmasına karar verilen akademik çalışmalar için geçerli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İçerikte ele alınan unsurlar aynı, kısa özetten biraz daha detaylı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Daha geniş, okur kitlesinin haberdar olması için yabancı dilde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Tercihen 500-750 kelime arası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498475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3342" y="3162009"/>
            <a:ext cx="2710308" cy="146517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58750"/>
            <a:ext cx="9144000" cy="6905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68610" name="TextBox 5"/>
          <p:cNvSpPr txBox="1">
            <a:spLocks noChangeArrowheads="1"/>
          </p:cNvSpPr>
          <p:nvPr/>
        </p:nvSpPr>
        <p:spPr bwMode="auto">
          <a:xfrm>
            <a:off x="260350" y="158750"/>
            <a:ext cx="8623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r-TR" sz="2400" dirty="0">
                <a:solidFill>
                  <a:schemeClr val="bg1"/>
                </a:solidFill>
              </a:rPr>
              <a:t>25. </a:t>
            </a:r>
            <a:r>
              <a:rPr lang="tr-TR" sz="2400" b="1" dirty="0">
                <a:solidFill>
                  <a:schemeClr val="bg1"/>
                </a:solidFill>
              </a:rPr>
              <a:t>AKADEMİK METİNDE DİĞER ÖNEMLİ UNSURLAR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68611" name="TextBox 6"/>
          <p:cNvSpPr txBox="1">
            <a:spLocks noChangeArrowheads="1"/>
          </p:cNvSpPr>
          <p:nvPr/>
        </p:nvSpPr>
        <p:spPr bwMode="auto">
          <a:xfrm>
            <a:off x="0" y="849313"/>
            <a:ext cx="9144000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tr-TR" sz="1800" b="1" dirty="0"/>
          </a:p>
          <a:p>
            <a:r>
              <a:rPr lang="tr-TR" sz="1800" b="1" dirty="0"/>
              <a:t>3. Akademik Dil ve Üslup</a:t>
            </a:r>
            <a:r>
              <a:rPr lang="tr-TR" sz="1800" dirty="0"/>
              <a:t> Diğer metinlerde olduğu gibi çok seçenekli değil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800" dirty="0"/>
              <a:t>Belli kurallar ve ölçüler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800" dirty="0"/>
              <a:t>Kendine özgü kelime hazinesi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800" dirty="0"/>
              <a:t>Günlük, edebî dilden uzak, akademik kelimelerin ve terimlerin yer aldığı cümleler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800" dirty="0"/>
              <a:t>Yazı dili metnin türüne uygun, söz sanatlarından ve karmaşık yapılardan uzak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800" dirty="0"/>
              <a:t>Cümleler daha çok isim cümleleri yapısında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800" dirty="0"/>
              <a:t>Paragraflar arasındaki geçişler, bağdaşıklık ve tutarlılık </a:t>
            </a:r>
          </a:p>
          <a:p>
            <a:r>
              <a:rPr lang="tr-TR" sz="1800" dirty="0"/>
              <a:t>sağlayan unsurlar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800" dirty="0"/>
              <a:t>Objektif bir tutum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800" dirty="0"/>
              <a:t>Kesin ifadeler taşıyan yargı cümleleri                   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800" dirty="0"/>
              <a:t>Türkçeyi bilinçli kullanmak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80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498475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830" y="2753935"/>
            <a:ext cx="2419098" cy="173012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58750"/>
            <a:ext cx="9144000" cy="6905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70658" name="TextBox 5"/>
          <p:cNvSpPr txBox="1">
            <a:spLocks noChangeArrowheads="1"/>
          </p:cNvSpPr>
          <p:nvPr/>
        </p:nvSpPr>
        <p:spPr bwMode="auto">
          <a:xfrm>
            <a:off x="260350" y="158750"/>
            <a:ext cx="8623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r-TR" sz="2400" dirty="0">
                <a:solidFill>
                  <a:schemeClr val="bg1"/>
                </a:solidFill>
              </a:rPr>
              <a:t>26. </a:t>
            </a:r>
            <a:r>
              <a:rPr lang="tr-TR" sz="2400" b="1" dirty="0">
                <a:solidFill>
                  <a:schemeClr val="bg1"/>
                </a:solidFill>
              </a:rPr>
              <a:t>AKADEMİK METİNDE DİĞER ÖNEMLİ UNSURLAR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70659" name="TextBox 6"/>
          <p:cNvSpPr txBox="1">
            <a:spLocks noChangeArrowheads="1"/>
          </p:cNvSpPr>
          <p:nvPr/>
        </p:nvSpPr>
        <p:spPr bwMode="auto">
          <a:xfrm>
            <a:off x="0" y="849313"/>
            <a:ext cx="9072979" cy="39857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tr-TR" b="1" dirty="0"/>
          </a:p>
          <a:p>
            <a:r>
              <a:rPr lang="tr-TR" sz="1600" b="1" dirty="0"/>
              <a:t>4. Araştırma ve Yayın Etiği</a:t>
            </a:r>
            <a:r>
              <a:rPr lang="tr-TR" sz="1600" dirty="0"/>
              <a:t> Türkiye Bilimsel ve Teknik Araştırma Kurumu (TÜBİTAK), Araştırma ve Yayın Etiği Kurulu Yönetmeliği 9. madde       </a:t>
            </a:r>
          </a:p>
          <a:p>
            <a:r>
              <a:rPr lang="tr-TR" sz="1600" dirty="0"/>
              <a:t>https://www.tubitak.gov.tr/sites/default/files/247</a:t>
            </a:r>
          </a:p>
          <a:p>
            <a:endParaRPr lang="tr-TR" sz="1600" dirty="0"/>
          </a:p>
          <a:p>
            <a:r>
              <a:rPr lang="tr-TR" sz="1600" dirty="0"/>
              <a:t>Bilimsel çalışmalarda etik kurallara aykırı davranışlar:                                                  </a:t>
            </a:r>
          </a:p>
          <a:p>
            <a:r>
              <a:rPr lang="tr-TR" sz="1600" dirty="0"/>
              <a:t>a) Uydurma</a:t>
            </a:r>
          </a:p>
          <a:p>
            <a:r>
              <a:rPr lang="tr-TR" sz="1600" dirty="0"/>
              <a:t>b) Çarpıtma</a:t>
            </a:r>
          </a:p>
          <a:p>
            <a:r>
              <a:rPr lang="tr-TR" sz="1600" dirty="0"/>
              <a:t>c) Aşırma</a:t>
            </a:r>
          </a:p>
          <a:p>
            <a:r>
              <a:rPr lang="tr-TR" sz="1600" dirty="0"/>
              <a:t>ç) Tekrar yayım</a:t>
            </a:r>
          </a:p>
          <a:p>
            <a:r>
              <a:rPr lang="tr-TR" sz="1600" dirty="0"/>
              <a:t>d) Dilimleme</a:t>
            </a:r>
          </a:p>
          <a:p>
            <a:r>
              <a:rPr lang="tr-TR" sz="1600" dirty="0"/>
              <a:t>e) Destekleyen kuruluşu belirtmeme</a:t>
            </a:r>
          </a:p>
          <a:p>
            <a:r>
              <a:rPr lang="tr-TR" sz="1600" dirty="0"/>
              <a:t>f) Haksız yazarlık</a:t>
            </a:r>
          </a:p>
          <a:p>
            <a:r>
              <a:rPr lang="tr-TR" sz="1600" dirty="0"/>
              <a:t>g) Yayımlanmış veya yayına sunulmuş kendi çalışmasından usulüne uygun olarak kaynak göstermeden alıntı yapmak</a:t>
            </a:r>
          </a:p>
          <a:p>
            <a:r>
              <a:rPr lang="tr-TR" sz="1600" dirty="0"/>
              <a:t>ğ) Kurumca sağlanan kaynakları amacına veya usulüne aykırı biçimde kullanmak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498475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2368" y="1623849"/>
            <a:ext cx="2743199" cy="208893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58750"/>
            <a:ext cx="9144000" cy="6905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72706" name="TextBox 5"/>
          <p:cNvSpPr txBox="1">
            <a:spLocks noChangeArrowheads="1"/>
          </p:cNvSpPr>
          <p:nvPr/>
        </p:nvSpPr>
        <p:spPr bwMode="auto">
          <a:xfrm>
            <a:off x="260350" y="158750"/>
            <a:ext cx="8623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r-TR" sz="2400" dirty="0">
                <a:solidFill>
                  <a:schemeClr val="bg1"/>
                </a:solidFill>
              </a:rPr>
              <a:t>27. </a:t>
            </a:r>
            <a:r>
              <a:rPr lang="tr-TR" sz="2400" b="1" dirty="0">
                <a:solidFill>
                  <a:schemeClr val="bg1"/>
                </a:solidFill>
              </a:rPr>
              <a:t>AKADEMİK METİNDE DİĞER ÖNEMLİ UNSURLAR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72707" name="TextBox 6"/>
          <p:cNvSpPr txBox="1">
            <a:spLocks noChangeArrowheads="1"/>
          </p:cNvSpPr>
          <p:nvPr/>
        </p:nvSpPr>
        <p:spPr bwMode="auto">
          <a:xfrm>
            <a:off x="0" y="849313"/>
            <a:ext cx="9144000" cy="4031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tr-TR" sz="1600" dirty="0"/>
          </a:p>
          <a:p>
            <a:r>
              <a:rPr lang="tr-TR" sz="1600" dirty="0"/>
              <a:t>h) Kabul ve taahhüt beyanlarına uymama</a:t>
            </a:r>
          </a:p>
          <a:p>
            <a:r>
              <a:rPr lang="tr-TR" sz="1600" dirty="0"/>
              <a:t>ı) Görevi ihmal veya kötüye kullanma</a:t>
            </a:r>
          </a:p>
          <a:p>
            <a:r>
              <a:rPr lang="tr-TR" sz="1600" dirty="0"/>
              <a:t>i) Asılsız veya dayanaksız olarak etik kural ihlali iddiasında bulunma</a:t>
            </a:r>
          </a:p>
          <a:p>
            <a:endParaRPr lang="tr-TR" sz="1600" dirty="0"/>
          </a:p>
          <a:p>
            <a:endParaRPr lang="tr-TR" sz="1600" dirty="0"/>
          </a:p>
          <a:p>
            <a:r>
              <a:rPr lang="tr-TR" sz="1600" dirty="0"/>
              <a:t>TÜBİTAK tarafından hazırlanan araştırma ve yayın etiği kuralları bütün bilimsel araştırmalar için geçerlidir.</a:t>
            </a:r>
          </a:p>
          <a:p>
            <a:endParaRPr lang="tr-TR" sz="1600" dirty="0"/>
          </a:p>
          <a:p>
            <a:r>
              <a:rPr lang="tr-TR" sz="1600" b="1" dirty="0"/>
              <a:t>5. Araştırma Sürecinde Etik ve Yasal Standartların Korunması</a:t>
            </a:r>
            <a:r>
              <a:rPr lang="tr-TR" sz="1600" dirty="0"/>
              <a:t> Yazım kurallarının stilleri, o alandaki iletişimi kolaylaştırmak üzere tanım­lanmış kurallardan oluşur, doğru veya yanlış olmaktan ziyade üzerinde fikir birliğine varılmış kurallardır. Akademik Yazım Kuralları </a:t>
            </a:r>
            <a:r>
              <a:rPr lang="tr-TR" sz="1600" dirty="0" err="1"/>
              <a:t>Kitapçığı’nda</a:t>
            </a:r>
            <a:r>
              <a:rPr lang="tr-TR" sz="1600" dirty="0"/>
              <a:t> etik kurallar temelde üç amacı yerine getirmek üzere tanımlanmıştır:</a:t>
            </a:r>
          </a:p>
          <a:p>
            <a:pPr lvl="0"/>
            <a:r>
              <a:rPr lang="tr-TR" sz="1600" b="1" dirty="0"/>
              <a:t>a) </a:t>
            </a:r>
            <a:r>
              <a:rPr lang="tr-TR" sz="1600" dirty="0"/>
              <a:t>Bilimsel bilginin doğruluğundan emin olmak,</a:t>
            </a:r>
          </a:p>
          <a:p>
            <a:pPr lvl="0"/>
            <a:r>
              <a:rPr lang="tr-TR" sz="1600" b="1" dirty="0"/>
              <a:t>b) </a:t>
            </a:r>
            <a:r>
              <a:rPr lang="tr-TR" sz="1600" dirty="0"/>
              <a:t>Katılımcılarının haklarını korumak,        </a:t>
            </a:r>
          </a:p>
          <a:p>
            <a:pPr lvl="0"/>
            <a:r>
              <a:rPr lang="tr-TR" sz="1600" b="1" dirty="0"/>
              <a:t>c) </a:t>
            </a:r>
            <a:r>
              <a:rPr lang="tr-TR" sz="1600" dirty="0"/>
              <a:t>Fikir haklarını korumaktır.     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498475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363" y="1008062"/>
            <a:ext cx="2134306" cy="128840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58750"/>
            <a:ext cx="9144000" cy="6905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74754" name="TextBox 5"/>
          <p:cNvSpPr txBox="1">
            <a:spLocks noChangeArrowheads="1"/>
          </p:cNvSpPr>
          <p:nvPr/>
        </p:nvSpPr>
        <p:spPr bwMode="auto">
          <a:xfrm>
            <a:off x="260350" y="158750"/>
            <a:ext cx="8623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r-TR" sz="2400" dirty="0">
                <a:solidFill>
                  <a:schemeClr val="bg1"/>
                </a:solidFill>
              </a:rPr>
              <a:t>28. </a:t>
            </a:r>
            <a:r>
              <a:rPr lang="tr-TR" sz="2400" b="1" dirty="0">
                <a:solidFill>
                  <a:schemeClr val="bg1"/>
                </a:solidFill>
              </a:rPr>
              <a:t>6. AKADEMİK METİN TÜRLERİ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74755" name="TextBox 6"/>
          <p:cNvSpPr txBox="1">
            <a:spLocks noChangeArrowheads="1"/>
          </p:cNvSpPr>
          <p:nvPr/>
        </p:nvSpPr>
        <p:spPr bwMode="auto">
          <a:xfrm>
            <a:off x="260350" y="849313"/>
            <a:ext cx="8883650" cy="4216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Bilimsel makale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Yüksek lisans ve doktora tezi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Bilimsel kitaplar ve kitap bölümleri                                                      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Sempozyum bildirileri/sunumları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Bildiri özetleri ve tam metin bildiriler                                      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Araştırma raporları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Lisans ve lisansüstü ders ödevleri/sunumları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Ansiklopedi maddeleri </a:t>
            </a:r>
            <a:endParaRPr lang="tr-TR" sz="1600" b="1" dirty="0"/>
          </a:p>
          <a:p>
            <a:r>
              <a:rPr lang="tr-TR" sz="1600" b="1" dirty="0"/>
              <a:t>1.Bildiri</a:t>
            </a:r>
            <a:r>
              <a:rPr lang="tr-TR" sz="1600" dirty="0"/>
              <a:t> Daha çok sunulmak üzere hazırlanır. </a:t>
            </a:r>
          </a:p>
          <a:p>
            <a:r>
              <a:rPr lang="tr-TR" sz="1600" dirty="0"/>
              <a:t>Çeşitli bilim ve sanat dallarında uzman kişilerin daha önce ele alınmamış bir konu üzerinde yaptığı araştırma ve incelemeler sonucunda gözlem, tespit ve değerlendirmelerini akademik bir dille aktardığı yazılardır. </a:t>
            </a:r>
          </a:p>
          <a:p>
            <a:r>
              <a:rPr lang="tr-TR" sz="1600" dirty="0"/>
              <a:t>Bildirilerin alana yeni ve özgün fikirler sunması gerekir. </a:t>
            </a:r>
          </a:p>
          <a:p>
            <a:r>
              <a:rPr lang="tr-TR" sz="1600" dirty="0"/>
              <a:t>Kendine özgü bir yazma süreci ve planı vardır. </a:t>
            </a:r>
          </a:p>
          <a:p>
            <a:r>
              <a:rPr lang="tr-TR" sz="1600" dirty="0"/>
              <a:t>XII. Uluslararası Dünya Dili Türkçe Sempozyumu Bildiri Kitabı, Gazi Üniversitesi 21-23 Ekim 2020, Ankara.   http://dunyadiliturkce2020.gazi.edu.tr/kitap.pdf </a:t>
            </a:r>
          </a:p>
          <a:p>
            <a:endParaRPr lang="tr-TR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498475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9445" y="1082676"/>
            <a:ext cx="2915595" cy="181029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58750"/>
            <a:ext cx="9144000" cy="6905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76802" name="TextBox 5"/>
          <p:cNvSpPr txBox="1">
            <a:spLocks noChangeArrowheads="1"/>
          </p:cNvSpPr>
          <p:nvPr/>
        </p:nvSpPr>
        <p:spPr bwMode="auto">
          <a:xfrm>
            <a:off x="260350" y="158750"/>
            <a:ext cx="8623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r-TR" sz="2400" dirty="0">
                <a:solidFill>
                  <a:schemeClr val="bg1"/>
                </a:solidFill>
              </a:rPr>
              <a:t>29. </a:t>
            </a:r>
            <a:r>
              <a:rPr lang="tr-TR" sz="2400" b="1" dirty="0">
                <a:solidFill>
                  <a:schemeClr val="bg1"/>
                </a:solidFill>
              </a:rPr>
              <a:t>AKADEMİK METİN TÜRLERİ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76803" name="TextBox 6"/>
          <p:cNvSpPr txBox="1">
            <a:spLocks noChangeArrowheads="1"/>
          </p:cNvSpPr>
          <p:nvPr/>
        </p:nvSpPr>
        <p:spPr bwMode="auto">
          <a:xfrm>
            <a:off x="0" y="849313"/>
            <a:ext cx="9144000" cy="4431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tr-TR" sz="1600" b="1" dirty="0"/>
              <a:t>2.Bilimsel Makale</a:t>
            </a:r>
            <a:r>
              <a:rPr lang="tr-TR" sz="1600" dirty="0"/>
              <a:t> Bir düşünceyi açıklamak, ispat etmek amacıyla araştırma ve incelemeler sonunda akademik bir üslupla kaleme alınan düşünce yazılarıdır. </a:t>
            </a:r>
          </a:p>
          <a:p>
            <a:r>
              <a:rPr lang="tr-TR" sz="1600" dirty="0"/>
              <a:t>Bilimsel makaleler yazılırken dikkat edilmesi gereken bazı noktalar: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600" dirty="0"/>
              <a:t>Makalenin başlığı içeriği yansıtacak nitelikte olmalıdır.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600" dirty="0"/>
              <a:t>Özet ve anahtar kelimeler makalenin içeriğine uygun nitelikte olmalıdır.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600" dirty="0"/>
              <a:t>Ele alınan konu özgün ve nitelikli olmalı, tam olarak ele alınıp işlenmelidir.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tr-TR" sz="1600" dirty="0"/>
              <a:t>Daha önce bu konuda yapılmış çalışmaların görülmüş olması şarttır.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600" dirty="0"/>
              <a:t>Bilimsel anlamda ne gibi bir yenilik getiriyor ve amacı nedir, sorularına net olarak cevap vermelidir.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600" dirty="0"/>
              <a:t>Bilimsel anlamda nitelikli olmalıdır. Bulgular yeterli düzeyde tartışılmış olmalıdır.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600" dirty="0"/>
              <a:t>En önemli kısımlarımdan biri olan yorumlar, yeterli ve nitelikli düzeyde olmalıdır. 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600" dirty="0"/>
              <a:t>Varılan sonuç açık ve net bir şekilde dile getirilmelidir.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1600" dirty="0"/>
              <a:t>Metin içi ve sonundaki kaynaklar bizzat görülmeli, yeterli ve güncel olmalıdır.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tr-TR" sz="1600" dirty="0"/>
              <a:t>Oldukça sade, yapmacık ve süsten uzak bir anlatım tarzı kullanılmalıdır.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tr-TR" sz="1600" dirty="0"/>
              <a:t>Konuyla ilgili bilimsel terimlerden yararlanılmalıdır.</a:t>
            </a:r>
          </a:p>
          <a:p>
            <a:r>
              <a:rPr lang="tr-TR" sz="1600" dirty="0"/>
              <a:t>Hacettepe Üniversitesi Hemşirelik Fakültesi Dergisi  </a:t>
            </a:r>
            <a:r>
              <a:rPr lang="tr-TR" sz="1400" u="sng" dirty="0">
                <a:hlinkClick r:id="rId3"/>
              </a:rPr>
              <a:t>https://www.hacettepehemsirelikdergisi.org/</a:t>
            </a:r>
            <a:endParaRPr lang="tr-TR" sz="1400" dirty="0"/>
          </a:p>
          <a:p>
            <a:endParaRPr lang="tr-TR" sz="1400" dirty="0"/>
          </a:p>
          <a:p>
            <a:endParaRPr lang="tr-TR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498475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441" y="2944451"/>
            <a:ext cx="1545021" cy="152507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58750"/>
            <a:ext cx="9144000" cy="6905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78850" name="TextBox 5"/>
          <p:cNvSpPr txBox="1">
            <a:spLocks noChangeArrowheads="1"/>
          </p:cNvSpPr>
          <p:nvPr/>
        </p:nvSpPr>
        <p:spPr bwMode="auto">
          <a:xfrm>
            <a:off x="260350" y="158750"/>
            <a:ext cx="8623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r-TR" sz="2400" dirty="0">
                <a:solidFill>
                  <a:schemeClr val="bg1"/>
                </a:solidFill>
              </a:rPr>
              <a:t>30. </a:t>
            </a:r>
            <a:r>
              <a:rPr lang="tr-TR" sz="2400" b="1" dirty="0">
                <a:solidFill>
                  <a:schemeClr val="bg1"/>
                </a:solidFill>
              </a:rPr>
              <a:t>AKADEMİK METİN TÜRLERİ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78851" name="TextBox 6"/>
          <p:cNvSpPr txBox="1">
            <a:spLocks noChangeArrowheads="1"/>
          </p:cNvSpPr>
          <p:nvPr/>
        </p:nvSpPr>
        <p:spPr bwMode="auto">
          <a:xfrm>
            <a:off x="48861" y="973128"/>
            <a:ext cx="9144000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tr-TR" sz="2000" b="1" dirty="0"/>
              <a:t>3. Rapor</a:t>
            </a:r>
            <a:r>
              <a:rPr lang="tr-TR" sz="2000" dirty="0"/>
              <a:t> Belli bir bilgi birikimine dayalı araştırma, inceleme ve gözlem yapma sonucunda ulaşılan verilerin yazılı olarak aktarıldığı yazılardır.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/>
              <a:t>Veriler güvenilir kaynaklara dayanır ve günceldir.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/>
              <a:t>Konunun tanıtımı yapılır; konu ile ilgili olumlu ve olumsuz yönler, veriler paylaşılır; konu tartışılır.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/>
              <a:t>Varılan yargı tüm detayları ile açıklanarak ortaya konur.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/>
              <a:t>Kullanılan dil bilgilendirici, yazının planı tutarlı </a:t>
            </a:r>
          </a:p>
          <a:p>
            <a:r>
              <a:rPr lang="tr-TR" sz="2000" dirty="0"/>
              <a:t>bir bütünlük içindedir.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/>
              <a:t>Sade, anlaşılır ifadeler, kesinlik içeren cümleler kullanılır.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/>
              <a:t>Başlık, sunulan makam, hazırlayan kişi, tarih ve süre, </a:t>
            </a:r>
          </a:p>
          <a:p>
            <a:r>
              <a:rPr lang="tr-TR" sz="2000" dirty="0"/>
              <a:t>gerekçe, giriş, gelişme, sonuç, hazırlayan kişi, ekler, </a:t>
            </a:r>
          </a:p>
          <a:p>
            <a:r>
              <a:rPr lang="tr-TR" sz="2000" dirty="0"/>
              <a:t>kaynakça bölümleri bulunur.</a:t>
            </a:r>
          </a:p>
          <a:p>
            <a:r>
              <a:rPr lang="tr-TR" sz="1200" dirty="0"/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498475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pic>
        <p:nvPicPr>
          <p:cNvPr id="5124" name="Picture 4" descr="Araştırmalarda Rapor Hazırlama (ANK--D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6827" y="2640724"/>
            <a:ext cx="1742089" cy="2110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58750"/>
            <a:ext cx="9144000" cy="6905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80898" name="TextBox 5"/>
          <p:cNvSpPr txBox="1">
            <a:spLocks noChangeArrowheads="1"/>
          </p:cNvSpPr>
          <p:nvPr/>
        </p:nvSpPr>
        <p:spPr bwMode="auto">
          <a:xfrm>
            <a:off x="260350" y="158750"/>
            <a:ext cx="86233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r-TR" sz="2400" dirty="0">
                <a:solidFill>
                  <a:schemeClr val="bg1"/>
                </a:solidFill>
              </a:rPr>
              <a:t>31. </a:t>
            </a:r>
            <a:r>
              <a:rPr lang="tr-TR" sz="2400" b="1" dirty="0">
                <a:solidFill>
                  <a:schemeClr val="bg1"/>
                </a:solidFill>
              </a:rPr>
              <a:t>AKADEMİK METİN TÜRLERİ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80899" name="TextBox 6"/>
          <p:cNvSpPr txBox="1">
            <a:spLocks noChangeArrowheads="1"/>
          </p:cNvSpPr>
          <p:nvPr/>
        </p:nvSpPr>
        <p:spPr bwMode="auto">
          <a:xfrm>
            <a:off x="79513" y="844436"/>
            <a:ext cx="8965096" cy="4062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tr-TR" sz="2000" b="1" dirty="0"/>
          </a:p>
          <a:p>
            <a:r>
              <a:rPr lang="tr-TR" sz="2000" b="1" dirty="0"/>
              <a:t>4.Tez</a:t>
            </a:r>
            <a:r>
              <a:rPr lang="tr-TR" sz="2000" dirty="0"/>
              <a:t> Danışmanlar eşliğinde yapılan çalışmalarda bilimsel araştırmalara dayalı kanıtlanmış verilerin bir jüri önünde savunulmasından sonra hazırlanan  bilimsel metinlerdir.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/>
              <a:t>Lisans - yüksek lisans - doktora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/>
              <a:t>Tez konusu belirleme                                                                     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/>
              <a:t>Belli periyodlarla tez izleme komitesinin değerlendirmesi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/>
              <a:t>Belirli kurallar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/>
              <a:t>Her üniversitenin tez yazımı ile ilgili teknik ilkeleri </a:t>
            </a:r>
          </a:p>
          <a:p>
            <a:r>
              <a:rPr lang="tr-TR" sz="2000" dirty="0"/>
              <a:t>belirten tez yazım kılavuzları</a:t>
            </a:r>
          </a:p>
          <a:p>
            <a:endParaRPr lang="tr-TR" sz="2000" dirty="0"/>
          </a:p>
          <a:p>
            <a:r>
              <a:rPr lang="tr-TR" sz="2000" dirty="0"/>
              <a:t>Hacettepe Üniversitesi Fen Bilimleri Enstitüsü Tez Yazım İşlemleri </a:t>
            </a:r>
            <a:r>
              <a:rPr lang="tr-TR" sz="1800" u="sng" dirty="0">
                <a:hlinkClick r:id="rId3"/>
              </a:rPr>
              <a:t>http://www.fenbilimleri.hacettepe.edu.tr/tr/menu/tez_yazim_islemleri-49</a:t>
            </a:r>
            <a:endParaRPr lang="tr-TR" sz="180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498475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8340" y="2147835"/>
            <a:ext cx="1985309" cy="189439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737" y="614253"/>
            <a:ext cx="7657229" cy="393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0535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58750"/>
            <a:ext cx="9144000" cy="6905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82946" name="TextBox 5"/>
          <p:cNvSpPr txBox="1">
            <a:spLocks noChangeArrowheads="1"/>
          </p:cNvSpPr>
          <p:nvPr/>
        </p:nvSpPr>
        <p:spPr bwMode="auto">
          <a:xfrm>
            <a:off x="260350" y="158750"/>
            <a:ext cx="86233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</a:rPr>
              <a:t>32. </a:t>
            </a:r>
            <a:r>
              <a:rPr lang="tr-TR" sz="2000" b="1" dirty="0">
                <a:solidFill>
                  <a:schemeClr val="bg1"/>
                </a:solidFill>
              </a:rPr>
              <a:t>7. AKADEMİK METİN İNCELEM</a:t>
            </a:r>
            <a:r>
              <a:rPr lang="tr-TR" sz="1800" b="1" dirty="0">
                <a:solidFill>
                  <a:schemeClr val="bg1"/>
                </a:solidFill>
              </a:rPr>
              <a:t>ESİ 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82947" name="TextBox 6"/>
          <p:cNvSpPr txBox="1">
            <a:spLocks noChangeArrowheads="1"/>
          </p:cNvSpPr>
          <p:nvPr/>
        </p:nvSpPr>
        <p:spPr bwMode="auto">
          <a:xfrm>
            <a:off x="260350" y="849313"/>
            <a:ext cx="8883650" cy="3677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tr-TR" sz="2000" dirty="0"/>
          </a:p>
          <a:p>
            <a:r>
              <a:rPr lang="tr-TR" sz="2000" dirty="0"/>
              <a:t>Akademik metinler incelenirken şekil ve içerik olarak yukarıda söz edilen unsurların tamamı dikkate alınarak değerlendirmeler yapılır.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/>
              <a:t>Başlık, özet, anahtar kelimeler, verilerin analizi, bulgular, yorum ve değerlendirme, sonuç ve öneriler, metin içi alıntılar, kaynaklar, vd.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/>
              <a:t>Metne yöneltilen sorular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/>
              <a:t>Kullanılan yöntem ve teknikler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/>
              <a:t>Bağdaşıklık, tutarlılık, uyum unsurları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/>
              <a:t>Dil ve üslup özellikleri, içerikle bağlantısı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/>
              <a:t>Alıntılar, özgün ifadeler, veriler, kaynaklar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/>
              <a:t>Metnin akademik alana katkısı</a:t>
            </a:r>
          </a:p>
          <a:p>
            <a:r>
              <a:rPr lang="tr-TR" dirty="0"/>
              <a:t> 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498475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9963" y="2625216"/>
            <a:ext cx="3001466" cy="176429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58750"/>
            <a:ext cx="9144000" cy="6905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84994" name="TextBox 5"/>
          <p:cNvSpPr txBox="1">
            <a:spLocks noChangeArrowheads="1"/>
          </p:cNvSpPr>
          <p:nvPr/>
        </p:nvSpPr>
        <p:spPr bwMode="auto">
          <a:xfrm>
            <a:off x="260350" y="158750"/>
            <a:ext cx="86233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r-TR" sz="2400" dirty="0">
                <a:solidFill>
                  <a:schemeClr val="bg1"/>
                </a:solidFill>
              </a:rPr>
              <a:t>33. </a:t>
            </a:r>
            <a:r>
              <a:rPr lang="tr-TR" sz="2400" b="1" dirty="0">
                <a:solidFill>
                  <a:schemeClr val="bg1"/>
                </a:solidFill>
              </a:rPr>
              <a:t>SONUÇ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84995" name="TextBox 6"/>
          <p:cNvSpPr txBox="1">
            <a:spLocks noChangeArrowheads="1"/>
          </p:cNvSpPr>
          <p:nvPr/>
        </p:nvSpPr>
        <p:spPr bwMode="auto">
          <a:xfrm>
            <a:off x="0" y="849313"/>
            <a:ext cx="9144000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tr-T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/>
              <a:t>Belli bir akademik yeterlilik için gereklidir.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/>
              <a:t>Akademik okuryazarlıkta yetkin bir seviyeye gelmek mecburiyeti vardır.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/>
              <a:t>Akademik bir metnin akışı, yapısı, aşamaları, özellikleri, dili ve üslubu,   kanıtlanabilirliği, metodu diğer metin türlerinden farklıdır.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/>
              <a:t>Akademik bir metni gerekliliklerine göre okuyup</a:t>
            </a:r>
          </a:p>
          <a:p>
            <a:r>
              <a:rPr lang="tr-TR" sz="2000" dirty="0"/>
              <a:t>değerlendiren ve yazabilen öğrencilerin öğrenim </a:t>
            </a:r>
          </a:p>
          <a:p>
            <a:r>
              <a:rPr lang="tr-TR" sz="2000" dirty="0"/>
              <a:t>süreçlerinde başarılı olması beklenen bir sonuçtur.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/>
              <a:t>Akademik okuryazarlık, çok sayıda akademik </a:t>
            </a:r>
          </a:p>
          <a:p>
            <a:r>
              <a:rPr lang="tr-TR" sz="2000" dirty="0"/>
              <a:t>metni okumaya, dikkatli ve derinlikli değerlendirmeler </a:t>
            </a:r>
          </a:p>
          <a:p>
            <a:r>
              <a:rPr lang="tr-TR" sz="2000" dirty="0"/>
              <a:t>yapmaya ve kendi alanı başta olmak üzere yazılı, </a:t>
            </a:r>
          </a:p>
          <a:p>
            <a:r>
              <a:rPr lang="tr-TR" sz="2000" dirty="0"/>
              <a:t>sözlü üretim yapmaya bağlı olarak </a:t>
            </a:r>
          </a:p>
          <a:p>
            <a:r>
              <a:rPr lang="tr-TR" sz="2000" dirty="0"/>
              <a:t>gelişebilecek bir kavramdır. 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498475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1266" y="2494429"/>
            <a:ext cx="2347415" cy="235677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58750"/>
            <a:ext cx="9144000" cy="6905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87042" name="TextBox 5"/>
          <p:cNvSpPr txBox="1">
            <a:spLocks noChangeArrowheads="1"/>
          </p:cNvSpPr>
          <p:nvPr/>
        </p:nvSpPr>
        <p:spPr bwMode="auto">
          <a:xfrm>
            <a:off x="260350" y="158750"/>
            <a:ext cx="86233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r-TR" sz="2400" dirty="0">
                <a:solidFill>
                  <a:schemeClr val="bg1"/>
                </a:solidFill>
              </a:rPr>
              <a:t>34. </a:t>
            </a:r>
            <a:r>
              <a:rPr lang="tr-TR" sz="2400" b="1" dirty="0">
                <a:solidFill>
                  <a:schemeClr val="bg1"/>
                </a:solidFill>
              </a:rPr>
              <a:t>SONUÇ 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87043" name="TextBox 6"/>
          <p:cNvSpPr txBox="1">
            <a:spLocks noChangeArrowheads="1"/>
          </p:cNvSpPr>
          <p:nvPr/>
        </p:nvSpPr>
        <p:spPr bwMode="auto">
          <a:xfrm>
            <a:off x="95794" y="923109"/>
            <a:ext cx="9135292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/>
              <a:t>Akademik okuryazarlık, edinilen bilgilerin içselleştirip kavranması ve hayata geçirilmesi, kullanılması bakımından önemlidir.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/>
              <a:t>Hayatın her aşamasında bilginin hayata geçirilmesi için önemli ve gerekli bir disiplindir.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/>
              <a:t>Akademik okuryazarlık hem bilgiyi fark etme, hayata geçirme hem bütüncül bakış açısıyla diğer disiplinler ile bağlantı kurabilme hem de olay ve durumlara bilimsel açıdan yaklaşarak çözüm önerileri sunabilme becerisi kazandırır.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/>
              <a:t>Bilgiyi bulma, seçme ve edinme, analiz etme, bilgiyi düzenleme, yeni bilgiler ortaya koyma gibi bir disiplinle bunları paylaşma isteği uyandırır.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/>
              <a:t>Akademik okuryazarlık bilginin edinilmesi, paylaşılması, </a:t>
            </a:r>
          </a:p>
          <a:p>
            <a:r>
              <a:rPr lang="tr-TR" sz="2000" dirty="0"/>
              <a:t>paylaştıkça çoğalması süreci ile nitelikli insan yetişmesine </a:t>
            </a:r>
          </a:p>
          <a:p>
            <a:r>
              <a:rPr lang="tr-TR" sz="2000" dirty="0"/>
              <a:t>önemli bir katkıdır. 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498475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1814" y="3854669"/>
            <a:ext cx="1419272" cy="100311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79388"/>
            <a:ext cx="9144000" cy="69056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91138" name="TextBox 5"/>
          <p:cNvSpPr txBox="1">
            <a:spLocks noChangeArrowheads="1"/>
          </p:cNvSpPr>
          <p:nvPr/>
        </p:nvSpPr>
        <p:spPr bwMode="auto">
          <a:xfrm>
            <a:off x="260350" y="158750"/>
            <a:ext cx="86233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r-TR" sz="2400" dirty="0">
                <a:solidFill>
                  <a:schemeClr val="bg1"/>
                </a:solidFill>
              </a:rPr>
              <a:t>35. </a:t>
            </a:r>
            <a:r>
              <a:rPr lang="tr-TR" sz="2400" b="1" dirty="0">
                <a:solidFill>
                  <a:schemeClr val="bg1"/>
                </a:solidFill>
              </a:rPr>
              <a:t>ÖNERİLEN KAYNAKLAR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91139" name="TextBox 6"/>
          <p:cNvSpPr txBox="1">
            <a:spLocks noChangeArrowheads="1"/>
          </p:cNvSpPr>
          <p:nvPr/>
        </p:nvSpPr>
        <p:spPr bwMode="auto">
          <a:xfrm>
            <a:off x="260350" y="849313"/>
            <a:ext cx="8883650" cy="4170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tr-TR" sz="1800" dirty="0"/>
          </a:p>
          <a:p>
            <a:r>
              <a:rPr lang="tr-TR" sz="1800" dirty="0"/>
              <a:t>Kısa Özet örneği:  Ahmet Mithat Efendi’nin Roman Yazma Yöntemi Doç. Dr. Selçuk </a:t>
            </a:r>
            <a:r>
              <a:rPr lang="tr-TR" sz="1800" dirty="0" err="1"/>
              <a:t>Çıkla</a:t>
            </a:r>
            <a:r>
              <a:rPr lang="tr-TR" sz="1800" dirty="0"/>
              <a:t>. </a:t>
            </a:r>
            <a:r>
              <a:rPr lang="tr-TR" sz="1800" u="sng" dirty="0">
                <a:hlinkClick r:id="rId3"/>
              </a:rPr>
              <a:t>https://dergipark.org.tr/tr/download/article-file/157213</a:t>
            </a:r>
            <a:endParaRPr lang="tr-TR" sz="1800" dirty="0"/>
          </a:p>
          <a:p>
            <a:endParaRPr lang="tr-TR" sz="1800" dirty="0"/>
          </a:p>
          <a:p>
            <a:r>
              <a:rPr lang="tr-TR" sz="1800" dirty="0"/>
              <a:t>Bildiri örneği: Gürsoy </a:t>
            </a:r>
            <a:r>
              <a:rPr lang="tr-TR" sz="1800" dirty="0" err="1"/>
              <a:t>Naskali</a:t>
            </a:r>
            <a:r>
              <a:rPr lang="tr-TR" sz="1800" dirty="0"/>
              <a:t>, E. (Der.) (2019) </a:t>
            </a:r>
            <a:r>
              <a:rPr lang="tr-TR" sz="1800" i="1" dirty="0"/>
              <a:t>Geçmişten Günümüze Seyahat Edebiyatı</a:t>
            </a:r>
            <a:r>
              <a:rPr lang="tr-TR" sz="1800" dirty="0"/>
              <a:t>. İstanbul: Kitabevi</a:t>
            </a:r>
          </a:p>
          <a:p>
            <a:endParaRPr lang="tr-TR" sz="1800" b="1" u="sng" dirty="0">
              <a:hlinkClick r:id="rId4"/>
            </a:endParaRPr>
          </a:p>
          <a:p>
            <a:r>
              <a:rPr lang="tr-TR" sz="1800" b="1" u="sng" dirty="0">
                <a:hlinkClick r:id="rId4"/>
              </a:rPr>
              <a:t>https://www.youtube.com/watch?v=g5v5_imHG4A</a:t>
            </a:r>
            <a:r>
              <a:rPr lang="tr-TR" sz="1800" b="1" u="sng" dirty="0"/>
              <a:t> </a:t>
            </a:r>
            <a:r>
              <a:rPr lang="tr-TR" sz="1800" b="1" dirty="0"/>
              <a:t> </a:t>
            </a:r>
            <a:r>
              <a:rPr lang="tr-TR" sz="1800" dirty="0"/>
              <a:t>  Akademik Yazma nedir? Nelere dikkat edilmelidir? Doç. Dr. Kemalettin Deniz</a:t>
            </a:r>
            <a:endParaRPr lang="tr-TR" sz="1800" b="1" dirty="0"/>
          </a:p>
          <a:p>
            <a:r>
              <a:rPr lang="tr-TR" sz="1800" dirty="0"/>
              <a:t> </a:t>
            </a:r>
          </a:p>
          <a:p>
            <a:r>
              <a:rPr lang="tr-TR" sz="1800" b="1" u="sng" dirty="0">
                <a:hlinkClick r:id="rId5"/>
              </a:rPr>
              <a:t>https://www.youtube.com/watch?v=O1zcF82uQQE</a:t>
            </a:r>
            <a:r>
              <a:rPr lang="tr-TR" sz="1800" b="1" dirty="0"/>
              <a:t>    </a:t>
            </a:r>
            <a:r>
              <a:rPr lang="tr-TR" sz="1800" dirty="0"/>
              <a:t>Uluslararası Nitelikli Dergilerde Yayın Yapma - Doç. Dr. Sedat Gümüş</a:t>
            </a:r>
            <a:endParaRPr lang="tr-TR" sz="1800" b="1" dirty="0"/>
          </a:p>
          <a:p>
            <a:r>
              <a:rPr lang="tr-TR" sz="1800" dirty="0"/>
              <a:t> </a:t>
            </a:r>
          </a:p>
          <a:p>
            <a:r>
              <a:rPr lang="tr-TR" sz="1800" dirty="0"/>
              <a:t> </a:t>
            </a:r>
          </a:p>
          <a:p>
            <a:endParaRPr lang="tr-TR" i="1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498475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79388"/>
            <a:ext cx="9144000" cy="69056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93186" name="TextBox 5"/>
          <p:cNvSpPr txBox="1">
            <a:spLocks noChangeArrowheads="1"/>
          </p:cNvSpPr>
          <p:nvPr/>
        </p:nvSpPr>
        <p:spPr bwMode="auto">
          <a:xfrm>
            <a:off x="260350" y="158750"/>
            <a:ext cx="8623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r-TR" sz="2400" dirty="0">
                <a:solidFill>
                  <a:schemeClr val="bg1"/>
                </a:solidFill>
              </a:rPr>
              <a:t>36. </a:t>
            </a:r>
            <a:r>
              <a:rPr lang="tr-TR" sz="2400" b="1" dirty="0">
                <a:solidFill>
                  <a:schemeClr val="bg1"/>
                </a:solidFill>
              </a:rPr>
              <a:t>KAYNAKLAR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93187" name="TextBox 6"/>
          <p:cNvSpPr txBox="1">
            <a:spLocks noChangeArrowheads="1"/>
          </p:cNvSpPr>
          <p:nvPr/>
        </p:nvSpPr>
        <p:spPr bwMode="auto">
          <a:xfrm>
            <a:off x="130175" y="942423"/>
            <a:ext cx="8883650" cy="4170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/>
              <a:t>Ayata Şenöz, C. (2014). </a:t>
            </a:r>
            <a:r>
              <a:rPr lang="tr-TR" sz="1400" i="1" dirty="0"/>
              <a:t>Bilimsel metin üretimi</a:t>
            </a:r>
            <a:r>
              <a:rPr lang="tr-TR" sz="1400" dirty="0"/>
              <a:t>. İstanbul: Papatya Yayıncılık.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/>
              <a:t>Başkent Üniversitesi, </a:t>
            </a:r>
            <a:r>
              <a:rPr lang="tr-TR" sz="1400" i="1" dirty="0"/>
              <a:t>Akademik yazım kuralları kitapçığı</a:t>
            </a:r>
            <a:r>
              <a:rPr lang="tr-TR" sz="1400" dirty="0"/>
              <a:t>, 2017,  (</a:t>
            </a:r>
            <a:r>
              <a:rPr lang="tr-TR" sz="1400" dirty="0">
                <a:hlinkClick r:id="rId3"/>
              </a:rPr>
              <a:t>http://www.elyadal.org</a:t>
            </a:r>
            <a:r>
              <a:rPr lang="tr-TR" sz="1400" dirty="0"/>
              <a:t>)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/>
              <a:t>Doru, M. N. (2018). </a:t>
            </a:r>
            <a:r>
              <a:rPr lang="tr-TR" sz="1400" i="1" dirty="0"/>
              <a:t>Akademik </a:t>
            </a:r>
            <a:r>
              <a:rPr lang="tr-TR" sz="1400" i="1" dirty="0" err="1"/>
              <a:t>okuryazalık</a:t>
            </a:r>
            <a:r>
              <a:rPr lang="tr-TR" sz="1400" i="1" dirty="0"/>
              <a:t>, sosyal bilimlerde etik sorunlar</a:t>
            </a:r>
            <a:r>
              <a:rPr lang="tr-TR" sz="1400" dirty="0"/>
              <a:t>. M. Öztürk (Ed.). Ankara: Nobel.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/>
              <a:t>Ekmekçi, V. (2017). </a:t>
            </a:r>
            <a:r>
              <a:rPr lang="tr-TR" sz="1400" i="1" dirty="0"/>
              <a:t>Yabancılara Türkçe öğretiminde akademik okuryazarlık öğretimine yönelik bir eylem araştırması.</a:t>
            </a:r>
            <a:r>
              <a:rPr lang="tr-TR" sz="1400" dirty="0"/>
              <a:t> [Yayımlanmamış doktora tezi]. Erciyes Üniversitesi Eğitim Bilimleri Enstitüsü.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/>
              <a:t>Fidan, Ö. (2008). </a:t>
            </a:r>
            <a:r>
              <a:rPr lang="tr-TR" sz="1400" i="1" dirty="0"/>
              <a:t>Türkiye'de dilbilim alanında öğrenciler tarafından yazılmış araştırma yazılarının giriş bölümlerinde türe özgü yapılanmalar</a:t>
            </a:r>
            <a:r>
              <a:rPr lang="tr-TR" sz="1400" dirty="0"/>
              <a:t>. [Yayımlanmamış doktora tezi]. Dokuz Eylül Üniversitesi Sosyal Bilimleri Enstitüsü.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 err="1"/>
              <a:t>Karasar</a:t>
            </a:r>
            <a:r>
              <a:rPr lang="tr-TR" sz="1400" dirty="0"/>
              <a:t>, N. (2015). </a:t>
            </a:r>
            <a:r>
              <a:rPr lang="tr-TR" sz="1400" i="1" dirty="0"/>
              <a:t>Bilimsel araştırma yöntemi</a:t>
            </a:r>
            <a:r>
              <a:rPr lang="tr-TR" sz="1400" dirty="0"/>
              <a:t>. Ankara: Nobel Yayıncılık.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 err="1"/>
              <a:t>Lea</a:t>
            </a:r>
            <a:r>
              <a:rPr lang="tr-TR" sz="1400" dirty="0"/>
              <a:t>, M. R. &amp; Street, B. V. (1998) “</a:t>
            </a:r>
            <a:r>
              <a:rPr lang="tr-TR" sz="1400" dirty="0" err="1"/>
              <a:t>Student</a:t>
            </a:r>
            <a:r>
              <a:rPr lang="tr-TR" sz="1400" dirty="0"/>
              <a:t> </a:t>
            </a:r>
            <a:r>
              <a:rPr lang="tr-TR" sz="1400" dirty="0" err="1"/>
              <a:t>writing</a:t>
            </a:r>
            <a:r>
              <a:rPr lang="tr-TR" sz="1400" dirty="0"/>
              <a:t> in </a:t>
            </a:r>
            <a:r>
              <a:rPr lang="tr-TR" sz="1400" dirty="0" err="1"/>
              <a:t>higher</a:t>
            </a:r>
            <a:r>
              <a:rPr lang="tr-TR" sz="1400" dirty="0"/>
              <a:t> </a:t>
            </a:r>
            <a:r>
              <a:rPr lang="tr-TR" sz="1400" dirty="0" err="1"/>
              <a:t>education</a:t>
            </a:r>
            <a:r>
              <a:rPr lang="tr-TR" sz="1400" dirty="0"/>
              <a:t>: An </a:t>
            </a:r>
            <a:r>
              <a:rPr lang="tr-TR" sz="1400" dirty="0" err="1"/>
              <a:t>academic</a:t>
            </a:r>
            <a:r>
              <a:rPr lang="tr-TR" sz="1400" dirty="0"/>
              <a:t> </a:t>
            </a:r>
            <a:r>
              <a:rPr lang="tr-TR" sz="1400" dirty="0" err="1"/>
              <a:t>literacies</a:t>
            </a:r>
            <a:r>
              <a:rPr lang="tr-TR" sz="1400" dirty="0"/>
              <a:t> </a:t>
            </a:r>
            <a:r>
              <a:rPr lang="tr-TR" sz="1400" dirty="0" err="1"/>
              <a:t>approach</a:t>
            </a:r>
            <a:r>
              <a:rPr lang="tr-TR" sz="1400" dirty="0"/>
              <a:t>”</a:t>
            </a:r>
            <a:r>
              <a:rPr lang="tr-TR" sz="1400" i="1" dirty="0"/>
              <a:t> </a:t>
            </a:r>
            <a:r>
              <a:rPr lang="tr-TR" sz="1400" i="1" dirty="0" err="1"/>
              <a:t>Studies</a:t>
            </a:r>
            <a:r>
              <a:rPr lang="tr-TR" sz="1400" i="1" dirty="0"/>
              <a:t> in </a:t>
            </a:r>
            <a:r>
              <a:rPr lang="tr-TR" sz="1400" i="1" dirty="0" err="1"/>
              <a:t>Higher</a:t>
            </a:r>
            <a:r>
              <a:rPr lang="tr-TR" sz="1400" i="1" dirty="0"/>
              <a:t> </a:t>
            </a:r>
            <a:r>
              <a:rPr lang="tr-TR" sz="1400" i="1" dirty="0" err="1"/>
              <a:t>Education</a:t>
            </a:r>
            <a:r>
              <a:rPr lang="tr-TR" sz="1400" dirty="0"/>
              <a:t>, 23/2. 157-172.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 err="1"/>
              <a:t>Leki</a:t>
            </a:r>
            <a:r>
              <a:rPr lang="tr-TR" sz="1400" dirty="0"/>
              <a:t>, I. (2007). </a:t>
            </a:r>
            <a:r>
              <a:rPr lang="tr-TR" sz="1400" dirty="0" err="1"/>
              <a:t>U</a:t>
            </a:r>
            <a:r>
              <a:rPr lang="tr-TR" sz="1400" i="1" dirty="0" err="1"/>
              <a:t>ndergraduates</a:t>
            </a:r>
            <a:r>
              <a:rPr lang="tr-TR" sz="1400" i="1" dirty="0"/>
              <a:t> in a </a:t>
            </a:r>
            <a:r>
              <a:rPr lang="tr-TR" sz="1400" i="1" dirty="0" err="1"/>
              <a:t>second</a:t>
            </a:r>
            <a:r>
              <a:rPr lang="tr-TR" sz="1400" i="1" dirty="0"/>
              <a:t> </a:t>
            </a:r>
            <a:r>
              <a:rPr lang="tr-TR" sz="1400" i="1" dirty="0" err="1"/>
              <a:t>language</a:t>
            </a:r>
            <a:r>
              <a:rPr lang="tr-TR" sz="1400" i="1" dirty="0"/>
              <a:t>: </a:t>
            </a:r>
            <a:r>
              <a:rPr lang="tr-TR" sz="1400" i="1" dirty="0" err="1"/>
              <a:t>Challenges</a:t>
            </a:r>
            <a:r>
              <a:rPr lang="tr-TR" sz="1400" i="1" dirty="0"/>
              <a:t> </a:t>
            </a:r>
            <a:r>
              <a:rPr lang="tr-TR" sz="1400" i="1" dirty="0" err="1"/>
              <a:t>and</a:t>
            </a:r>
            <a:r>
              <a:rPr lang="tr-TR" sz="1400" i="1" dirty="0"/>
              <a:t> </a:t>
            </a:r>
            <a:r>
              <a:rPr lang="tr-TR" sz="1400" i="1" dirty="0" err="1"/>
              <a:t>complexities</a:t>
            </a:r>
            <a:r>
              <a:rPr lang="tr-TR" sz="1400" i="1" dirty="0"/>
              <a:t> of </a:t>
            </a:r>
            <a:r>
              <a:rPr lang="tr-TR" sz="1400" i="1" dirty="0" err="1"/>
              <a:t>academic</a:t>
            </a:r>
            <a:r>
              <a:rPr lang="tr-TR" sz="1400" i="1" dirty="0"/>
              <a:t> </a:t>
            </a:r>
            <a:r>
              <a:rPr lang="tr-TR" sz="1400" i="1" dirty="0" err="1"/>
              <a:t>literacy</a:t>
            </a:r>
            <a:r>
              <a:rPr lang="tr-TR" sz="1400" i="1" dirty="0"/>
              <a:t> </a:t>
            </a:r>
            <a:r>
              <a:rPr lang="tr-TR" sz="1400" i="1" dirty="0" err="1"/>
              <a:t>development</a:t>
            </a:r>
            <a:r>
              <a:rPr lang="tr-TR" sz="1400" i="1" dirty="0"/>
              <a:t>.</a:t>
            </a:r>
            <a:r>
              <a:rPr lang="tr-TR" sz="1400" dirty="0"/>
              <a:t> New York: Lawrence </a:t>
            </a:r>
            <a:r>
              <a:rPr lang="tr-TR" sz="1400" dirty="0" err="1"/>
              <a:t>Erlbaum</a:t>
            </a:r>
            <a:r>
              <a:rPr lang="tr-TR" sz="1400" dirty="0"/>
              <a:t> </a:t>
            </a:r>
            <a:r>
              <a:rPr lang="tr-TR" sz="1400" dirty="0" err="1"/>
              <a:t>Associates</a:t>
            </a:r>
            <a:r>
              <a:rPr lang="tr-TR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 err="1"/>
              <a:t>Siyez</a:t>
            </a:r>
            <a:r>
              <a:rPr lang="tr-TR" sz="1400" dirty="0"/>
              <a:t>, D. M. (2017). </a:t>
            </a:r>
            <a:r>
              <a:rPr lang="tr-TR" sz="1400" i="1" dirty="0" err="1"/>
              <a:t>PDR’de</a:t>
            </a:r>
            <a:r>
              <a:rPr lang="tr-TR" sz="1400" i="1" dirty="0"/>
              <a:t> Kaynak Tarama ve Rapor Yazma</a:t>
            </a:r>
            <a:r>
              <a:rPr lang="tr-TR" sz="1400" dirty="0"/>
              <a:t>. Ankara: </a:t>
            </a:r>
            <a:r>
              <a:rPr lang="tr-TR" sz="1400" dirty="0" err="1"/>
              <a:t>Pegem</a:t>
            </a:r>
            <a:r>
              <a:rPr lang="tr-TR" sz="1400" dirty="0"/>
              <a:t> Akademi.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 err="1"/>
              <a:t>Warschauer</a:t>
            </a:r>
            <a:r>
              <a:rPr lang="tr-TR" sz="1400" dirty="0"/>
              <a:t>, M., Grant, D., Del Real, G., Rousseau, M. (2004). </a:t>
            </a:r>
            <a:r>
              <a:rPr lang="tr-TR" sz="1400" dirty="0" err="1"/>
              <a:t>Promoting</a:t>
            </a:r>
            <a:r>
              <a:rPr lang="tr-TR" sz="1400" dirty="0"/>
              <a:t> </a:t>
            </a:r>
            <a:r>
              <a:rPr lang="tr-TR" sz="1400" dirty="0" err="1"/>
              <a:t>academic</a:t>
            </a:r>
            <a:r>
              <a:rPr lang="tr-TR" sz="1400" dirty="0"/>
              <a:t> </a:t>
            </a:r>
            <a:r>
              <a:rPr lang="tr-TR" sz="1400" dirty="0" err="1"/>
              <a:t>literacy</a:t>
            </a:r>
            <a:r>
              <a:rPr lang="tr-TR" sz="1400" dirty="0"/>
              <a:t> </a:t>
            </a:r>
            <a:r>
              <a:rPr lang="tr-TR" sz="1400" dirty="0" err="1"/>
              <a:t>with</a:t>
            </a:r>
            <a:r>
              <a:rPr lang="tr-TR" sz="1400" dirty="0"/>
              <a:t> </a:t>
            </a:r>
            <a:r>
              <a:rPr lang="tr-TR" sz="1400" dirty="0" err="1"/>
              <a:t>technology</a:t>
            </a:r>
            <a:r>
              <a:rPr lang="tr-TR" sz="1400" dirty="0"/>
              <a:t>: </a:t>
            </a:r>
            <a:r>
              <a:rPr lang="tr-TR" sz="1400" dirty="0" err="1"/>
              <a:t>Successful</a:t>
            </a:r>
            <a:r>
              <a:rPr lang="tr-TR" sz="1400" dirty="0"/>
              <a:t> laptop </a:t>
            </a:r>
            <a:r>
              <a:rPr lang="tr-TR" sz="1400" dirty="0" err="1"/>
              <a:t>programs</a:t>
            </a:r>
            <a:r>
              <a:rPr lang="tr-TR" sz="1400" dirty="0"/>
              <a:t> in K-12 Schools. </a:t>
            </a:r>
            <a:r>
              <a:rPr lang="tr-TR" sz="1400" dirty="0" err="1"/>
              <a:t>System</a:t>
            </a:r>
            <a:r>
              <a:rPr lang="tr-TR" sz="1400" dirty="0"/>
              <a:t>, 32(4), 525-537.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 err="1"/>
              <a:t>Zwieers</a:t>
            </a:r>
            <a:r>
              <a:rPr lang="tr-TR" sz="1400" dirty="0"/>
              <a:t>, J. (2004). </a:t>
            </a:r>
            <a:r>
              <a:rPr lang="tr-TR" sz="1400" i="1" dirty="0" err="1"/>
              <a:t>Developing</a:t>
            </a:r>
            <a:r>
              <a:rPr lang="tr-TR" sz="1400" i="1" dirty="0"/>
              <a:t> </a:t>
            </a:r>
            <a:r>
              <a:rPr lang="tr-TR" sz="1400" i="1" dirty="0" err="1"/>
              <a:t>Academic</a:t>
            </a:r>
            <a:r>
              <a:rPr lang="tr-TR" sz="1400" i="1" dirty="0"/>
              <a:t> </a:t>
            </a:r>
            <a:r>
              <a:rPr lang="tr-TR" sz="1400" i="1" dirty="0" err="1"/>
              <a:t>Thinking</a:t>
            </a:r>
            <a:r>
              <a:rPr lang="tr-TR" sz="1400" i="1" dirty="0"/>
              <a:t> </a:t>
            </a:r>
            <a:r>
              <a:rPr lang="tr-TR" sz="1400" i="1" dirty="0" err="1"/>
              <a:t>Skills</a:t>
            </a:r>
            <a:r>
              <a:rPr lang="tr-TR" sz="1400" i="1" dirty="0"/>
              <a:t> in </a:t>
            </a:r>
            <a:r>
              <a:rPr lang="tr-TR" sz="1400" i="1" dirty="0" err="1"/>
              <a:t>Grades</a:t>
            </a:r>
            <a:r>
              <a:rPr lang="tr-TR" sz="1400" i="1" dirty="0"/>
              <a:t> 6-12: A </a:t>
            </a:r>
            <a:r>
              <a:rPr lang="tr-TR" sz="1400" i="1" dirty="0" err="1"/>
              <a:t>Handbook</a:t>
            </a:r>
            <a:endParaRPr lang="tr-T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i="1" dirty="0"/>
              <a:t>of </a:t>
            </a:r>
            <a:r>
              <a:rPr lang="tr-TR" sz="1400" i="1" dirty="0" err="1"/>
              <a:t>Multiple</a:t>
            </a:r>
            <a:r>
              <a:rPr lang="tr-TR" sz="1400" i="1" dirty="0"/>
              <a:t> </a:t>
            </a:r>
            <a:r>
              <a:rPr lang="tr-TR" sz="1400" i="1" dirty="0" err="1"/>
              <a:t>Intelligence</a:t>
            </a:r>
            <a:r>
              <a:rPr lang="tr-TR" sz="1400" i="1" dirty="0"/>
              <a:t> </a:t>
            </a:r>
            <a:r>
              <a:rPr lang="tr-TR" sz="1400" i="1" dirty="0" err="1"/>
              <a:t>Activities</a:t>
            </a:r>
            <a:r>
              <a:rPr lang="tr-TR" sz="1400" dirty="0"/>
              <a:t>. International Reading </a:t>
            </a:r>
            <a:r>
              <a:rPr lang="tr-TR" sz="1400" dirty="0" err="1"/>
              <a:t>Association</a:t>
            </a:r>
            <a:r>
              <a:rPr lang="tr-TR" sz="1400" dirty="0"/>
              <a:t>, s. 260.</a:t>
            </a:r>
          </a:p>
          <a:p>
            <a:endParaRPr lang="tr-TR" i="1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498475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16295"/>
            <a:ext cx="9144000" cy="69056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rgbClr val="771614"/>
              </a:solidFill>
            </a:endParaRPr>
          </a:p>
        </p:txBody>
      </p:sp>
      <p:sp>
        <p:nvSpPr>
          <p:cNvPr id="97283" name="TextBox 6"/>
          <p:cNvSpPr txBox="1">
            <a:spLocks noChangeArrowheads="1"/>
          </p:cNvSpPr>
          <p:nvPr/>
        </p:nvSpPr>
        <p:spPr bwMode="auto">
          <a:xfrm>
            <a:off x="130175" y="764401"/>
            <a:ext cx="888365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tr-TR" i="1" dirty="0"/>
          </a:p>
          <a:p>
            <a:r>
              <a:rPr lang="tr-TR" dirty="0"/>
              <a:t>                                                                  </a:t>
            </a:r>
          </a:p>
          <a:p>
            <a:r>
              <a:rPr lang="tr-TR" sz="2400" dirty="0"/>
              <a:t>                                 </a:t>
            </a:r>
            <a:r>
              <a:rPr lang="tr-TR" sz="2400" b="1" dirty="0"/>
              <a:t>TEŞEKKÜR EDERİM. 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4984750"/>
            <a:ext cx="9144000" cy="15875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" name="Dikdörtgen 1"/>
          <p:cNvSpPr/>
          <p:nvPr/>
        </p:nvSpPr>
        <p:spPr>
          <a:xfrm>
            <a:off x="2342606" y="3432413"/>
            <a:ext cx="54515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400" dirty="0"/>
              <a:t>                  </a:t>
            </a:r>
            <a:r>
              <a:rPr lang="tr-TR" sz="1600" b="1" dirty="0"/>
              <a:t>Dr. Yasemin Dinç Kurt</a:t>
            </a:r>
          </a:p>
          <a:p>
            <a:r>
              <a:rPr lang="tr-TR" sz="1600" b="1" dirty="0"/>
              <a:t>              </a:t>
            </a:r>
            <a:r>
              <a:rPr lang="tr-TR" sz="1600" b="1" dirty="0" err="1"/>
              <a:t>ydkurt@hacettepe.edu.tr</a:t>
            </a:r>
            <a:endParaRPr lang="tr-TR" sz="1600" b="1" dirty="0"/>
          </a:p>
        </p:txBody>
      </p:sp>
      <p:pic>
        <p:nvPicPr>
          <p:cNvPr id="10" name="Resim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40175" y="1731963"/>
            <a:ext cx="1263650" cy="123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37265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1461</TotalTime>
  <Words>4018</Words>
  <Application>Microsoft Macintosh PowerPoint</Application>
  <PresentationFormat>Ekran Gösterisi (16:9)</PresentationFormat>
  <Paragraphs>558</Paragraphs>
  <Slides>41</Slides>
  <Notes>39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41</vt:i4>
      </vt:variant>
    </vt:vector>
  </HeadingPairs>
  <TitlesOfParts>
    <vt:vector size="45" baseType="lpstr">
      <vt:lpstr>Arial</vt:lpstr>
      <vt:lpstr>Calibri</vt:lpstr>
      <vt:lpstr>Calibri Light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170</cp:revision>
  <dcterms:created xsi:type="dcterms:W3CDTF">2017-06-20T07:26:29Z</dcterms:created>
  <dcterms:modified xsi:type="dcterms:W3CDTF">2022-01-17T15:07:04Z</dcterms:modified>
</cp:coreProperties>
</file>